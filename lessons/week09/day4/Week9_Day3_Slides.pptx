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7"/>
    <p:sldId id="257" r:id="rId8"/>
    <p:sldId id="258" r:id="rId9"/>
    <p:sldId id="259" r:id="rId10"/>
    <p:sldId id="260" r:id="rId11"/>
    <p:sldId id="261" r:id="rId12"/>
    <p:sldId id="262" r:id="rId13"/>
    <p:sldId id="263" r:id="rId6"/>
    <p:sldId id="264" r:id="rId5"/>
    <p:sldId id="265" r:id="rId4"/>
    <p:sldId id="266" r:id="rId3"/>
    <p:sldId id="267"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AD93AF7-35A2-BFB3-1229-15C2457ECF37}">
          <p14:sldIdLst>
            <p14:sldId id="256"/>
            <p14:sldId id="257"/>
          </p14:sldIdLst>
        </p14:section>
        <p14:section name="Tone vs. Mood" id="{FE85F2F0-7B1E-D457-56B1-1AC96C63F273}">
          <p14:sldIdLst>
            <p14:sldId id="258"/>
            <p14:sldId id="259"/>
            <p14:sldId id="260"/>
          </p14:sldIdLst>
        </p14:section>
        <p14:section name="Final Scene" id="{C7010FEB-3070-B658-2C20-C89D755610BD}">
          <p14:sldIdLst>
            <p14:sldId id="261"/>
          </p14:sldIdLst>
        </p14:section>
        <p14:section name="Model + Think-Aloud" id="{EDA56DDE-DDCC-26E0-A968-3A049C1FB7AD}">
          <p14:sldIdLst>
            <p14:sldId id="262"/>
            <p14:sldId id="263"/>
          </p14:sldIdLst>
        </p14:section>
        <p14:section name="Partner Reading" id="{985601B6-42AF-B576-35F5-BE9EE78C70C0}">
          <p14:sldIdLst>
            <p14:sldId id="264"/>
          </p14:sldIdLst>
        </p14:section>
        <p14:section name="Debrief" id="{BE18E7F5-8AEE-AFFE-C3F5-8B26E8E388E8}">
          <p14:sldIdLst>
            <p14:sldId id="265"/>
          </p14:sldIdLst>
        </p14:section>
        <p14:section name="Transitions" id="{7CF431F1-17BA-FB6C-03F9-0441331A1F5C}">
          <p14:sldIdLst>
            <p14:sldId id="266"/>
          </p14:sldIdLst>
        </p14:section>
        <p14:section name="Exit Ticket" id="{D92C7F42-059F-0999-C57A-ECE6CF53922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2.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269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 as scholars walk in. Packets on desks, page 1. Day 2 packets in folders: scholars need the Tone and Mood Map (Day 2, p. 2) at 5:00. Clip cued full screen.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Alright, look here. Yesterday we finished the play. Before we talk about anything, I want you to see her. We're going to watch this twice. The first time, just see. Pencils down.</a:t>
            </a:r>
          </a:p>
          <a:p>
            <a:r>
              <a:t>Play once. SAY: Again. This time, notice. What do you see that you missed the first time? Play again.</a:t>
            </a:r>
          </a:p>
          <a:p>
            <a:r>
              <a:t>SAY: Pencils. Box 01. What does it change to see the real Anne Frank after finishing the play? Silent, on your own.</a:t>
            </a:r>
          </a:p>
          <a:p>
            <a:r>
              <a:t>Keep commentary minimal. Let the image work. This is not a history lecture. (Prather)</a:t>
            </a:r>
          </a:p>
          <a:p>
            <a:r>
              <a:t>IF STALLED: What did you notice the second time? Start there.</a:t>
            </a:r>
          </a:p>
          <a:p>
            <a:r>
              <a:t>TRANSITION (timer ends): Pencils down for a second. I want to hear a few of you. Just one line.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What does it change to see her? Volunteers only, one line each, 2-3 scholars. (Prather)</a:t>
            </a:r>
          </a:p>
          <a:p>
            <a:r>
              <a:t>LISTEN FOR: she's real, not just a character; a regular kid; the voice-over now has a face; the ending hurts more.</a:t>
            </a:r>
          </a:p>
          <a:p>
            <a:r>
              <a:t>IF: 'It's sad' -&gt; Say more. What lands differently now than when we read the play?</a:t>
            </a:r>
          </a:p>
          <a:p>
            <a:r>
              <a:t>SAY (Prather): The play ends with her voice. This film is her face. Both are legacy: what remains and keeps speaking.</a:t>
            </a:r>
          </a:p>
          <a:p>
            <a:r>
              <a:t>Point to the legacy strip under Box 01.</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Take out yesterday's Tone and Mood Map, page 2. Go to Row M.</a:t>
            </a:r>
          </a:p>
          <a:p>
            <a:r>
              <a:t>COLD CALL 2 (Prather): Restate the contrast in the final scene. Anne's tone is ___. The audience's mood is ___. What evidence did you use?</a:t>
            </a:r>
          </a:p>
          <a:p>
            <a:r>
              <a:t>LISTEN FOR: hopeful / defiant ('in spite of everything,' 'still believe,' 'really good at heart'). Mood: devastating; Mr. Frank: 'She'd been in Belsen with Anne... I know now.' (p. 778)</a:t>
            </a:r>
          </a:p>
          <a:p>
            <a:r>
              <a:t>IF: 'Anne's tone is sad' -&gt; Whose feeling is 'sad,' Anne's or ours? Show me her actual words.</a:t>
            </a:r>
          </a:p>
          <a:p>
            <a:r>
              <a:t>POST under THEME on Tuesday's board: How does that contrast develop the play's theme? (Prather)</a:t>
            </a:r>
          </a:p>
          <a:p>
            <a:r>
              <a:t>TRANSITION: You can name the contrast. Today's question is what that contrast is for. To answer it, you need to know what a theme actually is. Box 02.</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Three things that are not theme. A topic is one word. A plot summary tells me what happened. Advice tells me what to do.</a:t>
            </a:r>
          </a:p>
          <a:p>
            <a:r>
              <a:t>MODEL THE CLIMB (Prather): Step one, topic: hope. Step two, what the play says: 'The play is about holding onto hope.' Step three: 'The playwrights argue that hope is both precious and unbearably fragile in the face of evil.' Somebody could disagree with that. That's how I know it's arguable.</a:t>
            </a:r>
          </a:p>
          <a:p>
            <a:r>
              <a:t>THEME VS. MORAL (Prather): 'Never give up hope' is a bumper sticker. That sounds nice, but nice is not enough. Can the text actually prove it? Compare: 'the playwrights suggest that hope survives even those it cannot save.'</a:t>
            </a:r>
          </a:p>
          <a:p>
            <a:r>
              <a:t>Scholars follow the model column. They don't fill My Ladder yet.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(Prather): If Anne's hopeful tone stood alone, the theme would be simple. If the devastating mood stood alone, the theme would be despair. The playwrights force the two together, and the theme lives in that collision.</a:t>
            </a:r>
          </a:p>
          <a:p>
            <a:r>
              <a:t>ASK (Prather): What idea about people survives the contrast? Wait. Take one or two. Do NOT answer it yourself. 'Hold that. Don't write it yet.'</a:t>
            </a:r>
          </a:p>
          <a:p>
            <a:r>
              <a:t>TRANSITION: That was my climb. Now I want to hear yours. Purple strip, right under the dark bar.</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LEAF ACTION STEP. Place it here: after the ladder model, before scholars build their own.</a:t>
            </a:r>
          </a:p>
          <a:p>
            <a:r>
              <a:t>1) Read the candidate together. 2) SAY: Don't write. Don't talk. Is it a topic, advice, or an arguable idea? Thumb on your chest when you've got your 'First I...'. Wait the full 30-45 seconds.</a:t>
            </a:r>
          </a:p>
          <a:p>
            <a:r>
              <a:t>3) [Name], talk us through how you would turn that into a real theme statement. Start with 'First I...'</a:t>
            </a:r>
          </a:p>
          <a:p>
            <a:r>
              <a:t>PRESS, DON'T ANSWER: Is that a topic, advice, or an arguable idea? Does it apply beyond Anne? Could a reasonable person disagree? Can Tuesday's tone/mood evidence actually support it? Stay with the same scholar.</a:t>
            </a:r>
          </a:p>
          <a:p>
            <a:r>
              <a:t>4) Who can build on, revise, or challenge that theme statement? 'I would revise it to ___ because ___.'</a:t>
            </a:r>
          </a:p>
          <a:p>
            <a:r>
              <a:t>5) RELEASE: Good. That's the process I want running in your head: name what it is, push it past this one play, make sure somebody could disagree, then check it against your evidence. Your ladder. Go.</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WRITE/WORK 3 min: My Ladder, check all four, write a backup candidate. Day 2 map open beside it.</a:t>
            </a:r>
          </a:p>
          <a:p>
            <a:r>
              <a:t>SAY: Go back to yesterday's map. What evidence do you already have?</a:t>
            </a:r>
          </a:p>
          <a:p>
            <a:r>
              <a:t>IF: topic -&gt; Okay, that's the topic. I need the theme. Advice -&gt; You gave me advice. Give me an idea about people. Plot -&gt; That tells me what happens in this play. How can we turn that into an idea about people beyond Anne?</a:t>
            </a:r>
          </a:p>
          <a:p>
            <a:r>
              <a:t>CHART 2 min (Prather): take 2-3 scholar statements word for word. Test each: Is it arguable? Is it about life beyond this play? Can the tone/mood contrast serve as its evidence?</a:t>
            </a:r>
          </a:p>
          <a:p>
            <a:r>
              <a:t>Do NOT crown one correct theme. Leave at least two viable candidates posted for Mojo.</a:t>
            </a:r>
          </a:p>
          <a:p>
            <a:r>
              <a:t>TRANSITION: Those stay up. Before we analyze this ending in Course Mojo, I want you to sit with it for a few minutes. Page 3.</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(Prather): You have finished The Diary of Anne Frank. Before we analyze its theme in Course Mojo, choose ONE task and complete it in the next ten minutes. Every option must include at least one exact line from the play with a page number.</a:t>
            </a:r>
          </a:p>
          <a:p>
            <a:r>
              <a:t>STEER quietly (Prather): stronger writers -&gt; Option 1 or 5, two cited lines. Easier entry -&gt; Option 2 or 3 with the starter stems. Same evidence requirement for everyone.</a:t>
            </a:r>
          </a:p>
          <a:p>
            <a:r>
              <a:t>PACE: 28 'Your line and page should be written.' 33 'Two minutes. Check your page number.' 35 'Pencils down.'</a:t>
            </a:r>
          </a:p>
          <a:p>
            <a:r>
              <a:t>TIME RULE: First thing to cut if behind. Unfinished = homework only if you direct it. Never take time from Mojo.</a:t>
            </a:r>
          </a:p>
          <a:p>
            <a:r>
              <a:t>TRANSITION: Hold onto that feeling. Now we're going to prove what this ending does. Course Mojo, Lesson 6. Page 4. Sit with your partner.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A (35-45): Read the Target Task once aloud so partners know where they're headed. SAY: Your job is not to find ten new quotes. Your job is to select the evidence that best answers this question. Yesterday's map is your evidence bank. Talk it out together, but each of you writes.</a:t>
            </a:r>
          </a:p>
          <a:p>
            <a:r>
              <a:t>Use the Course Mojo Lesson 6 Driving Questions and Criteria for Teachers on the platform (Prather). Not reproduced here.</a:t>
            </a:r>
          </a:p>
          <a:p>
            <a:r>
              <a:t>PRESS: You named tone and mood. What does the contrast DEVELOP? / Which theme candidate actually fits this evidence? / Which piece of evidence is strongest?</a:t>
            </a:r>
          </a:p>
          <a:p>
            <a:r>
              <a:t>WHEN STUCK: Talk me through what you know so far. What did you notice first? Which part of your evidence is doing the most work? What idea about people does that contrast point toward?</a:t>
            </a:r>
          </a:p>
          <a:p>
            <a:r>
              <a:t>PART B (45-52, Prather): whole-class discussion before writing: connotation-precise tone, mood with audience knowledge, theme as an arguable sentence. Require an arguable theme before drafting.</a:t>
            </a:r>
          </a:p>
          <a:p>
            <a:r>
              <a:t>3-READ: Read 1 together aloud. Read 2 on your own: what is it asking? Read 3 on your own: what evidence and skills do I need?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SAY: Thirteen minutes. Silent and on your own. Your claim is your theme. Two pieces of evidence with page numbers. After each one, explain how that line helps the contrast develop your theme.</a:t>
            </a:r>
          </a:p>
          <a:p>
            <a:r>
              <a:t>If your class submits on Course Mojo, scholars type there; p. 4 is the plan, p. 5 the backup.</a:t>
            </a:r>
          </a:p>
          <a:p>
            <a:r>
              <a:t>WHISPER ONLY: You told me what the line says. How does that line help develop your theme? / You named the contrast. Now tell me the so what. / Could you point to Tuesday's map and prove that theme?</a:t>
            </a:r>
          </a:p>
          <a:p>
            <a:r>
              <a:t>Morehouse: point to the 'Need a start?' frame on p. 4; the response stays independent. Done early: stretch line on p. 5.</a:t>
            </a:r>
          </a:p>
          <a:p>
            <a:r>
              <a:t>PACE: 57 tone and mood down. 61 explaining how the contrast develops your theme. 64 finish your sentence.</a:t>
            </a:r>
          </a:p>
          <a:p>
            <a:r>
              <a:t>TRANSITION: Pencils down. Find the dashed line on page 5. Exit ticket. On your own.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EXIT (65-71): Three sentences. Your theme has to be an arguable sentence, not a topic and not advice. Silent, on your own. Don't coach answers. Collect exit tickets.</a:t>
            </a:r>
          </a:p>
          <a:p>
            <a:r>
              <a:t>LEGACY SHARE (71-75, Prather): 4-5 volunteers stand and read ONLY 'Anne's legacy, to me, is...' No commentary between readers. Let the sentences accumulate. Protect the seriousness.</a:t>
            </a:r>
          </a:p>
          <a:p>
            <a:r>
              <a:t>PREVIEW (Prather): Tomorrow we open our second text. Night is not a play; it is a memoir, written by a survivor named Elie Wiesel who was your age when the events begin. The first pages contain a warning that a whole town refuses to hear.</a:t>
            </a:r>
          </a:p>
          <a:p>
            <a:r>
              <a:t>Preview only. Don't start Thursday's content. Day 2 map + Theme Builder go back in folders (Day 5 synthesis uses every chart).</a:t>
            </a:r>
          </a:p>
          <a:p>
            <a:r>
              <a:t>IF BEHIND: the exit ticket always happens; take fewer legacy readers, keep it serious.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F4"/>
        </a:solidFill>
        <a:effectLst/>
      </p:bgPr>
    </p:bg>
    <p:spTree>
      <p:nvGrpSpPr>
        <p:cNvPr id="1" name=""/>
        <p:cNvGrpSpPr/>
        <p:nvPr/>
      </p:nvGrpSpPr>
      <p:grpSpPr>
        <a:xfrm>
          <a:off x="0" y="0"/>
          <a:ext cx="0" cy="0"/>
          <a:chOff x="0" y="0"/>
          <a:chExt cx="0" cy="0"/>
        </a:xfrm>
      </p:grpSpPr>
      <p:sp>
        <p:nvSpPr>
          <p:cNvPr id="2" name="Text 0"/>
          <p:cNvSpPr/>
          <p:nvPr/>
        </p:nvSpPr>
        <p:spPr>
          <a:xfrm>
            <a:off x="457200" y="201168"/>
            <a:ext cx="7315200" cy="274320"/>
          </a:xfrm>
          <a:prstGeom prst="rect">
            <a:avLst/>
          </a:prstGeom>
          <a:noFill/>
          <a:ln/>
        </p:spPr>
        <p:txBody>
          <a:bodyPr wrap="square" lIns="0" tIns="0" rIns="0" bIns="0" rtlCol="0" anchor="ctr"/>
          <a:lstStyle/>
          <a:p>
            <a:pPr marL="0" indent="0">
              <a:buNone/>
            </a:pPr>
            <a:r>
              <a:rPr lang="en-US" sz="900" b="1" kern="0" spc="300" dirty="0">
                <a:solidFill>
                  <a:srgbClr val="8FA0AA"/>
                </a:solidFill>
                <a:latin typeface="Century Gothic" pitchFamily="34" charset="0"/>
                <a:ea typeface="Century Gothic" pitchFamily="34" charset="-122"/>
                <a:cs typeface="Century Gothic" pitchFamily="34" charset="-120"/>
              </a:rPr>
              <a:t>WEEK 9 · DAY 3 · ENCOUNTERING EVIL · THE DIARY OF ANNE FRANK</a:t>
            </a:r>
            <a:endParaRPr lang="en-US" sz="9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A32"/>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a:t>
            </a:r>
          </a:p>
        </p:txBody>
      </p:sp>
      <p:sp>
        <p:nvSpPr>
          <p:cNvPr id="3" name="Oval 2"/>
          <p:cNvSpPr/>
          <p:nvPr/>
        </p:nvSpPr>
        <p:spPr>
          <a:xfrm>
            <a:off x="640080" y="685800"/>
            <a:ext cx="310896" cy="310896"/>
          </a:xfrm>
          <a:prstGeom prst="ellipse">
            <a:avLst/>
          </a:prstGeom>
          <a:solidFill>
            <a:srgbClr val="00A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7280" y="685800"/>
            <a:ext cx="310896" cy="310896"/>
          </a:xfrm>
          <a:prstGeom prst="ellipse">
            <a:avLst/>
          </a:prstGeom>
          <a:solidFill>
            <a:srgbClr val="3B74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54480" y="685800"/>
            <a:ext cx="310896" cy="310896"/>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011680" y="685800"/>
            <a:ext cx="310896" cy="310896"/>
          </a:xfrm>
          <a:prstGeom prst="ellipse">
            <a:avLst/>
          </a:prstGeom>
          <a:solidFill>
            <a:srgbClr val="FFC6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468880" y="685800"/>
            <a:ext cx="310896" cy="310896"/>
          </a:xfrm>
          <a:prstGeom prst="ellipse">
            <a:avLst/>
          </a:prstGeom>
          <a:solidFill>
            <a:srgbClr val="8B6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34440"/>
            <a:ext cx="8229600" cy="320040"/>
          </a:xfrm>
          <a:prstGeom prst="rect">
            <a:avLst/>
          </a:prstGeom>
          <a:noFill/>
        </p:spPr>
        <p:txBody>
          <a:bodyPr wrap="square" anchor="t" lIns="45720" rIns="45720" tIns="27432" bIns="27432">
            <a:spAutoFit/>
          </a:bodyPr>
          <a:lstStyle/>
          <a:p>
            <a:pPr algn="l">
              <a:lnSpc>
                <a:spcPct val="100000"/>
              </a:lnSpc>
            </a:pPr>
            <a:r>
              <a:rPr sz="1300" b="1" i="0">
                <a:solidFill>
                  <a:srgbClr val="9FB3BD"/>
                </a:solidFill>
                <a:latin typeface="Century Gothic"/>
              </a:rPr>
              <a:t>WEEK 9 · DAY 3 · ENCOUNTERING EVIL</a:t>
            </a:r>
          </a:p>
        </p:txBody>
      </p:sp>
      <p:sp>
        <p:nvSpPr>
          <p:cNvPr id="9" name="TextBox 8"/>
          <p:cNvSpPr txBox="1"/>
          <p:nvPr/>
        </p:nvSpPr>
        <p:spPr>
          <a:xfrm>
            <a:off x="640080" y="1645920"/>
            <a:ext cx="10972800" cy="1737360"/>
          </a:xfrm>
          <a:prstGeom prst="rect">
            <a:avLst/>
          </a:prstGeom>
          <a:noFill/>
        </p:spPr>
        <p:txBody>
          <a:bodyPr wrap="square" anchor="t" lIns="45720" rIns="45720" tIns="27432" bIns="27432">
            <a:spAutoFit/>
          </a:bodyPr>
          <a:lstStyle/>
          <a:p>
            <a:pPr algn="l">
              <a:lnSpc>
                <a:spcPct val="100000"/>
              </a:lnSpc>
            </a:pPr>
            <a:r>
              <a:rPr sz="4400" b="1" i="0">
                <a:solidFill>
                  <a:srgbClr val="FFFFFF"/>
                </a:solidFill>
                <a:latin typeface="Century Gothic"/>
              </a:rPr>
              <a:t>Theme and Legacy:</a:t>
            </a:r>
          </a:p>
          <a:p>
            <a:pPr algn="l">
              <a:lnSpc>
                <a:spcPct val="100000"/>
              </a:lnSpc>
            </a:pPr>
            <a:r>
              <a:rPr sz="4400" b="1" i="0">
                <a:solidFill>
                  <a:srgbClr val="FFFFFF"/>
                </a:solidFill>
                <a:latin typeface="Century Gothic"/>
              </a:rPr>
              <a:t>Closing the Play</a:t>
            </a:r>
          </a:p>
        </p:txBody>
      </p:sp>
      <p:sp>
        <p:nvSpPr>
          <p:cNvPr id="10" name="TextBox 9"/>
          <p:cNvSpPr txBox="1"/>
          <p:nvPr/>
        </p:nvSpPr>
        <p:spPr>
          <a:xfrm>
            <a:off x="640080" y="3429000"/>
            <a:ext cx="10789920" cy="365760"/>
          </a:xfrm>
          <a:prstGeom prst="rect">
            <a:avLst/>
          </a:prstGeom>
          <a:noFill/>
        </p:spPr>
        <p:txBody>
          <a:bodyPr wrap="square" anchor="t" lIns="45720" rIns="45720" tIns="27432" bIns="27432">
            <a:spAutoFit/>
          </a:bodyPr>
          <a:lstStyle/>
          <a:p>
            <a:pPr algn="l">
              <a:lnSpc>
                <a:spcPct val="100000"/>
              </a:lnSpc>
            </a:pPr>
            <a:r>
              <a:rPr sz="1500" b="0" i="0">
                <a:solidFill>
                  <a:srgbClr val="C9D4DA"/>
                </a:solidFill>
                <a:latin typeface="Century Gothic"/>
              </a:rPr>
              <a:t>The Diary of Anne Frank · Act II, Scenes 3–5 · pp. 766–778 · Course Mojo Lesson 6</a:t>
            </a:r>
          </a:p>
        </p:txBody>
      </p:sp>
      <p:sp>
        <p:nvSpPr>
          <p:cNvPr id="11" name="Rounded Rectangle 10"/>
          <p:cNvSpPr/>
          <p:nvPr/>
        </p:nvSpPr>
        <p:spPr>
          <a:xfrm>
            <a:off x="640080" y="4114800"/>
            <a:ext cx="5303520" cy="210312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297680"/>
            <a:ext cx="4754880" cy="274320"/>
          </a:xfrm>
          <a:prstGeom prst="rect">
            <a:avLst/>
          </a:prstGeom>
          <a:noFill/>
        </p:spPr>
        <p:txBody>
          <a:bodyPr wrap="square" anchor="t" lIns="45720" rIns="45720" tIns="27432" bIns="27432">
            <a:spAutoFit/>
          </a:bodyPr>
          <a:lstStyle/>
          <a:p>
            <a:pPr algn="l">
              <a:lnSpc>
                <a:spcPct val="100000"/>
              </a:lnSpc>
            </a:pPr>
            <a:r>
              <a:rPr sz="1100" b="1" i="0">
                <a:solidFill>
                  <a:srgbClr val="FFFFFF"/>
                </a:solidFill>
                <a:latin typeface="Century Gothic"/>
              </a:rPr>
              <a:t>ESSENTIAL QUESTION</a:t>
            </a:r>
          </a:p>
        </p:txBody>
      </p:sp>
      <p:sp>
        <p:nvSpPr>
          <p:cNvPr id="13" name="TextBox 12"/>
          <p:cNvSpPr txBox="1"/>
          <p:nvPr/>
        </p:nvSpPr>
        <p:spPr>
          <a:xfrm>
            <a:off x="914400" y="4617720"/>
            <a:ext cx="4754880" cy="1508760"/>
          </a:xfrm>
          <a:prstGeom prst="rect">
            <a:avLst/>
          </a:prstGeom>
          <a:noFill/>
        </p:spPr>
        <p:txBody>
          <a:bodyPr wrap="square" anchor="t" lIns="45720" rIns="45720" tIns="27432" bIns="27432">
            <a:spAutoFit/>
          </a:bodyPr>
          <a:lstStyle/>
          <a:p>
            <a:pPr algn="l">
              <a:lnSpc>
                <a:spcPct val="100000"/>
              </a:lnSpc>
            </a:pPr>
            <a:r>
              <a:rPr sz="1650" b="0" i="0">
                <a:solidFill>
                  <a:srgbClr val="FFFFFF"/>
                </a:solidFill>
                <a:latin typeface="Century Gothic"/>
              </a:rPr>
              <a:t>How does the contrast between Anne’s tone and the mood of the final scene develop the theme of the play?</a:t>
            </a:r>
          </a:p>
        </p:txBody>
      </p:sp>
      <p:sp>
        <p:nvSpPr>
          <p:cNvPr id="14" name="Rounded Rectangle 13"/>
          <p:cNvSpPr/>
          <p:nvPr/>
        </p:nvSpPr>
        <p:spPr>
          <a:xfrm>
            <a:off x="6217920" y="4114800"/>
            <a:ext cx="5303520" cy="2103120"/>
          </a:xfrm>
          <a:prstGeom prst="roundRect">
            <a:avLst>
              <a:gd name="adj" fmla="val 8000"/>
            </a:avLst>
          </a:prstGeom>
          <a:solidFill>
            <a:srgbClr val="FFC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297680"/>
            <a:ext cx="4754880" cy="274320"/>
          </a:xfrm>
          <a:prstGeom prst="rect">
            <a:avLst/>
          </a:prstGeom>
          <a:noFill/>
        </p:spPr>
        <p:txBody>
          <a:bodyPr wrap="square" anchor="t" lIns="45720" rIns="45720" tIns="27432" bIns="27432">
            <a:spAutoFit/>
          </a:bodyPr>
          <a:lstStyle/>
          <a:p>
            <a:pPr algn="l">
              <a:lnSpc>
                <a:spcPct val="100000"/>
              </a:lnSpc>
            </a:pPr>
            <a:r>
              <a:rPr sz="1100" b="1" i="0">
                <a:solidFill>
                  <a:srgbClr val="3A2A00"/>
                </a:solidFill>
                <a:latin typeface="Century Gothic"/>
              </a:rPr>
              <a:t>LEARNING TARGET</a:t>
            </a:r>
          </a:p>
        </p:txBody>
      </p:sp>
      <p:sp>
        <p:nvSpPr>
          <p:cNvPr id="16" name="TextBox 15"/>
          <p:cNvSpPr txBox="1"/>
          <p:nvPr/>
        </p:nvSpPr>
        <p:spPr>
          <a:xfrm>
            <a:off x="6492240" y="4617720"/>
            <a:ext cx="4754880" cy="1508760"/>
          </a:xfrm>
          <a:prstGeom prst="rect">
            <a:avLst/>
          </a:prstGeom>
          <a:noFill/>
        </p:spPr>
        <p:txBody>
          <a:bodyPr wrap="square" anchor="t" lIns="45720" rIns="45720" tIns="27432" bIns="27432">
            <a:spAutoFit/>
          </a:bodyPr>
          <a:lstStyle/>
          <a:p>
            <a:pPr algn="l">
              <a:lnSpc>
                <a:spcPct val="100000"/>
              </a:lnSpc>
            </a:pPr>
            <a:r>
              <a:rPr sz="1500" b="0" i="0">
                <a:solidFill>
                  <a:srgbClr val="3A2A00"/>
                </a:solidFill>
                <a:latin typeface="Century Gothic"/>
              </a:rPr>
              <a:t>I can develop an arguable theme and explain how the contrast between Anne’s tone and the mood of the final scene supports that theme using specific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2</a:t>
            </a:r>
          </a:p>
        </p:txBody>
      </p:sp>
      <p:sp>
        <p:nvSpPr>
          <p:cNvPr id="3" name="Oval 2"/>
          <p:cNvSpPr/>
          <p:nvPr/>
        </p:nvSpPr>
        <p:spPr>
          <a:xfrm>
            <a:off x="457200" y="566928"/>
            <a:ext cx="566928" cy="566928"/>
          </a:xfrm>
          <a:prstGeom prst="ellipse">
            <a:avLst/>
          </a:prstGeom>
          <a:solidFill>
            <a:srgbClr val="FFFFFF"/>
          </a:solidFill>
          <a:ln w="38100">
            <a:solidFill>
              <a:srgbClr val="B98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B98100"/>
                </a:solidFill>
                <a:latin typeface="Century Gothic"/>
              </a:rPr>
              <a:t>01</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Do Now · The Real Anne</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Watch twice: once to see, once to notice. Then write silently.</a:t>
            </a:r>
          </a:p>
        </p:txBody>
      </p:sp>
      <p:sp>
        <p:nvSpPr>
          <p:cNvPr id="7" name="Rounded Rectangle 6"/>
          <p:cNvSpPr/>
          <p:nvPr/>
        </p:nvSpPr>
        <p:spPr>
          <a:xfrm>
            <a:off x="8668512" y="566928"/>
            <a:ext cx="3063240" cy="347472"/>
          </a:xfrm>
          <a:prstGeom prst="roundRect">
            <a:avLst>
              <a:gd name="adj" fmla="val 8000"/>
            </a:avLst>
          </a:prstGeom>
          <a:solidFill>
            <a:srgbClr val="B98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BOX 01</a:t>
            </a:r>
          </a:p>
        </p:txBody>
      </p:sp>
      <p:sp>
        <p:nvSpPr>
          <p:cNvPr id="9" name="Rounded Rectangle 8"/>
          <p:cNvSpPr/>
          <p:nvPr/>
        </p:nvSpPr>
        <p:spPr>
          <a:xfrm>
            <a:off x="457200" y="1600200"/>
            <a:ext cx="6766560" cy="251460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6217920" cy="548640"/>
          </a:xfrm>
          <a:prstGeom prst="rect">
            <a:avLst/>
          </a:prstGeom>
          <a:noFill/>
        </p:spPr>
        <p:txBody>
          <a:bodyPr wrap="square" anchor="t" lIns="45720" rIns="45720" tIns="27432" bIns="27432">
            <a:spAutoFit/>
          </a:bodyPr>
          <a:lstStyle/>
          <a:p>
            <a:pPr algn="l">
              <a:lnSpc>
                <a:spcPct val="100000"/>
              </a:lnSpc>
            </a:pPr>
            <a:r>
              <a:rPr sz="1900" b="1" i="0">
                <a:solidFill>
                  <a:srgbClr val="FFC63C"/>
                </a:solidFill>
                <a:latin typeface="Century Gothic"/>
              </a:rPr>
              <a:t>▶ </a:t>
            </a:r>
            <a:r>
              <a:rPr sz="1900" b="1" i="0">
                <a:solidFill>
                  <a:srgbClr val="FFFFFF"/>
                </a:solidFill>
                <a:latin typeface="Century Gothic"/>
              </a:rPr>
              <a:t>“Anne Frank: the only existing film images”</a:t>
            </a:r>
          </a:p>
        </p:txBody>
      </p:sp>
      <p:sp>
        <p:nvSpPr>
          <p:cNvPr id="11" name="TextBox 10"/>
          <p:cNvSpPr txBox="1"/>
          <p:nvPr/>
        </p:nvSpPr>
        <p:spPr>
          <a:xfrm>
            <a:off x="777240" y="2377440"/>
            <a:ext cx="6217920" cy="640080"/>
          </a:xfrm>
          <a:prstGeom prst="rect">
            <a:avLst/>
          </a:prstGeom>
          <a:noFill/>
        </p:spPr>
        <p:txBody>
          <a:bodyPr wrap="square" anchor="t" lIns="45720" rIns="45720" tIns="27432" bIns="27432">
            <a:spAutoFit/>
          </a:bodyPr>
          <a:lstStyle/>
          <a:p>
            <a:pPr algn="l">
              <a:lnSpc>
                <a:spcPct val="100000"/>
              </a:lnSpc>
            </a:pPr>
            <a:r>
              <a:rPr sz="1500" b="0" i="0">
                <a:solidFill>
                  <a:srgbClr val="C9D4DA"/>
                </a:solidFill>
                <a:latin typeface="Century Gothic"/>
              </a:rPr>
              <a:t>1941: the real Anne leans from a window to watch a wedding.</a:t>
            </a:r>
          </a:p>
        </p:txBody>
      </p:sp>
      <p:sp>
        <p:nvSpPr>
          <p:cNvPr id="12" name="Rounded Rectangle 11"/>
          <p:cNvSpPr/>
          <p:nvPr/>
        </p:nvSpPr>
        <p:spPr>
          <a:xfrm>
            <a:off x="777240" y="3154680"/>
            <a:ext cx="6126480" cy="685800"/>
          </a:xfrm>
          <a:prstGeom prst="roundRect">
            <a:avLst>
              <a:gd name="adj" fmla="val 8000"/>
            </a:avLst>
          </a:prstGeom>
          <a:noFill/>
          <a:ln w="25400">
            <a:solidFill>
              <a:srgbClr val="FF6B4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154680"/>
            <a:ext cx="6126480" cy="685800"/>
          </a:xfrm>
          <a:prstGeom prst="rect">
            <a:avLst/>
          </a:prstGeom>
          <a:noFill/>
        </p:spPr>
        <p:txBody>
          <a:bodyPr wrap="square" anchor="ctr" lIns="45720" rIns="45720" tIns="27432" bIns="27432">
            <a:spAutoFit/>
          </a:bodyPr>
          <a:lstStyle/>
          <a:p>
            <a:pPr algn="ctr">
              <a:lnSpc>
                <a:spcPct val="100000"/>
              </a:lnSpc>
            </a:pPr>
            <a:r>
              <a:rPr sz="1300" b="1" i="0">
                <a:solidFill>
                  <a:srgbClr val="FF6B4E"/>
                </a:solidFill>
                <a:latin typeface="Century Gothic"/>
              </a:rPr>
              <a:t>INSERT VIDEO LINK HERE · from the Prather Day 3 materials</a:t>
            </a:r>
          </a:p>
        </p:txBody>
      </p:sp>
      <p:sp>
        <p:nvSpPr>
          <p:cNvPr id="14" name="Rounded Rectangle 13"/>
          <p:cNvSpPr/>
          <p:nvPr/>
        </p:nvSpPr>
        <p:spPr>
          <a:xfrm>
            <a:off x="7452360" y="1600200"/>
            <a:ext cx="4279392" cy="1170432"/>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1691640"/>
            <a:ext cx="3840480" cy="274320"/>
          </a:xfrm>
          <a:prstGeom prst="rect">
            <a:avLst/>
          </a:prstGeom>
          <a:noFill/>
        </p:spPr>
        <p:txBody>
          <a:bodyPr wrap="square" anchor="t" lIns="45720" rIns="45720" tIns="27432" bIns="27432">
            <a:spAutoFit/>
          </a:bodyPr>
          <a:lstStyle/>
          <a:p>
            <a:pPr algn="l">
              <a:lnSpc>
                <a:spcPct val="100000"/>
              </a:lnSpc>
            </a:pPr>
            <a:r>
              <a:rPr sz="1200" b="1" i="0">
                <a:solidFill>
                  <a:srgbClr val="B98100"/>
                </a:solidFill>
                <a:latin typeface="Century Gothic"/>
              </a:rPr>
              <a:t>WATCH 1</a:t>
            </a:r>
          </a:p>
        </p:txBody>
      </p:sp>
      <p:sp>
        <p:nvSpPr>
          <p:cNvPr id="16" name="TextBox 15"/>
          <p:cNvSpPr txBox="1"/>
          <p:nvPr/>
        </p:nvSpPr>
        <p:spPr>
          <a:xfrm>
            <a:off x="7726679" y="2011680"/>
            <a:ext cx="3840480" cy="640080"/>
          </a:xfrm>
          <a:prstGeom prst="rect">
            <a:avLst/>
          </a:prstGeom>
          <a:noFill/>
        </p:spPr>
        <p:txBody>
          <a:bodyPr wrap="square" anchor="t" lIns="45720" rIns="45720" tIns="27432" bIns="27432">
            <a:spAutoFit/>
          </a:bodyPr>
          <a:lstStyle/>
          <a:p>
            <a:pPr algn="l">
              <a:lnSpc>
                <a:spcPct val="100000"/>
              </a:lnSpc>
            </a:pPr>
            <a:r>
              <a:rPr sz="2000" b="1" i="0">
                <a:solidFill>
                  <a:srgbClr val="1E2A32"/>
                </a:solidFill>
                <a:latin typeface="Century Gothic"/>
              </a:rPr>
              <a:t>Just see. Pencils down.</a:t>
            </a:r>
          </a:p>
        </p:txBody>
      </p:sp>
      <p:sp>
        <p:nvSpPr>
          <p:cNvPr id="17" name="Rounded Rectangle 16"/>
          <p:cNvSpPr/>
          <p:nvPr/>
        </p:nvSpPr>
        <p:spPr>
          <a:xfrm>
            <a:off x="7452360" y="2944368"/>
            <a:ext cx="4279392" cy="1170432"/>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3035808"/>
            <a:ext cx="3840480" cy="274320"/>
          </a:xfrm>
          <a:prstGeom prst="rect">
            <a:avLst/>
          </a:prstGeom>
          <a:noFill/>
        </p:spPr>
        <p:txBody>
          <a:bodyPr wrap="square" anchor="t" lIns="45720" rIns="45720" tIns="27432" bIns="27432">
            <a:spAutoFit/>
          </a:bodyPr>
          <a:lstStyle/>
          <a:p>
            <a:pPr algn="l">
              <a:lnSpc>
                <a:spcPct val="100000"/>
              </a:lnSpc>
            </a:pPr>
            <a:r>
              <a:rPr sz="1200" b="1" i="0">
                <a:solidFill>
                  <a:srgbClr val="B98100"/>
                </a:solidFill>
                <a:latin typeface="Century Gothic"/>
              </a:rPr>
              <a:t>WATCH 2</a:t>
            </a:r>
          </a:p>
        </p:txBody>
      </p:sp>
      <p:sp>
        <p:nvSpPr>
          <p:cNvPr id="19" name="TextBox 18"/>
          <p:cNvSpPr txBox="1"/>
          <p:nvPr/>
        </p:nvSpPr>
        <p:spPr>
          <a:xfrm>
            <a:off x="7726679" y="3355848"/>
            <a:ext cx="3840480" cy="640080"/>
          </a:xfrm>
          <a:prstGeom prst="rect">
            <a:avLst/>
          </a:prstGeom>
          <a:noFill/>
        </p:spPr>
        <p:txBody>
          <a:bodyPr wrap="square" anchor="t" lIns="45720" rIns="45720" tIns="27432" bIns="27432">
            <a:spAutoFit/>
          </a:bodyPr>
          <a:lstStyle/>
          <a:p>
            <a:pPr algn="l">
              <a:lnSpc>
                <a:spcPct val="100000"/>
              </a:lnSpc>
            </a:pPr>
            <a:r>
              <a:rPr sz="2000" b="1" i="0">
                <a:solidFill>
                  <a:srgbClr val="1E2A32"/>
                </a:solidFill>
                <a:latin typeface="Century Gothic"/>
              </a:rPr>
              <a:t>Notice. What do you catch now?</a:t>
            </a:r>
          </a:p>
        </p:txBody>
      </p:sp>
      <p:sp>
        <p:nvSpPr>
          <p:cNvPr id="20" name="Rounded Rectangle 19"/>
          <p:cNvSpPr/>
          <p:nvPr/>
        </p:nvSpPr>
        <p:spPr>
          <a:xfrm>
            <a:off x="457200" y="4389120"/>
            <a:ext cx="11274552" cy="1188720"/>
          </a:xfrm>
          <a:prstGeom prst="roundRect">
            <a:avLst>
              <a:gd name="adj" fmla="val 8000"/>
            </a:avLst>
          </a:prstGeom>
          <a:solidFill>
            <a:srgbClr val="FFFFFF"/>
          </a:solidFill>
          <a:ln w="31750">
            <a:solidFill>
              <a:srgbClr val="FFC6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389120"/>
            <a:ext cx="10698480" cy="1188720"/>
          </a:xfrm>
          <a:prstGeom prst="rect">
            <a:avLst/>
          </a:prstGeom>
          <a:noFill/>
        </p:spPr>
        <p:txBody>
          <a:bodyPr wrap="square" anchor="ctr" lIns="45720" rIns="45720" tIns="27432" bIns="27432">
            <a:spAutoFit/>
          </a:bodyPr>
          <a:lstStyle/>
          <a:p>
            <a:pPr algn="l">
              <a:lnSpc>
                <a:spcPct val="100000"/>
              </a:lnSpc>
            </a:pPr>
            <a:r>
              <a:rPr sz="2300" b="0" i="0">
                <a:solidFill>
                  <a:srgbClr val="1E2A32"/>
                </a:solidFill>
                <a:latin typeface="Century Gothic"/>
              </a:rPr>
              <a:t>You just finished the play. </a:t>
            </a:r>
            <a:r>
              <a:rPr sz="2300" b="1" i="0">
                <a:solidFill>
                  <a:srgbClr val="1E2A32"/>
                </a:solidFill>
                <a:latin typeface="Century Gothic"/>
              </a:rPr>
              <a:t>What does it change to see the real Anne Frank after finishing the play?</a:t>
            </a:r>
          </a:p>
        </p:txBody>
      </p:sp>
      <p:sp>
        <p:nvSpPr>
          <p:cNvPr id="22" name="Rounded Rectangle 21"/>
          <p:cNvSpPr/>
          <p:nvPr/>
        </p:nvSpPr>
        <p:spPr>
          <a:xfrm>
            <a:off x="457200" y="5806440"/>
            <a:ext cx="3291840" cy="347472"/>
          </a:xfrm>
          <a:prstGeom prst="roundRect">
            <a:avLst>
              <a:gd name="adj" fmla="val 50000"/>
            </a:avLst>
          </a:prstGeom>
          <a:solidFill>
            <a:srgbClr val="FFC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806440"/>
            <a:ext cx="3291840" cy="347472"/>
          </a:xfrm>
          <a:prstGeom prst="rect">
            <a:avLst/>
          </a:prstGeom>
          <a:noFill/>
        </p:spPr>
        <p:txBody>
          <a:bodyPr wrap="square" anchor="ctr" lIns="45720" rIns="45720" tIns="27432" bIns="27432">
            <a:spAutoFit/>
          </a:bodyPr>
          <a:lstStyle/>
          <a:p>
            <a:pPr algn="ctr">
              <a:lnSpc>
                <a:spcPct val="100000"/>
              </a:lnSpc>
            </a:pPr>
            <a:r>
              <a:rPr sz="1100" b="1" i="0">
                <a:solidFill>
                  <a:srgbClr val="3A2A00"/>
                </a:solidFill>
                <a:latin typeface="Century Gothic"/>
              </a:rPr>
              <a:t>5:00 · WATCH TWICE, THEN SILENT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3</a:t>
            </a:r>
          </a:p>
        </p:txBody>
      </p:sp>
      <p:sp>
        <p:nvSpPr>
          <p:cNvPr id="3" name="Oval 2"/>
          <p:cNvSpPr/>
          <p:nvPr/>
        </p:nvSpPr>
        <p:spPr>
          <a:xfrm>
            <a:off x="457200" y="566928"/>
            <a:ext cx="566928" cy="566928"/>
          </a:xfrm>
          <a:prstGeom prst="ellipse">
            <a:avLst/>
          </a:prstGeom>
          <a:solidFill>
            <a:srgbClr val="FFFFFF"/>
          </a:solidFill>
          <a:ln w="38100">
            <a:solidFill>
              <a:srgbClr val="B98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B98100"/>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Her Voice. Her Face.</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What does it change to see her? One line. Volunteers only.</a:t>
            </a:r>
          </a:p>
        </p:txBody>
      </p:sp>
      <p:sp>
        <p:nvSpPr>
          <p:cNvPr id="7" name="Rounded Rectangle 6"/>
          <p:cNvSpPr/>
          <p:nvPr/>
        </p:nvSpPr>
        <p:spPr>
          <a:xfrm>
            <a:off x="8668512" y="566928"/>
            <a:ext cx="3063240" cy="347472"/>
          </a:xfrm>
          <a:prstGeom prst="roundRect">
            <a:avLst>
              <a:gd name="adj" fmla="val 8000"/>
            </a:avLst>
          </a:prstGeom>
          <a:solidFill>
            <a:srgbClr val="B98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1 · LEGACY</a:t>
            </a:r>
          </a:p>
        </p:txBody>
      </p:sp>
      <p:sp>
        <p:nvSpPr>
          <p:cNvPr id="9" name="Rounded Rectangle 8"/>
          <p:cNvSpPr/>
          <p:nvPr/>
        </p:nvSpPr>
        <p:spPr>
          <a:xfrm>
            <a:off x="457200" y="1600200"/>
            <a:ext cx="11274552" cy="237744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10332720" cy="2377440"/>
          </a:xfrm>
          <a:prstGeom prst="rect">
            <a:avLst/>
          </a:prstGeom>
          <a:noFill/>
        </p:spPr>
        <p:txBody>
          <a:bodyPr wrap="square" anchor="ctr" lIns="45720" rIns="45720" tIns="27432" bIns="27432">
            <a:spAutoFit/>
          </a:bodyPr>
          <a:lstStyle/>
          <a:p>
            <a:pPr algn="l">
              <a:lnSpc>
                <a:spcPct val="110000"/>
              </a:lnSpc>
            </a:pPr>
            <a:r>
              <a:rPr sz="2800" b="1" i="0">
                <a:solidFill>
                  <a:srgbClr val="FFC63C"/>
                </a:solidFill>
                <a:latin typeface="Century Gothic"/>
              </a:rPr>
              <a:t>“The play ends with her voice.</a:t>
            </a:r>
          </a:p>
          <a:p>
            <a:pPr algn="l">
              <a:lnSpc>
                <a:spcPct val="110000"/>
              </a:lnSpc>
            </a:pPr>
            <a:r>
              <a:rPr sz="2800" b="1" i="0">
                <a:solidFill>
                  <a:srgbClr val="FFC63C"/>
                </a:solidFill>
                <a:latin typeface="Century Gothic"/>
              </a:rPr>
              <a:t>This film is her face.</a:t>
            </a:r>
          </a:p>
          <a:p>
            <a:pPr algn="l">
              <a:lnSpc>
                <a:spcPct val="110000"/>
              </a:lnSpc>
            </a:pPr>
            <a:r>
              <a:rPr sz="2800" b="1" i="0">
                <a:solidFill>
                  <a:srgbClr val="FFC63C"/>
                </a:solidFill>
                <a:latin typeface="Century Gothic"/>
              </a:rPr>
              <a:t>Both are legacy: what remains and keeps speaking.”</a:t>
            </a:r>
          </a:p>
        </p:txBody>
      </p:sp>
      <p:sp>
        <p:nvSpPr>
          <p:cNvPr id="11" name="Rounded Rectangle 10"/>
          <p:cNvSpPr/>
          <p:nvPr/>
        </p:nvSpPr>
        <p:spPr>
          <a:xfrm>
            <a:off x="457200" y="4251960"/>
            <a:ext cx="11274552" cy="137160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343400"/>
            <a:ext cx="10698480" cy="320040"/>
          </a:xfrm>
          <a:prstGeom prst="rect">
            <a:avLst/>
          </a:prstGeom>
          <a:noFill/>
        </p:spPr>
        <p:txBody>
          <a:bodyPr wrap="square" anchor="t" lIns="45720" rIns="45720" tIns="27432" bIns="27432">
            <a:spAutoFit/>
          </a:bodyPr>
          <a:lstStyle/>
          <a:p>
            <a:pPr algn="l">
              <a:lnSpc>
                <a:spcPct val="100000"/>
              </a:lnSpc>
            </a:pPr>
            <a:r>
              <a:rPr sz="1300" b="1" i="0">
                <a:solidFill>
                  <a:srgbClr val="B98100"/>
                </a:solidFill>
                <a:latin typeface="Century Gothic"/>
              </a:rPr>
              <a:t>LEGACY</a:t>
            </a:r>
          </a:p>
        </p:txBody>
      </p:sp>
      <p:sp>
        <p:nvSpPr>
          <p:cNvPr id="13" name="TextBox 12"/>
          <p:cNvSpPr txBox="1"/>
          <p:nvPr/>
        </p:nvSpPr>
        <p:spPr>
          <a:xfrm>
            <a:off x="777240" y="4681728"/>
            <a:ext cx="10698480" cy="822960"/>
          </a:xfrm>
          <a:prstGeom prst="rect">
            <a:avLst/>
          </a:prstGeom>
          <a:noFill/>
        </p:spPr>
        <p:txBody>
          <a:bodyPr wrap="square" anchor="t" lIns="45720" rIns="45720" tIns="27432" bIns="27432">
            <a:spAutoFit/>
          </a:bodyPr>
          <a:lstStyle/>
          <a:p>
            <a:pPr algn="l">
              <a:lnSpc>
                <a:spcPct val="100000"/>
              </a:lnSpc>
            </a:pPr>
            <a:r>
              <a:rPr sz="2400" b="1" i="0">
                <a:solidFill>
                  <a:srgbClr val="1E2A32"/>
                </a:solidFill>
                <a:latin typeface="Century Gothic"/>
              </a:rPr>
              <a:t>what a person leaves behind that continues to matter after they are gone</a:t>
            </a:r>
          </a:p>
        </p:txBody>
      </p:sp>
      <p:sp>
        <p:nvSpPr>
          <p:cNvPr id="14" name="TextBox 13"/>
          <p:cNvSpPr txBox="1"/>
          <p:nvPr/>
        </p:nvSpPr>
        <p:spPr>
          <a:xfrm>
            <a:off x="457200" y="5806440"/>
            <a:ext cx="11274552" cy="36576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Hold onto that word. It’s on your exit ticket.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4</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M</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Retrieve Tuesday · Tone vs. Mood</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Take out your Day 2 Tone and Mood Map. Row M.</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DAY 2 MAP · ROW M</a:t>
            </a:r>
          </a:p>
        </p:txBody>
      </p:sp>
      <p:sp>
        <p:nvSpPr>
          <p:cNvPr id="9" name="Rounded Rectangle 8"/>
          <p:cNvSpPr/>
          <p:nvPr/>
        </p:nvSpPr>
        <p:spPr>
          <a:xfrm>
            <a:off x="457200" y="1600200"/>
            <a:ext cx="11274552" cy="914400"/>
          </a:xfrm>
          <a:prstGeom prst="roundRect">
            <a:avLst>
              <a:gd name="adj" fmla="val 8000"/>
            </a:avLst>
          </a:prstGeom>
          <a:solidFill>
            <a:srgbClr val="E8D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00200"/>
            <a:ext cx="10698480" cy="914400"/>
          </a:xfrm>
          <a:prstGeom prst="rect">
            <a:avLst/>
          </a:prstGeom>
          <a:noFill/>
        </p:spPr>
        <p:txBody>
          <a:bodyPr wrap="square" anchor="ctr" lIns="45720" rIns="45720" tIns="27432" bIns="27432">
            <a:spAutoFit/>
          </a:bodyPr>
          <a:lstStyle/>
          <a:p>
            <a:pPr algn="l">
              <a:lnSpc>
                <a:spcPct val="100000"/>
              </a:lnSpc>
            </a:pPr>
            <a:r>
              <a:rPr sz="2100" b="1" i="0">
                <a:solidFill>
                  <a:srgbClr val="1E2A32"/>
                </a:solidFill>
                <a:latin typeface="Century Gothic"/>
              </a:rPr>
              <a:t>“In spite of everything, I still believe that people are really good at heart.”  (p. 778)</a:t>
            </a:r>
          </a:p>
        </p:txBody>
      </p:sp>
      <p:sp>
        <p:nvSpPr>
          <p:cNvPr id="11" name="Rounded Rectangle 10"/>
          <p:cNvSpPr/>
          <p:nvPr/>
        </p:nvSpPr>
        <p:spPr>
          <a:xfrm>
            <a:off x="457200" y="2743200"/>
            <a:ext cx="5486400" cy="201168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880360"/>
            <a:ext cx="4937760" cy="36576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ANNE’S TONE = ______</a:t>
            </a:r>
          </a:p>
        </p:txBody>
      </p:sp>
      <p:sp>
        <p:nvSpPr>
          <p:cNvPr id="13" name="TextBox 12"/>
          <p:cNvSpPr txBox="1"/>
          <p:nvPr/>
        </p:nvSpPr>
        <p:spPr>
          <a:xfrm>
            <a:off x="777240" y="3383280"/>
            <a:ext cx="4937760" cy="1280160"/>
          </a:xfrm>
          <a:prstGeom prst="rect">
            <a:avLst/>
          </a:prstGeom>
          <a:noFill/>
        </p:spPr>
        <p:txBody>
          <a:bodyPr wrap="square" anchor="t" lIns="45720" rIns="45720" tIns="27432" bIns="27432">
            <a:spAutoFit/>
          </a:bodyPr>
          <a:lstStyle/>
          <a:p>
            <a:pPr algn="l">
              <a:lnSpc>
                <a:spcPct val="100000"/>
              </a:lnSpc>
            </a:pPr>
            <a:r>
              <a:rPr sz="1700" b="0" i="0">
                <a:solidFill>
                  <a:srgbClr val="1E2A32"/>
                </a:solidFill>
                <a:latin typeface="Century Gothic"/>
              </a:rPr>
              <a:t>Her attitude. Proved by her diction.</a:t>
            </a:r>
          </a:p>
          <a:p>
            <a:pPr algn="l">
              <a:lnSpc>
                <a:spcPct val="100000"/>
              </a:lnSpc>
            </a:pPr>
            <a:r>
              <a:rPr sz="1700" b="1" i="0">
                <a:solidFill>
                  <a:srgbClr val="1E2A32"/>
                </a:solidFill>
                <a:latin typeface="Century Gothic"/>
              </a:rPr>
              <a:t>Which exact words?</a:t>
            </a:r>
          </a:p>
        </p:txBody>
      </p:sp>
      <p:sp>
        <p:nvSpPr>
          <p:cNvPr id="14" name="Rounded Rectangle 13"/>
          <p:cNvSpPr/>
          <p:nvPr/>
        </p:nvSpPr>
        <p:spPr>
          <a:xfrm>
            <a:off x="6245352" y="2743200"/>
            <a:ext cx="5486400" cy="2011680"/>
          </a:xfrm>
          <a:prstGeom prst="roundRect">
            <a:avLst>
              <a:gd name="adj" fmla="val 8000"/>
            </a:avLst>
          </a:prstGeom>
          <a:solidFill>
            <a:srgbClr val="FFE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2" y="2880360"/>
            <a:ext cx="4937760" cy="365760"/>
          </a:xfrm>
          <a:prstGeom prst="rect">
            <a:avLst/>
          </a:prstGeom>
          <a:noFill/>
        </p:spPr>
        <p:txBody>
          <a:bodyPr wrap="square" anchor="t" lIns="45720" rIns="45720" tIns="27432" bIns="27432">
            <a:spAutoFit/>
          </a:bodyPr>
          <a:lstStyle/>
          <a:p>
            <a:pPr algn="l">
              <a:lnSpc>
                <a:spcPct val="100000"/>
              </a:lnSpc>
            </a:pPr>
            <a:r>
              <a:rPr sz="2200" b="1" i="0">
                <a:solidFill>
                  <a:srgbClr val="DF442A"/>
                </a:solidFill>
                <a:latin typeface="Century Gothic"/>
              </a:rPr>
              <a:t>AUDIENCE MOOD = ______</a:t>
            </a:r>
          </a:p>
        </p:txBody>
      </p:sp>
      <p:sp>
        <p:nvSpPr>
          <p:cNvPr id="16" name="TextBox 15"/>
          <p:cNvSpPr txBox="1"/>
          <p:nvPr/>
        </p:nvSpPr>
        <p:spPr>
          <a:xfrm>
            <a:off x="6565392" y="3383280"/>
            <a:ext cx="4937760" cy="1280160"/>
          </a:xfrm>
          <a:prstGeom prst="rect">
            <a:avLst/>
          </a:prstGeom>
          <a:noFill/>
        </p:spPr>
        <p:txBody>
          <a:bodyPr wrap="square" anchor="t" lIns="45720" rIns="45720" tIns="27432" bIns="27432">
            <a:spAutoFit/>
          </a:bodyPr>
          <a:lstStyle/>
          <a:p>
            <a:pPr algn="l">
              <a:lnSpc>
                <a:spcPct val="100000"/>
              </a:lnSpc>
            </a:pPr>
            <a:r>
              <a:rPr sz="1700" b="0" i="0">
                <a:solidFill>
                  <a:srgbClr val="1E2A32"/>
                </a:solidFill>
                <a:latin typeface="Century Gothic"/>
              </a:rPr>
              <a:t>Our feeling. Built by what we know.</a:t>
            </a:r>
          </a:p>
          <a:p>
            <a:pPr algn="l">
              <a:lnSpc>
                <a:spcPct val="100000"/>
              </a:lnSpc>
            </a:pPr>
            <a:r>
              <a:rPr sz="1700" b="1" i="0">
                <a:solidFill>
                  <a:srgbClr val="1E2A32"/>
                </a:solidFill>
                <a:latin typeface="Century Gothic"/>
              </a:rPr>
              <a:t>What does the audience know?</a:t>
            </a:r>
          </a:p>
        </p:txBody>
      </p:sp>
      <p:sp>
        <p:nvSpPr>
          <p:cNvPr id="17" name="Rounded Rectangle 16"/>
          <p:cNvSpPr/>
          <p:nvPr/>
        </p:nvSpPr>
        <p:spPr>
          <a:xfrm>
            <a:off x="457200" y="4983480"/>
            <a:ext cx="11274552" cy="123444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983480"/>
            <a:ext cx="10698480" cy="1234440"/>
          </a:xfrm>
          <a:prstGeom prst="rect">
            <a:avLst/>
          </a:prstGeom>
          <a:noFill/>
        </p:spPr>
        <p:txBody>
          <a:bodyPr wrap="square" anchor="ctr" lIns="45720" rIns="45720" tIns="27432" bIns="27432">
            <a:spAutoFit/>
          </a:bodyPr>
          <a:lstStyle/>
          <a:p>
            <a:pPr algn="l">
              <a:lnSpc>
                <a:spcPct val="100000"/>
              </a:lnSpc>
            </a:pPr>
            <a:r>
              <a:rPr sz="2200" b="1" i="0">
                <a:solidFill>
                  <a:srgbClr val="FFFFFF"/>
                </a:solidFill>
                <a:latin typeface="Century Gothic"/>
              </a:rPr>
              <a:t>Today’s question:  </a:t>
            </a:r>
            <a:r>
              <a:rPr sz="2200" b="1" i="0">
                <a:solidFill>
                  <a:srgbClr val="FFC63C"/>
                </a:solidFill>
                <a:latin typeface="Century Gothic"/>
              </a:rPr>
              <a:t>How does that contrast develop the play’s theme?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5</a:t>
            </a:r>
          </a:p>
        </p:txBody>
      </p:sp>
      <p:sp>
        <p:nvSpPr>
          <p:cNvPr id="3" name="Oval 2"/>
          <p:cNvSpPr/>
          <p:nvPr/>
        </p:nvSpPr>
        <p:spPr>
          <a:xfrm>
            <a:off x="457200" y="566928"/>
            <a:ext cx="566928" cy="566928"/>
          </a:xfrm>
          <a:prstGeom prst="ellipse">
            <a:avLst/>
          </a:prstGeom>
          <a:solidFill>
            <a:srgbClr val="FFFFFF"/>
          </a:solidFill>
          <a:ln w="38100">
            <a:solidFill>
              <a:srgbClr val="2A56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2A56B5"/>
                </a:solidFill>
                <a:latin typeface="Century Gothic"/>
              </a:rPr>
              <a:t>02</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The Theme Ladder</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Climb from a topic to an arguable theme.</a:t>
            </a:r>
          </a:p>
        </p:txBody>
      </p:sp>
      <p:sp>
        <p:nvSpPr>
          <p:cNvPr id="7" name="Rounded Rectangle 6"/>
          <p:cNvSpPr/>
          <p:nvPr/>
        </p:nvSpPr>
        <p:spPr>
          <a:xfrm>
            <a:off x="8668512" y="566928"/>
            <a:ext cx="3063240" cy="347472"/>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PP. 1–2 · BOX 02</a:t>
            </a:r>
          </a:p>
        </p:txBody>
      </p:sp>
      <p:sp>
        <p:nvSpPr>
          <p:cNvPr id="9" name="Rounded Rectangle 8"/>
          <p:cNvSpPr/>
          <p:nvPr/>
        </p:nvSpPr>
        <p:spPr>
          <a:xfrm>
            <a:off x="457200" y="3977639"/>
            <a:ext cx="2103120" cy="86868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4050791"/>
            <a:ext cx="1874519" cy="777240"/>
          </a:xfrm>
          <a:prstGeom prst="rect">
            <a:avLst/>
          </a:prstGeom>
          <a:noFill/>
        </p:spPr>
        <p:txBody>
          <a:bodyPr wrap="square" anchor="t" lIns="45720" rIns="45720" tIns="27432" bIns="27432">
            <a:spAutoFit/>
          </a:bodyPr>
          <a:lstStyle/>
          <a:p>
            <a:pPr algn="l">
              <a:lnSpc>
                <a:spcPct val="100000"/>
              </a:lnSpc>
            </a:pPr>
            <a:r>
              <a:rPr sz="1400" b="1" i="0">
                <a:solidFill>
                  <a:srgbClr val="FFFFFF"/>
                </a:solidFill>
                <a:latin typeface="Century Gothic"/>
              </a:rPr>
              <a:t>1 · TOPIC</a:t>
            </a:r>
          </a:p>
          <a:p>
            <a:pPr algn="l">
              <a:lnSpc>
                <a:spcPct val="100000"/>
              </a:lnSpc>
            </a:pPr>
            <a:r>
              <a:rPr sz="1100" b="0" i="0">
                <a:solidFill>
                  <a:srgbClr val="FFFFFF"/>
                </a:solidFill>
                <a:latin typeface="Century Gothic"/>
              </a:rPr>
              <a:t>one word</a:t>
            </a:r>
          </a:p>
        </p:txBody>
      </p:sp>
      <p:sp>
        <p:nvSpPr>
          <p:cNvPr id="11" name="Rounded Rectangle 10"/>
          <p:cNvSpPr/>
          <p:nvPr/>
        </p:nvSpPr>
        <p:spPr>
          <a:xfrm>
            <a:off x="2651760" y="3977639"/>
            <a:ext cx="5120640" cy="86868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3977639"/>
            <a:ext cx="4846320" cy="868680"/>
          </a:xfrm>
          <a:prstGeom prst="rect">
            <a:avLst/>
          </a:prstGeom>
          <a:noFill/>
        </p:spPr>
        <p:txBody>
          <a:bodyPr wrap="square" anchor="ctr" lIns="45720" rIns="45720" tIns="27432" bIns="27432">
            <a:spAutoFit/>
          </a:bodyPr>
          <a:lstStyle/>
          <a:p>
            <a:pPr algn="l">
              <a:lnSpc>
                <a:spcPct val="100000"/>
              </a:lnSpc>
            </a:pPr>
            <a:r>
              <a:rPr sz="1700" b="0" i="1">
                <a:solidFill>
                  <a:srgbClr val="2A56B5"/>
                </a:solidFill>
                <a:latin typeface="Century Gothic"/>
              </a:rPr>
              <a:t>hope</a:t>
            </a:r>
          </a:p>
        </p:txBody>
      </p:sp>
      <p:sp>
        <p:nvSpPr>
          <p:cNvPr id="13" name="Rounded Rectangle 12"/>
          <p:cNvSpPr/>
          <p:nvPr/>
        </p:nvSpPr>
        <p:spPr>
          <a:xfrm>
            <a:off x="960120" y="2971800"/>
            <a:ext cx="2103120" cy="86868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044952"/>
            <a:ext cx="1874519" cy="777240"/>
          </a:xfrm>
          <a:prstGeom prst="rect">
            <a:avLst/>
          </a:prstGeom>
          <a:noFill/>
        </p:spPr>
        <p:txBody>
          <a:bodyPr wrap="square" anchor="t" lIns="45720" rIns="45720" tIns="27432" bIns="27432">
            <a:spAutoFit/>
          </a:bodyPr>
          <a:lstStyle/>
          <a:p>
            <a:pPr algn="l">
              <a:lnSpc>
                <a:spcPct val="100000"/>
              </a:lnSpc>
            </a:pPr>
            <a:r>
              <a:rPr sz="1400" b="1" i="0">
                <a:solidFill>
                  <a:srgbClr val="FFFFFF"/>
                </a:solidFill>
                <a:latin typeface="Century Gothic"/>
              </a:rPr>
              <a:t>2 · WHAT THE PLAY SAYS</a:t>
            </a:r>
          </a:p>
          <a:p>
            <a:pPr algn="l">
              <a:lnSpc>
                <a:spcPct val="100000"/>
              </a:lnSpc>
            </a:pPr>
            <a:r>
              <a:rPr sz="1100" b="0" i="0">
                <a:solidFill>
                  <a:srgbClr val="FFFFFF"/>
                </a:solidFill>
                <a:latin typeface="Century Gothic"/>
              </a:rPr>
              <a:t>about this play</a:t>
            </a:r>
          </a:p>
        </p:txBody>
      </p:sp>
      <p:sp>
        <p:nvSpPr>
          <p:cNvPr id="15" name="Rounded Rectangle 14"/>
          <p:cNvSpPr/>
          <p:nvPr/>
        </p:nvSpPr>
        <p:spPr>
          <a:xfrm>
            <a:off x="3154680" y="2971800"/>
            <a:ext cx="4617720" cy="86868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2971800"/>
            <a:ext cx="4343400" cy="868680"/>
          </a:xfrm>
          <a:prstGeom prst="rect">
            <a:avLst/>
          </a:prstGeom>
          <a:noFill/>
        </p:spPr>
        <p:txBody>
          <a:bodyPr wrap="square" anchor="ctr" lIns="45720" rIns="45720" tIns="27432" bIns="27432">
            <a:spAutoFit/>
          </a:bodyPr>
          <a:lstStyle/>
          <a:p>
            <a:pPr algn="l">
              <a:lnSpc>
                <a:spcPct val="100000"/>
              </a:lnSpc>
            </a:pPr>
            <a:r>
              <a:rPr sz="1700" b="0" i="1">
                <a:solidFill>
                  <a:srgbClr val="2A56B5"/>
                </a:solidFill>
                <a:latin typeface="Century Gothic"/>
              </a:rPr>
              <a:t>The play is about holding onto hope.</a:t>
            </a:r>
          </a:p>
        </p:txBody>
      </p:sp>
      <p:sp>
        <p:nvSpPr>
          <p:cNvPr id="17" name="Rounded Rectangle 16"/>
          <p:cNvSpPr/>
          <p:nvPr/>
        </p:nvSpPr>
        <p:spPr>
          <a:xfrm>
            <a:off x="1463040" y="1600200"/>
            <a:ext cx="2103120" cy="128016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00200" y="1673352"/>
            <a:ext cx="1874519" cy="1188719"/>
          </a:xfrm>
          <a:prstGeom prst="rect">
            <a:avLst/>
          </a:prstGeom>
          <a:noFill/>
        </p:spPr>
        <p:txBody>
          <a:bodyPr wrap="square" anchor="t" lIns="45720" rIns="45720" tIns="27432" bIns="27432">
            <a:spAutoFit/>
          </a:bodyPr>
          <a:lstStyle/>
          <a:p>
            <a:pPr algn="l">
              <a:lnSpc>
                <a:spcPct val="100000"/>
              </a:lnSpc>
            </a:pPr>
            <a:r>
              <a:rPr sz="1400" b="1" i="0">
                <a:solidFill>
                  <a:srgbClr val="FFFFFF"/>
                </a:solidFill>
                <a:latin typeface="Century Gothic"/>
              </a:rPr>
              <a:t>3 · ARGUABLE THEME</a:t>
            </a:r>
          </a:p>
          <a:p>
            <a:pPr algn="l">
              <a:lnSpc>
                <a:spcPct val="100000"/>
              </a:lnSpc>
            </a:pPr>
            <a:r>
              <a:rPr sz="1100" b="0" i="0">
                <a:solidFill>
                  <a:srgbClr val="FFFFFF"/>
                </a:solidFill>
                <a:latin typeface="Century Gothic"/>
              </a:rPr>
              <a:t>about life or people beyond this play</a:t>
            </a:r>
          </a:p>
        </p:txBody>
      </p:sp>
      <p:sp>
        <p:nvSpPr>
          <p:cNvPr id="19" name="Rounded Rectangle 18"/>
          <p:cNvSpPr/>
          <p:nvPr/>
        </p:nvSpPr>
        <p:spPr>
          <a:xfrm>
            <a:off x="3657600" y="1600200"/>
            <a:ext cx="4114800" cy="128016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0" y="1600200"/>
            <a:ext cx="3840479" cy="1280160"/>
          </a:xfrm>
          <a:prstGeom prst="rect">
            <a:avLst/>
          </a:prstGeom>
          <a:noFill/>
        </p:spPr>
        <p:txBody>
          <a:bodyPr wrap="square" anchor="ctr" lIns="45720" rIns="45720" tIns="27432" bIns="27432">
            <a:spAutoFit/>
          </a:bodyPr>
          <a:lstStyle/>
          <a:p>
            <a:pPr algn="l">
              <a:lnSpc>
                <a:spcPct val="100000"/>
              </a:lnSpc>
            </a:pPr>
            <a:r>
              <a:rPr sz="1700" b="1" i="1">
                <a:solidFill>
                  <a:srgbClr val="2A56B5"/>
                </a:solidFill>
                <a:latin typeface="Century Gothic"/>
              </a:rPr>
              <a:t>The playwrights argue that hope is both precious and unbearably fragile in the face of evil.</a:t>
            </a:r>
          </a:p>
        </p:txBody>
      </p:sp>
      <p:sp>
        <p:nvSpPr>
          <p:cNvPr id="21" name="Rounded Rectangle 20"/>
          <p:cNvSpPr/>
          <p:nvPr/>
        </p:nvSpPr>
        <p:spPr>
          <a:xfrm>
            <a:off x="8549640" y="1600200"/>
            <a:ext cx="3182112" cy="3246120"/>
          </a:xfrm>
          <a:prstGeom prst="roundRect">
            <a:avLst>
              <a:gd name="adj" fmla="val 8000"/>
            </a:avLst>
          </a:prstGeom>
          <a:solidFill>
            <a:srgbClr val="FFFFFF"/>
          </a:solidFill>
          <a:ln w="25400">
            <a:solidFill>
              <a:srgbClr val="FF6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0" y="1691640"/>
            <a:ext cx="2834640" cy="320040"/>
          </a:xfrm>
          <a:prstGeom prst="rect">
            <a:avLst/>
          </a:prstGeom>
          <a:noFill/>
        </p:spPr>
        <p:txBody>
          <a:bodyPr wrap="square" anchor="t" lIns="45720" rIns="45720" tIns="27432" bIns="27432">
            <a:spAutoFit/>
          </a:bodyPr>
          <a:lstStyle/>
          <a:p>
            <a:pPr algn="l">
              <a:lnSpc>
                <a:spcPct val="100000"/>
              </a:lnSpc>
            </a:pPr>
            <a:r>
              <a:rPr sz="1300" b="1" i="0">
                <a:solidFill>
                  <a:srgbClr val="DF442A"/>
                </a:solidFill>
                <a:latin typeface="Century Gothic"/>
              </a:rPr>
              <a:t>NOT A THEME</a:t>
            </a:r>
          </a:p>
        </p:txBody>
      </p:sp>
      <p:sp>
        <p:nvSpPr>
          <p:cNvPr id="23" name="TextBox 22"/>
          <p:cNvSpPr txBox="1"/>
          <p:nvPr/>
        </p:nvSpPr>
        <p:spPr>
          <a:xfrm>
            <a:off x="8778240" y="2057400"/>
            <a:ext cx="2834640" cy="2743200"/>
          </a:xfrm>
          <a:prstGeom prst="rect">
            <a:avLst/>
          </a:prstGeom>
          <a:noFill/>
        </p:spPr>
        <p:txBody>
          <a:bodyPr wrap="square" anchor="t" lIns="45720" rIns="45720" tIns="27432" bIns="27432">
            <a:spAutoFit/>
          </a:bodyPr>
          <a:lstStyle/>
          <a:p>
            <a:pPr algn="l">
              <a:lnSpc>
                <a:spcPct val="115000"/>
              </a:lnSpc>
            </a:pPr>
            <a:r>
              <a:rPr sz="1500" b="1" i="0">
                <a:solidFill>
                  <a:srgbClr val="DF442A"/>
                </a:solidFill>
                <a:latin typeface="Century Gothic"/>
              </a:rPr>
              <a:t>Topic  </a:t>
            </a:r>
            <a:r>
              <a:rPr sz="1500" b="0" i="0">
                <a:solidFill>
                  <a:srgbClr val="1E2A32"/>
                </a:solidFill>
                <a:latin typeface="Century Gothic"/>
              </a:rPr>
              <a:t>hope</a:t>
            </a:r>
          </a:p>
          <a:p>
            <a:pPr algn="l">
              <a:lnSpc>
                <a:spcPct val="115000"/>
              </a:lnSpc>
            </a:pPr>
            <a:r>
              <a:rPr sz="1500" b="1" i="0">
                <a:solidFill>
                  <a:srgbClr val="DF442A"/>
                </a:solidFill>
                <a:latin typeface="Century Gothic"/>
              </a:rPr>
              <a:t>Plot summary  </a:t>
            </a:r>
            <a:r>
              <a:rPr sz="1500" b="0" i="0">
                <a:solidFill>
                  <a:srgbClr val="1E2A32"/>
                </a:solidFill>
                <a:latin typeface="Century Gothic"/>
              </a:rPr>
              <a:t>what happens in this play</a:t>
            </a:r>
          </a:p>
          <a:p>
            <a:pPr algn="l">
              <a:lnSpc>
                <a:spcPct val="115000"/>
              </a:lnSpc>
            </a:pPr>
            <a:r>
              <a:rPr sz="1500" b="1" i="0">
                <a:solidFill>
                  <a:srgbClr val="DF442A"/>
                </a:solidFill>
                <a:latin typeface="Century Gothic"/>
              </a:rPr>
              <a:t>Advice  </a:t>
            </a:r>
            <a:r>
              <a:rPr sz="1500" b="0" i="0">
                <a:solidFill>
                  <a:srgbClr val="1E2A32"/>
                </a:solidFill>
                <a:latin typeface="Century Gothic"/>
              </a:rPr>
              <a:t>“Never give up hope.”</a:t>
            </a:r>
          </a:p>
          <a:p>
            <a:pPr algn="l">
              <a:lnSpc>
                <a:spcPct val="115000"/>
              </a:lnSpc>
            </a:pPr>
            <a:r>
              <a:rPr sz="1500" b="0" i="0">
                <a:solidFill>
                  <a:srgbClr val="1E2A32"/>
                </a:solidFill>
                <a:latin typeface="Century Gothic"/>
              </a:rPr>
              <a:t> </a:t>
            </a:r>
          </a:p>
          <a:p>
            <a:pPr algn="l">
              <a:lnSpc>
                <a:spcPct val="115000"/>
              </a:lnSpc>
            </a:pPr>
            <a:r>
              <a:rPr sz="1500" b="1" i="0">
                <a:solidFill>
                  <a:srgbClr val="1E2A32"/>
                </a:solidFill>
                <a:latin typeface="Century Gothic"/>
              </a:rPr>
              <a:t>“‘Never give up hope’ is a bumper sticker.”</a:t>
            </a:r>
          </a:p>
        </p:txBody>
      </p:sp>
      <p:sp>
        <p:nvSpPr>
          <p:cNvPr id="24" name="Rounded Rectangle 23"/>
          <p:cNvSpPr/>
          <p:nvPr/>
        </p:nvSpPr>
        <p:spPr>
          <a:xfrm>
            <a:off x="457200" y="5074920"/>
            <a:ext cx="11274552" cy="114300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074920"/>
            <a:ext cx="10698480" cy="1143000"/>
          </a:xfrm>
          <a:prstGeom prst="rect">
            <a:avLst/>
          </a:prstGeom>
          <a:noFill/>
        </p:spPr>
        <p:txBody>
          <a:bodyPr wrap="square" anchor="ctr" lIns="45720" rIns="45720" tIns="27432" bIns="27432">
            <a:spAutoFit/>
          </a:bodyPr>
          <a:lstStyle/>
          <a:p>
            <a:pPr algn="l">
              <a:lnSpc>
                <a:spcPct val="100000"/>
              </a:lnSpc>
            </a:pPr>
            <a:r>
              <a:rPr sz="1900" b="1" i="0">
                <a:solidFill>
                  <a:srgbClr val="FFFFFF"/>
                </a:solidFill>
                <a:latin typeface="Century Gothic"/>
              </a:rPr>
              <a:t>A theme is an arguable idea about life or people beyond this one play, developed by the text and proved with evidence.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A32"/>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6</a:t>
            </a:r>
          </a:p>
        </p:txBody>
      </p:sp>
      <p:sp>
        <p:nvSpPr>
          <p:cNvPr id="3" name="Oval 2"/>
          <p:cNvSpPr/>
          <p:nvPr/>
        </p:nvSpPr>
        <p:spPr>
          <a:xfrm>
            <a:off x="457200" y="566928"/>
            <a:ext cx="566928" cy="566928"/>
          </a:xfrm>
          <a:prstGeom prst="ellipse">
            <a:avLst/>
          </a:prstGeom>
          <a:solidFill>
            <a:srgbClr val="FFFFFF"/>
          </a:solidFill>
          <a:ln w="38100">
            <a:solidFill>
              <a:srgbClr val="FFC6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FFC63C"/>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FFFFFF"/>
                </a:solidFill>
                <a:latin typeface="Century Gothic"/>
              </a:rPr>
              <a:t>Contrast → Theme</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C9D4DA"/>
                </a:solidFill>
                <a:latin typeface="Century Gothic"/>
              </a:rPr>
              <a:t>Where does the theme live?</a:t>
            </a:r>
          </a:p>
        </p:txBody>
      </p:sp>
      <p:sp>
        <p:nvSpPr>
          <p:cNvPr id="7" name="Rounded Rectangle 6"/>
          <p:cNvSpPr/>
          <p:nvPr/>
        </p:nvSpPr>
        <p:spPr>
          <a:xfrm>
            <a:off x="457200" y="1645920"/>
            <a:ext cx="3429000" cy="1600200"/>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37360"/>
            <a:ext cx="3017520" cy="1463040"/>
          </a:xfrm>
          <a:prstGeom prst="rect">
            <a:avLst/>
          </a:prstGeom>
          <a:noFill/>
        </p:spPr>
        <p:txBody>
          <a:bodyPr wrap="square" anchor="ctr" lIns="45720" rIns="45720" tIns="27432" bIns="27432">
            <a:spAutoFit/>
          </a:bodyPr>
          <a:lstStyle/>
          <a:p>
            <a:pPr algn="l">
              <a:lnSpc>
                <a:spcPct val="100000"/>
              </a:lnSpc>
            </a:pPr>
            <a:r>
              <a:rPr sz="1300" b="1" i="0">
                <a:solidFill>
                  <a:srgbClr val="FFFFFF"/>
                </a:solidFill>
                <a:latin typeface="Century Gothic"/>
              </a:rPr>
              <a:t>ANNE’S HOPEFUL TONE</a:t>
            </a:r>
          </a:p>
          <a:p>
            <a:pPr algn="l">
              <a:lnSpc>
                <a:spcPct val="100000"/>
              </a:lnSpc>
            </a:pPr>
            <a:r>
              <a:rPr sz="1600" b="0" i="0">
                <a:solidFill>
                  <a:srgbClr val="FFFFFF"/>
                </a:solidFill>
                <a:latin typeface="Century Gothic"/>
              </a:rPr>
              <a:t>alone → the theme would be simple</a:t>
            </a:r>
          </a:p>
        </p:txBody>
      </p:sp>
      <p:sp>
        <p:nvSpPr>
          <p:cNvPr id="9" name="TextBox 8"/>
          <p:cNvSpPr txBox="1"/>
          <p:nvPr/>
        </p:nvSpPr>
        <p:spPr>
          <a:xfrm>
            <a:off x="3931920" y="1645920"/>
            <a:ext cx="548640" cy="1600200"/>
          </a:xfrm>
          <a:prstGeom prst="rect">
            <a:avLst/>
          </a:prstGeom>
          <a:noFill/>
        </p:spPr>
        <p:txBody>
          <a:bodyPr wrap="square" anchor="ctr" lIns="45720" rIns="45720" tIns="27432" bIns="27432">
            <a:spAutoFit/>
          </a:bodyPr>
          <a:lstStyle/>
          <a:p>
            <a:pPr algn="ctr">
              <a:lnSpc>
                <a:spcPct val="100000"/>
              </a:lnSpc>
            </a:pPr>
            <a:r>
              <a:rPr sz="4000" b="1" i="0">
                <a:solidFill>
                  <a:srgbClr val="FFFFFF"/>
                </a:solidFill>
                <a:latin typeface="Century Gothic"/>
              </a:rPr>
              <a:t>+</a:t>
            </a:r>
          </a:p>
        </p:txBody>
      </p:sp>
      <p:sp>
        <p:nvSpPr>
          <p:cNvPr id="10" name="Rounded Rectangle 9"/>
          <p:cNvSpPr/>
          <p:nvPr/>
        </p:nvSpPr>
        <p:spPr>
          <a:xfrm>
            <a:off x="4526280" y="1645920"/>
            <a:ext cx="3429000" cy="1600200"/>
          </a:xfrm>
          <a:prstGeom prst="roundRect">
            <a:avLst>
              <a:gd name="adj" fmla="val 8000"/>
            </a:avLst>
          </a:prstGeom>
          <a:solidFill>
            <a:srgbClr val="FF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1737360"/>
            <a:ext cx="3017520" cy="1463040"/>
          </a:xfrm>
          <a:prstGeom prst="rect">
            <a:avLst/>
          </a:prstGeom>
          <a:noFill/>
        </p:spPr>
        <p:txBody>
          <a:bodyPr wrap="square" anchor="ctr" lIns="45720" rIns="45720" tIns="27432" bIns="27432">
            <a:spAutoFit/>
          </a:bodyPr>
          <a:lstStyle/>
          <a:p>
            <a:pPr algn="l">
              <a:lnSpc>
                <a:spcPct val="100000"/>
              </a:lnSpc>
            </a:pPr>
            <a:r>
              <a:rPr sz="1300" b="1" i="0">
                <a:solidFill>
                  <a:srgbClr val="FFFFFF"/>
                </a:solidFill>
                <a:latin typeface="Century Gothic"/>
              </a:rPr>
              <a:t>THE DEVASTATING MOOD</a:t>
            </a:r>
          </a:p>
          <a:p>
            <a:pPr algn="l">
              <a:lnSpc>
                <a:spcPct val="100000"/>
              </a:lnSpc>
            </a:pPr>
            <a:r>
              <a:rPr sz="1600" b="0" i="0">
                <a:solidFill>
                  <a:srgbClr val="FFFFFF"/>
                </a:solidFill>
                <a:latin typeface="Century Gothic"/>
              </a:rPr>
              <a:t>alone → the theme would be despair</a:t>
            </a:r>
          </a:p>
        </p:txBody>
      </p:sp>
      <p:sp>
        <p:nvSpPr>
          <p:cNvPr id="12" name="TextBox 11"/>
          <p:cNvSpPr txBox="1"/>
          <p:nvPr/>
        </p:nvSpPr>
        <p:spPr>
          <a:xfrm>
            <a:off x="8001000" y="1645920"/>
            <a:ext cx="548640" cy="1600200"/>
          </a:xfrm>
          <a:prstGeom prst="rect">
            <a:avLst/>
          </a:prstGeom>
          <a:noFill/>
        </p:spPr>
        <p:txBody>
          <a:bodyPr wrap="square" anchor="ctr" lIns="45720" rIns="45720" tIns="27432" bIns="27432">
            <a:spAutoFit/>
          </a:bodyPr>
          <a:lstStyle/>
          <a:p>
            <a:pPr algn="ctr">
              <a:lnSpc>
                <a:spcPct val="100000"/>
              </a:lnSpc>
            </a:pPr>
            <a:r>
              <a:rPr sz="4000" b="1" i="0">
                <a:solidFill>
                  <a:srgbClr val="FFFFFF"/>
                </a:solidFill>
                <a:latin typeface="Century Gothic"/>
              </a:rPr>
              <a:t>→</a:t>
            </a:r>
          </a:p>
        </p:txBody>
      </p:sp>
      <p:sp>
        <p:nvSpPr>
          <p:cNvPr id="13" name="Rounded Rectangle 12"/>
          <p:cNvSpPr/>
          <p:nvPr/>
        </p:nvSpPr>
        <p:spPr>
          <a:xfrm>
            <a:off x="8595360" y="1645920"/>
            <a:ext cx="3136392" cy="1600200"/>
          </a:xfrm>
          <a:prstGeom prst="roundRect">
            <a:avLst>
              <a:gd name="adj" fmla="val 8000"/>
            </a:avLst>
          </a:prstGeom>
          <a:solidFill>
            <a:srgbClr val="FFC6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0" y="1737360"/>
            <a:ext cx="2743200" cy="1463040"/>
          </a:xfrm>
          <a:prstGeom prst="rect">
            <a:avLst/>
          </a:prstGeom>
          <a:noFill/>
        </p:spPr>
        <p:txBody>
          <a:bodyPr wrap="square" anchor="ctr" lIns="45720" rIns="45720" tIns="27432" bIns="27432">
            <a:spAutoFit/>
          </a:bodyPr>
          <a:lstStyle/>
          <a:p>
            <a:pPr algn="l">
              <a:lnSpc>
                <a:spcPct val="100000"/>
              </a:lnSpc>
            </a:pPr>
            <a:r>
              <a:rPr sz="1300" b="1" i="0">
                <a:solidFill>
                  <a:srgbClr val="3A2A00"/>
                </a:solidFill>
                <a:latin typeface="Century Gothic"/>
              </a:rPr>
              <a:t>THE COLLISION</a:t>
            </a:r>
          </a:p>
          <a:p>
            <a:pPr algn="l">
              <a:lnSpc>
                <a:spcPct val="100000"/>
              </a:lnSpc>
            </a:pPr>
            <a:r>
              <a:rPr sz="2200" b="1" i="0">
                <a:solidFill>
                  <a:srgbClr val="3A2A00"/>
                </a:solidFill>
                <a:latin typeface="Century Gothic"/>
              </a:rPr>
              <a:t>→ THEME</a:t>
            </a:r>
          </a:p>
        </p:txBody>
      </p:sp>
      <p:sp>
        <p:nvSpPr>
          <p:cNvPr id="15" name="Rounded Rectangle 14"/>
          <p:cNvSpPr/>
          <p:nvPr/>
        </p:nvSpPr>
        <p:spPr>
          <a:xfrm>
            <a:off x="457200" y="3566160"/>
            <a:ext cx="11274552" cy="1325880"/>
          </a:xfrm>
          <a:prstGeom prst="roundRect">
            <a:avLst>
              <a:gd name="adj" fmla="val 8000"/>
            </a:avLst>
          </a:prstGeom>
          <a:solidFill>
            <a:srgbClr val="2A3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566160"/>
            <a:ext cx="10698480" cy="1325880"/>
          </a:xfrm>
          <a:prstGeom prst="rect">
            <a:avLst/>
          </a:prstGeom>
          <a:noFill/>
        </p:spPr>
        <p:txBody>
          <a:bodyPr wrap="square" anchor="ctr" lIns="45720" rIns="45720" tIns="27432" bIns="27432">
            <a:spAutoFit/>
          </a:bodyPr>
          <a:lstStyle/>
          <a:p>
            <a:pPr algn="ctr">
              <a:lnSpc>
                <a:spcPct val="100000"/>
              </a:lnSpc>
            </a:pPr>
            <a:r>
              <a:rPr sz="2600" b="1" i="0">
                <a:solidFill>
                  <a:srgbClr val="FFC63C"/>
                </a:solidFill>
                <a:latin typeface="Century Gothic"/>
              </a:rPr>
              <a:t>“The playwrights force the two together, and the theme lives in that collision.”</a:t>
            </a:r>
          </a:p>
        </p:txBody>
      </p:sp>
      <p:sp>
        <p:nvSpPr>
          <p:cNvPr id="17" name="TextBox 16"/>
          <p:cNvSpPr txBox="1"/>
          <p:nvPr/>
        </p:nvSpPr>
        <p:spPr>
          <a:xfrm>
            <a:off x="457200" y="5166360"/>
            <a:ext cx="11274552" cy="822960"/>
          </a:xfrm>
          <a:prstGeom prst="rect">
            <a:avLst/>
          </a:prstGeom>
          <a:noFill/>
        </p:spPr>
        <p:txBody>
          <a:bodyPr wrap="square" anchor="ctr" lIns="45720" rIns="45720" tIns="27432" bIns="27432">
            <a:spAutoFit/>
          </a:bodyPr>
          <a:lstStyle/>
          <a:p>
            <a:pPr algn="ctr">
              <a:lnSpc>
                <a:spcPct val="100000"/>
              </a:lnSpc>
            </a:pPr>
            <a:r>
              <a:rPr sz="3000" b="1" i="0">
                <a:solidFill>
                  <a:srgbClr val="FFFFFF"/>
                </a:solidFill>
                <a:latin typeface="Century Gothic"/>
              </a:rPr>
              <a:t>What idea about people survives the contrast?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DEFF"/>
        </a:solidFill>
        <a:effectLst/>
      </p:bgPr>
    </p:bg>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7</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Show Your Thinking</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Think first. Then say it.</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2 · PURPLE STRIP</a:t>
            </a:r>
          </a:p>
        </p:txBody>
      </p:sp>
      <p:sp>
        <p:nvSpPr>
          <p:cNvPr id="9" name="Rounded Rectangle 8"/>
          <p:cNvSpPr/>
          <p:nvPr/>
        </p:nvSpPr>
        <p:spPr>
          <a:xfrm>
            <a:off x="457200" y="1600200"/>
            <a:ext cx="11274552" cy="1600200"/>
          </a:xfrm>
          <a:prstGeom prst="roundRect">
            <a:avLst>
              <a:gd name="adj" fmla="val 8000"/>
            </a:avLst>
          </a:prstGeom>
          <a:solidFill>
            <a:srgbClr val="FFFFFF"/>
          </a:solidFill>
          <a:ln w="31750">
            <a:solidFill>
              <a:srgbClr val="8B6BE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691640"/>
            <a:ext cx="10698480" cy="1463040"/>
          </a:xfrm>
          <a:prstGeom prst="rect">
            <a:avLst/>
          </a:prstGeom>
          <a:noFill/>
        </p:spPr>
        <p:txBody>
          <a:bodyPr wrap="square" anchor="ctr" lIns="45720" rIns="45720" tIns="27432" bIns="27432">
            <a:spAutoFit/>
          </a:bodyPr>
          <a:lstStyle/>
          <a:p>
            <a:pPr algn="l">
              <a:lnSpc>
                <a:spcPct val="110000"/>
              </a:lnSpc>
            </a:pPr>
            <a:r>
              <a:rPr sz="2200" b="0" i="0">
                <a:solidFill>
                  <a:srgbClr val="1E2A32"/>
                </a:solidFill>
                <a:latin typeface="Century Gothic"/>
              </a:rPr>
              <a:t>Candidate:  </a:t>
            </a:r>
            <a:r>
              <a:rPr sz="3000" b="1" i="0">
                <a:solidFill>
                  <a:srgbClr val="1E2A32"/>
                </a:solidFill>
                <a:latin typeface="Century Gothic"/>
              </a:rPr>
              <a:t>“Never give up hope.”</a:t>
            </a:r>
          </a:p>
          <a:p>
            <a:pPr algn="l">
              <a:lnSpc>
                <a:spcPct val="110000"/>
              </a:lnSpc>
            </a:pPr>
            <a:r>
              <a:rPr sz="1800" b="0" i="0">
                <a:solidFill>
                  <a:srgbClr val="1E2A32"/>
                </a:solidFill>
                <a:latin typeface="Century Gothic"/>
              </a:rPr>
              <a:t>Is it a topic, advice, or an arguable idea? How would you turn it into a real theme statement?</a:t>
            </a:r>
          </a:p>
        </p:txBody>
      </p:sp>
      <p:sp>
        <p:nvSpPr>
          <p:cNvPr id="11" name="Rounded Rectangle 10"/>
          <p:cNvSpPr/>
          <p:nvPr/>
        </p:nvSpPr>
        <p:spPr>
          <a:xfrm>
            <a:off x="457200" y="3429000"/>
            <a:ext cx="3108960" cy="347472"/>
          </a:xfrm>
          <a:prstGeom prst="roundRect">
            <a:avLst>
              <a:gd name="adj" fmla="val 50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429000"/>
            <a:ext cx="310896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THINK SILENTLY · 30–45 SEC</a:t>
            </a:r>
          </a:p>
        </p:txBody>
      </p:sp>
      <p:sp>
        <p:nvSpPr>
          <p:cNvPr id="13" name="Rounded Rectangle 12"/>
          <p:cNvSpPr/>
          <p:nvPr/>
        </p:nvSpPr>
        <p:spPr>
          <a:xfrm>
            <a:off x="457200" y="3977639"/>
            <a:ext cx="2697480" cy="8686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977639"/>
            <a:ext cx="2697480" cy="868680"/>
          </a:xfrm>
          <a:prstGeom prst="rect">
            <a:avLst/>
          </a:prstGeom>
          <a:noFill/>
        </p:spPr>
        <p:txBody>
          <a:bodyPr wrap="square" anchor="ctr" lIns="45720" rIns="45720" tIns="27432" bIns="27432">
            <a:spAutoFit/>
          </a:bodyPr>
          <a:lstStyle/>
          <a:p>
            <a:pPr algn="ctr">
              <a:lnSpc>
                <a:spcPct val="100000"/>
              </a:lnSpc>
            </a:pPr>
            <a:r>
              <a:rPr sz="2000" b="1" i="0">
                <a:solidFill>
                  <a:srgbClr val="FFFFFF"/>
                </a:solidFill>
                <a:latin typeface="Century Gothic"/>
              </a:rPr>
              <a:t>First I…</a:t>
            </a:r>
          </a:p>
        </p:txBody>
      </p:sp>
      <p:sp>
        <p:nvSpPr>
          <p:cNvPr id="15" name="Rounded Rectangle 14"/>
          <p:cNvSpPr/>
          <p:nvPr/>
        </p:nvSpPr>
        <p:spPr>
          <a:xfrm>
            <a:off x="3319272" y="3977639"/>
            <a:ext cx="2697480" cy="8686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9272" y="3977639"/>
            <a:ext cx="2697480" cy="868680"/>
          </a:xfrm>
          <a:prstGeom prst="rect">
            <a:avLst/>
          </a:prstGeom>
          <a:noFill/>
        </p:spPr>
        <p:txBody>
          <a:bodyPr wrap="square" anchor="ctr" lIns="45720" rIns="45720" tIns="27432" bIns="27432">
            <a:spAutoFit/>
          </a:bodyPr>
          <a:lstStyle/>
          <a:p>
            <a:pPr algn="ctr">
              <a:lnSpc>
                <a:spcPct val="100000"/>
              </a:lnSpc>
            </a:pPr>
            <a:r>
              <a:rPr sz="2000" b="1" i="0">
                <a:solidFill>
                  <a:srgbClr val="FFFFFF"/>
                </a:solidFill>
                <a:latin typeface="Century Gothic"/>
              </a:rPr>
              <a:t>Then I noticed…</a:t>
            </a:r>
          </a:p>
        </p:txBody>
      </p:sp>
      <p:sp>
        <p:nvSpPr>
          <p:cNvPr id="17" name="Rounded Rectangle 16"/>
          <p:cNvSpPr/>
          <p:nvPr/>
        </p:nvSpPr>
        <p:spPr>
          <a:xfrm>
            <a:off x="6181344" y="3977639"/>
            <a:ext cx="2697480" cy="8686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81344" y="3977639"/>
            <a:ext cx="2697480" cy="868680"/>
          </a:xfrm>
          <a:prstGeom prst="rect">
            <a:avLst/>
          </a:prstGeom>
          <a:noFill/>
        </p:spPr>
        <p:txBody>
          <a:bodyPr wrap="square" anchor="ctr" lIns="45720" rIns="45720" tIns="27432" bIns="27432">
            <a:spAutoFit/>
          </a:bodyPr>
          <a:lstStyle/>
          <a:p>
            <a:pPr algn="ctr">
              <a:lnSpc>
                <a:spcPct val="100000"/>
              </a:lnSpc>
            </a:pPr>
            <a:r>
              <a:rPr sz="2000" b="1" i="0">
                <a:solidFill>
                  <a:srgbClr val="FFFFFF"/>
                </a:solidFill>
                <a:latin typeface="Century Gothic"/>
              </a:rPr>
              <a:t>So I decided…</a:t>
            </a:r>
          </a:p>
        </p:txBody>
      </p:sp>
      <p:sp>
        <p:nvSpPr>
          <p:cNvPr id="19" name="Rounded Rectangle 18"/>
          <p:cNvSpPr/>
          <p:nvPr/>
        </p:nvSpPr>
        <p:spPr>
          <a:xfrm>
            <a:off x="9043416" y="3977639"/>
            <a:ext cx="2697480" cy="868680"/>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43416" y="3977639"/>
            <a:ext cx="2697480" cy="868680"/>
          </a:xfrm>
          <a:prstGeom prst="rect">
            <a:avLst/>
          </a:prstGeom>
          <a:noFill/>
        </p:spPr>
        <p:txBody>
          <a:bodyPr wrap="square" anchor="ctr" lIns="45720" rIns="45720" tIns="27432" bIns="27432">
            <a:spAutoFit/>
          </a:bodyPr>
          <a:lstStyle/>
          <a:p>
            <a:pPr algn="ctr">
              <a:lnSpc>
                <a:spcPct val="100000"/>
              </a:lnSpc>
            </a:pPr>
            <a:r>
              <a:rPr sz="2000" b="1" i="0">
                <a:solidFill>
                  <a:srgbClr val="FFFFFF"/>
                </a:solidFill>
                <a:latin typeface="Century Gothic"/>
              </a:rPr>
              <a:t>Because…</a:t>
            </a:r>
          </a:p>
        </p:txBody>
      </p:sp>
      <p:sp>
        <p:nvSpPr>
          <p:cNvPr id="21" name="Rounded Rectangle 20"/>
          <p:cNvSpPr/>
          <p:nvPr/>
        </p:nvSpPr>
        <p:spPr>
          <a:xfrm>
            <a:off x="457200" y="5120640"/>
            <a:ext cx="11274552" cy="105156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20640"/>
            <a:ext cx="10698480" cy="1051560"/>
          </a:xfrm>
          <a:prstGeom prst="rect">
            <a:avLst/>
          </a:prstGeom>
          <a:noFill/>
        </p:spPr>
        <p:txBody>
          <a:bodyPr wrap="square" anchor="ctr" lIns="45720" rIns="45720" tIns="27432" bIns="27432">
            <a:spAutoFit/>
          </a:bodyPr>
          <a:lstStyle/>
          <a:p>
            <a:pPr algn="l">
              <a:lnSpc>
                <a:spcPct val="100000"/>
              </a:lnSpc>
            </a:pPr>
            <a:r>
              <a:rPr sz="1900" b="1" i="0">
                <a:solidFill>
                  <a:srgbClr val="FFC63C"/>
                </a:solidFill>
                <a:latin typeface="Century Gothic"/>
              </a:rPr>
              <a:t>BUILD · REVISE · CHALLENGE</a:t>
            </a:r>
            <a:r>
              <a:rPr sz="1900" b="0" i="0">
                <a:solidFill>
                  <a:srgbClr val="FFFFFF"/>
                </a:solidFill>
                <a:latin typeface="Century Gothic"/>
              </a:rPr>
              <a:t>     “I would revise it to ______ because ______.”</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8</a:t>
            </a:r>
          </a:p>
        </p:txBody>
      </p:sp>
      <p:sp>
        <p:nvSpPr>
          <p:cNvPr id="3" name="Oval 2"/>
          <p:cNvSpPr/>
          <p:nvPr/>
        </p:nvSpPr>
        <p:spPr>
          <a:xfrm>
            <a:off x="457200" y="566928"/>
            <a:ext cx="566928" cy="566928"/>
          </a:xfrm>
          <a:prstGeom prst="ellipse">
            <a:avLst/>
          </a:prstGeom>
          <a:solidFill>
            <a:srgbClr val="FFFFFF"/>
          </a:solidFill>
          <a:ln w="38100">
            <a:solidFill>
              <a:srgbClr val="2A56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2A56B5"/>
                </a:solidFill>
                <a:latin typeface="Century Gothic"/>
              </a:rPr>
              <a:t>02</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Build It. Test It.</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My Ladder → test it → backup candidate · 3 minutes</a:t>
            </a:r>
          </a:p>
        </p:txBody>
      </p:sp>
      <p:sp>
        <p:nvSpPr>
          <p:cNvPr id="7" name="Rounded Rectangle 6"/>
          <p:cNvSpPr/>
          <p:nvPr/>
        </p:nvSpPr>
        <p:spPr>
          <a:xfrm>
            <a:off x="8668512" y="566928"/>
            <a:ext cx="3063240" cy="347472"/>
          </a:xfrm>
          <a:prstGeom prst="roundRect">
            <a:avLst>
              <a:gd name="adj" fmla="val 8000"/>
            </a:avLst>
          </a:prstGeom>
          <a:solidFill>
            <a:srgbClr val="3B7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2 · THEME TEST</a:t>
            </a:r>
          </a:p>
        </p:txBody>
      </p:sp>
      <p:sp>
        <p:nvSpPr>
          <p:cNvPr id="9" name="Rounded Rectangle 8"/>
          <p:cNvSpPr/>
          <p:nvPr/>
        </p:nvSpPr>
        <p:spPr>
          <a:xfrm>
            <a:off x="457200" y="1600200"/>
            <a:ext cx="3429000"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709928"/>
            <a:ext cx="3017520" cy="123444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  </a:t>
            </a:r>
          </a:p>
          <a:p>
            <a:pPr algn="l">
              <a:lnSpc>
                <a:spcPct val="100000"/>
              </a:lnSpc>
            </a:pPr>
            <a:r>
              <a:rPr sz="1700" b="1" i="0">
                <a:solidFill>
                  <a:srgbClr val="1E2A32"/>
                </a:solidFill>
                <a:latin typeface="Century Gothic"/>
              </a:rPr>
              <a:t>A reasonable person could disagree.</a:t>
            </a:r>
          </a:p>
        </p:txBody>
      </p:sp>
      <p:sp>
        <p:nvSpPr>
          <p:cNvPr id="11" name="Rounded Rectangle 10"/>
          <p:cNvSpPr/>
          <p:nvPr/>
        </p:nvSpPr>
        <p:spPr>
          <a:xfrm>
            <a:off x="4069080" y="1600200"/>
            <a:ext cx="3429000"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709928"/>
            <a:ext cx="3017520" cy="123444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  </a:t>
            </a:r>
          </a:p>
          <a:p>
            <a:pPr algn="l">
              <a:lnSpc>
                <a:spcPct val="100000"/>
              </a:lnSpc>
            </a:pPr>
            <a:r>
              <a:rPr sz="1700" b="1" i="0">
                <a:solidFill>
                  <a:srgbClr val="1E2A32"/>
                </a:solidFill>
                <a:latin typeface="Century Gothic"/>
              </a:rPr>
              <a:t>It applies beyond this one play.</a:t>
            </a:r>
          </a:p>
        </p:txBody>
      </p:sp>
      <p:sp>
        <p:nvSpPr>
          <p:cNvPr id="13" name="Rounded Rectangle 12"/>
          <p:cNvSpPr/>
          <p:nvPr/>
        </p:nvSpPr>
        <p:spPr>
          <a:xfrm>
            <a:off x="457200" y="3200400"/>
            <a:ext cx="3429000"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310128"/>
            <a:ext cx="3017520" cy="123444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  </a:t>
            </a:r>
          </a:p>
          <a:p>
            <a:pPr algn="l">
              <a:lnSpc>
                <a:spcPct val="100000"/>
              </a:lnSpc>
            </a:pPr>
            <a:r>
              <a:rPr sz="1700" b="1" i="0">
                <a:solidFill>
                  <a:srgbClr val="1E2A32"/>
                </a:solidFill>
                <a:latin typeface="Century Gothic"/>
              </a:rPr>
              <a:t>Tuesday’s tone/mood contrast can support it.</a:t>
            </a:r>
          </a:p>
        </p:txBody>
      </p:sp>
      <p:sp>
        <p:nvSpPr>
          <p:cNvPr id="15" name="Rounded Rectangle 14"/>
          <p:cNvSpPr/>
          <p:nvPr/>
        </p:nvSpPr>
        <p:spPr>
          <a:xfrm>
            <a:off x="4069080" y="3200400"/>
            <a:ext cx="3429000"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3310128"/>
            <a:ext cx="3017520" cy="1234440"/>
          </a:xfrm>
          <a:prstGeom prst="rect">
            <a:avLst/>
          </a:prstGeom>
          <a:noFill/>
        </p:spPr>
        <p:txBody>
          <a:bodyPr wrap="square" anchor="t" lIns="45720" rIns="45720" tIns="27432" bIns="27432">
            <a:spAutoFit/>
          </a:bodyPr>
          <a:lstStyle/>
          <a:p>
            <a:pPr algn="l">
              <a:lnSpc>
                <a:spcPct val="100000"/>
              </a:lnSpc>
            </a:pPr>
            <a:r>
              <a:rPr sz="2200" b="1" i="0">
                <a:solidFill>
                  <a:srgbClr val="2A56B5"/>
                </a:solidFill>
                <a:latin typeface="Century Gothic"/>
              </a:rPr>
              <a:t>☐  </a:t>
            </a:r>
          </a:p>
          <a:p>
            <a:pPr algn="l">
              <a:lnSpc>
                <a:spcPct val="100000"/>
              </a:lnSpc>
            </a:pPr>
            <a:r>
              <a:rPr sz="1700" b="1" i="0">
                <a:solidFill>
                  <a:srgbClr val="1E2A32"/>
                </a:solidFill>
                <a:latin typeface="Century Gothic"/>
              </a:rPr>
              <a:t>It is an idea, not advice.</a:t>
            </a:r>
          </a:p>
        </p:txBody>
      </p:sp>
      <p:sp>
        <p:nvSpPr>
          <p:cNvPr id="17" name="Rounded Rectangle 16"/>
          <p:cNvSpPr/>
          <p:nvPr/>
        </p:nvSpPr>
        <p:spPr>
          <a:xfrm>
            <a:off x="7726679" y="1600200"/>
            <a:ext cx="4005072" cy="301752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1737360"/>
            <a:ext cx="3566160" cy="320040"/>
          </a:xfrm>
          <a:prstGeom prst="rect">
            <a:avLst/>
          </a:prstGeom>
          <a:noFill/>
        </p:spPr>
        <p:txBody>
          <a:bodyPr wrap="square" anchor="t" lIns="45720" rIns="45720" tIns="27432" bIns="27432">
            <a:spAutoFit/>
          </a:bodyPr>
          <a:lstStyle/>
          <a:p>
            <a:pPr algn="l">
              <a:lnSpc>
                <a:spcPct val="100000"/>
              </a:lnSpc>
            </a:pPr>
            <a:r>
              <a:rPr sz="1400" b="1" i="0">
                <a:solidFill>
                  <a:srgbClr val="B98100"/>
                </a:solidFill>
                <a:latin typeface="Century Gothic"/>
              </a:rPr>
              <a:t>OUR CANDIDATES</a:t>
            </a:r>
          </a:p>
        </p:txBody>
      </p:sp>
      <p:sp>
        <p:nvSpPr>
          <p:cNvPr id="19" name="TextBox 18"/>
          <p:cNvSpPr txBox="1"/>
          <p:nvPr/>
        </p:nvSpPr>
        <p:spPr>
          <a:xfrm>
            <a:off x="8001000" y="2148840"/>
            <a:ext cx="3566160" cy="2377440"/>
          </a:xfrm>
          <a:prstGeom prst="rect">
            <a:avLst/>
          </a:prstGeom>
          <a:noFill/>
        </p:spPr>
        <p:txBody>
          <a:bodyPr wrap="square" anchor="t" lIns="45720" rIns="45720" tIns="27432" bIns="27432">
            <a:spAutoFit/>
          </a:bodyPr>
          <a:lstStyle/>
          <a:p>
            <a:pPr algn="l">
              <a:lnSpc>
                <a:spcPct val="115000"/>
              </a:lnSpc>
            </a:pPr>
            <a:r>
              <a:rPr sz="1600" b="0" i="0">
                <a:solidFill>
                  <a:srgbClr val="1E2A32"/>
                </a:solidFill>
                <a:latin typeface="Century Gothic"/>
              </a:rPr>
              <a:t>Charted on the board, word for word.</a:t>
            </a:r>
          </a:p>
          <a:p>
            <a:pPr algn="l">
              <a:lnSpc>
                <a:spcPct val="115000"/>
              </a:lnSpc>
            </a:pPr>
            <a:r>
              <a:rPr sz="1600" b="0" i="0">
                <a:solidFill>
                  <a:srgbClr val="1E2A32"/>
                </a:solidFill>
                <a:latin typeface="Century Gothic"/>
              </a:rPr>
              <a:t>Tested out loud.</a:t>
            </a:r>
          </a:p>
          <a:p>
            <a:pPr algn="l">
              <a:lnSpc>
                <a:spcPct val="115000"/>
              </a:lnSpc>
            </a:pPr>
            <a:r>
              <a:rPr sz="1600" b="1" i="0">
                <a:solidFill>
                  <a:srgbClr val="1E2A32"/>
                </a:solidFill>
                <a:latin typeface="Century Gothic"/>
              </a:rPr>
              <a:t>At least two stay up for Course Mojo.</a:t>
            </a:r>
          </a:p>
        </p:txBody>
      </p:sp>
      <p:sp>
        <p:nvSpPr>
          <p:cNvPr id="20" name="Rounded Rectangle 19"/>
          <p:cNvSpPr/>
          <p:nvPr/>
        </p:nvSpPr>
        <p:spPr>
          <a:xfrm>
            <a:off x="457200" y="4892040"/>
            <a:ext cx="11274552" cy="128016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92040"/>
            <a:ext cx="10698480" cy="1280160"/>
          </a:xfrm>
          <a:prstGeom prst="rect">
            <a:avLst/>
          </a:prstGeom>
          <a:noFill/>
        </p:spPr>
        <p:txBody>
          <a:bodyPr wrap="square" anchor="ctr" lIns="45720" rIns="45720" tIns="27432" bIns="27432">
            <a:spAutoFit/>
          </a:bodyPr>
          <a:lstStyle/>
          <a:p>
            <a:pPr algn="l">
              <a:lnSpc>
                <a:spcPct val="100000"/>
              </a:lnSpc>
            </a:pPr>
            <a:r>
              <a:rPr sz="2200" b="1" i="0">
                <a:solidFill>
                  <a:srgbClr val="FFFFFF"/>
                </a:solidFill>
                <a:latin typeface="Century Gothic"/>
              </a:rPr>
              <a:t>That sounds nice, but can the text actually prove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9</a:t>
            </a:r>
          </a:p>
        </p:txBody>
      </p:sp>
      <p:sp>
        <p:nvSpPr>
          <p:cNvPr id="3" name="Oval 2"/>
          <p:cNvSpPr/>
          <p:nvPr/>
        </p:nvSpPr>
        <p:spPr>
          <a:xfrm>
            <a:off x="457200" y="566928"/>
            <a:ext cx="566928" cy="566928"/>
          </a:xfrm>
          <a:prstGeom prst="ellipse">
            <a:avLst/>
          </a:prstGeom>
          <a:solidFill>
            <a:srgbClr val="FFFFFF"/>
          </a:solidFill>
          <a:ln w="38100">
            <a:solidFill>
              <a:srgbClr val="007A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007A73"/>
                </a:solidFill>
                <a:latin typeface="Century Gothic"/>
              </a:rPr>
              <a:t>03</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Closing the Play · Choice Board</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You have finished the play. Choose ONE task. 10 minutes.</a:t>
            </a:r>
          </a:p>
        </p:txBody>
      </p:sp>
      <p:sp>
        <p:nvSpPr>
          <p:cNvPr id="7" name="Rounded Rectangle 6"/>
          <p:cNvSpPr/>
          <p:nvPr/>
        </p:nvSpPr>
        <p:spPr>
          <a:xfrm>
            <a:off x="8668512" y="566928"/>
            <a:ext cx="3063240" cy="347472"/>
          </a:xfrm>
          <a:prstGeom prst="roundRect">
            <a:avLst>
              <a:gd name="adj" fmla="val 8000"/>
            </a:avLst>
          </a:prstGeom>
          <a:solidFill>
            <a:srgbClr val="00A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3 · BOX 03</a:t>
            </a:r>
          </a:p>
        </p:txBody>
      </p:sp>
      <p:sp>
        <p:nvSpPr>
          <p:cNvPr id="9" name="Rounded Rectangle 8"/>
          <p:cNvSpPr/>
          <p:nvPr/>
        </p:nvSpPr>
        <p:spPr>
          <a:xfrm>
            <a:off x="457200" y="160020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0992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1  </a:t>
            </a:r>
            <a:r>
              <a:rPr sz="1800" b="1" i="0">
                <a:solidFill>
                  <a:srgbClr val="1E2A32"/>
                </a:solidFill>
                <a:latin typeface="Century Gothic"/>
              </a:rPr>
              <a:t>Found Poem</a:t>
            </a:r>
          </a:p>
          <a:p>
            <a:pPr algn="l">
              <a:lnSpc>
                <a:spcPct val="105000"/>
              </a:lnSpc>
            </a:pPr>
            <a:r>
              <a:rPr sz="1400" b="0" i="0">
                <a:solidFill>
                  <a:srgbClr val="1E2A32"/>
                </a:solidFill>
                <a:latin typeface="Century Gothic"/>
              </a:rPr>
              <a:t>6–10 exact lines arranged to capture the contrast</a:t>
            </a:r>
          </a:p>
        </p:txBody>
      </p:sp>
      <p:sp>
        <p:nvSpPr>
          <p:cNvPr id="11" name="Rounded Rectangle 10"/>
          <p:cNvSpPr/>
          <p:nvPr/>
        </p:nvSpPr>
        <p:spPr>
          <a:xfrm>
            <a:off x="4251960" y="160020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70992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2  </a:t>
            </a:r>
            <a:r>
              <a:rPr sz="1800" b="1" i="0">
                <a:solidFill>
                  <a:srgbClr val="1E2A32"/>
                </a:solidFill>
                <a:latin typeface="Century Gothic"/>
              </a:rPr>
              <a:t>Tone Map</a:t>
            </a:r>
          </a:p>
          <a:p>
            <a:pPr algn="l">
              <a:lnSpc>
                <a:spcPct val="105000"/>
              </a:lnSpc>
            </a:pPr>
            <a:r>
              <a:rPr sz="1400" b="0" i="0">
                <a:solidFill>
                  <a:srgbClr val="1E2A32"/>
                </a:solidFill>
                <a:latin typeface="Century Gothic"/>
              </a:rPr>
              <a:t>hope rising and falling, turning points labeled with quote + page</a:t>
            </a:r>
          </a:p>
        </p:txBody>
      </p:sp>
      <p:sp>
        <p:nvSpPr>
          <p:cNvPr id="13" name="Rounded Rectangle 12"/>
          <p:cNvSpPr/>
          <p:nvPr/>
        </p:nvSpPr>
        <p:spPr>
          <a:xfrm>
            <a:off x="8046720" y="160020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70992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3  </a:t>
            </a:r>
            <a:r>
              <a:rPr sz="1800" b="1" i="0">
                <a:solidFill>
                  <a:srgbClr val="1E2A32"/>
                </a:solidFill>
                <a:latin typeface="Century Gothic"/>
              </a:rPr>
              <a:t>Six-Word Memoirs</a:t>
            </a:r>
          </a:p>
          <a:p>
            <a:pPr algn="l">
              <a:lnSpc>
                <a:spcPct val="105000"/>
              </a:lnSpc>
            </a:pPr>
            <a:r>
              <a:rPr sz="1400" b="0" i="0">
                <a:solidFill>
                  <a:srgbClr val="1E2A32"/>
                </a:solidFill>
                <a:latin typeface="Century Gothic"/>
              </a:rPr>
              <a:t>Anne · Mr. Frank · the audience, each with its line</a:t>
            </a:r>
          </a:p>
        </p:txBody>
      </p:sp>
      <p:sp>
        <p:nvSpPr>
          <p:cNvPr id="15" name="Rounded Rectangle 14"/>
          <p:cNvSpPr/>
          <p:nvPr/>
        </p:nvSpPr>
        <p:spPr>
          <a:xfrm>
            <a:off x="457200" y="329184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40156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4  </a:t>
            </a:r>
            <a:r>
              <a:rPr sz="1800" b="1" i="0">
                <a:solidFill>
                  <a:srgbClr val="1E2A32"/>
                </a:solidFill>
                <a:latin typeface="Century Gothic"/>
              </a:rPr>
              <a:t>Letter Never Sent</a:t>
            </a:r>
          </a:p>
          <a:p>
            <a:pPr algn="l">
              <a:lnSpc>
                <a:spcPct val="105000"/>
              </a:lnSpc>
            </a:pPr>
            <a:r>
              <a:rPr sz="1400" b="0" i="0">
                <a:solidFill>
                  <a:srgbClr val="1E2A32"/>
                </a:solidFill>
                <a:latin typeface="Century Gothic"/>
              </a:rPr>
              <a:t>from Peter or Margot, grounded in one cited line</a:t>
            </a:r>
          </a:p>
        </p:txBody>
      </p:sp>
      <p:sp>
        <p:nvSpPr>
          <p:cNvPr id="17" name="Rounded Rectangle 16"/>
          <p:cNvSpPr/>
          <p:nvPr/>
        </p:nvSpPr>
        <p:spPr>
          <a:xfrm>
            <a:off x="4251960" y="329184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340156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5  </a:t>
            </a:r>
            <a:r>
              <a:rPr sz="1800" b="1" i="0">
                <a:solidFill>
                  <a:srgbClr val="1E2A32"/>
                </a:solidFill>
                <a:latin typeface="Century Gothic"/>
              </a:rPr>
              <a:t>Director’s Note</a:t>
            </a:r>
          </a:p>
          <a:p>
            <a:pPr algn="l">
              <a:lnSpc>
                <a:spcPct val="105000"/>
              </a:lnSpc>
            </a:pPr>
            <a:r>
              <a:rPr sz="1400" b="0" i="0">
                <a:solidFill>
                  <a:srgbClr val="1E2A32"/>
                </a:solidFill>
                <a:latin typeface="Century Gothic"/>
              </a:rPr>
              <a:t>lighting, sound, audience focus for the final voice-over</a:t>
            </a:r>
          </a:p>
        </p:txBody>
      </p:sp>
      <p:sp>
        <p:nvSpPr>
          <p:cNvPr id="19" name="Rounded Rectangle 18"/>
          <p:cNvSpPr/>
          <p:nvPr/>
        </p:nvSpPr>
        <p:spPr>
          <a:xfrm>
            <a:off x="8046720" y="3291840"/>
            <a:ext cx="3657600" cy="1536192"/>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3401568"/>
            <a:ext cx="3337560" cy="1371600"/>
          </a:xfrm>
          <a:prstGeom prst="rect">
            <a:avLst/>
          </a:prstGeom>
          <a:noFill/>
        </p:spPr>
        <p:txBody>
          <a:bodyPr wrap="square" anchor="t" lIns="45720" rIns="45720" tIns="27432" bIns="27432">
            <a:spAutoFit/>
          </a:bodyPr>
          <a:lstStyle/>
          <a:p>
            <a:pPr algn="l">
              <a:lnSpc>
                <a:spcPct val="105000"/>
              </a:lnSpc>
            </a:pPr>
            <a:r>
              <a:rPr sz="2000" b="1" i="0">
                <a:solidFill>
                  <a:srgbClr val="007A73"/>
                </a:solidFill>
                <a:latin typeface="Century Gothic"/>
              </a:rPr>
              <a:t>6  </a:t>
            </a:r>
            <a:r>
              <a:rPr sz="1800" b="1" i="0">
                <a:solidFill>
                  <a:srgbClr val="1E2A32"/>
                </a:solidFill>
                <a:latin typeface="Century Gothic"/>
              </a:rPr>
              <a:t>Headline + Lede</a:t>
            </a:r>
          </a:p>
          <a:p>
            <a:pPr algn="l">
              <a:lnSpc>
                <a:spcPct val="105000"/>
              </a:lnSpc>
            </a:pPr>
            <a:r>
              <a:rPr sz="1400" b="0" i="0">
                <a:solidFill>
                  <a:srgbClr val="1E2A32"/>
                </a:solidFill>
                <a:latin typeface="Century Gothic"/>
              </a:rPr>
              <a:t>a 1947 review: headline + two sentences, one quoted line</a:t>
            </a:r>
          </a:p>
        </p:txBody>
      </p:sp>
      <p:sp>
        <p:nvSpPr>
          <p:cNvPr id="21" name="Rounded Rectangle 20"/>
          <p:cNvSpPr/>
          <p:nvPr/>
        </p:nvSpPr>
        <p:spPr>
          <a:xfrm>
            <a:off x="457200" y="5120640"/>
            <a:ext cx="11274552" cy="1051560"/>
          </a:xfrm>
          <a:prstGeom prst="roundRect">
            <a:avLst>
              <a:gd name="adj" fmla="val 8000"/>
            </a:avLst>
          </a:prstGeom>
          <a:solidFill>
            <a:srgbClr val="FF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120640"/>
            <a:ext cx="10698480" cy="1051560"/>
          </a:xfrm>
          <a:prstGeom prst="rect">
            <a:avLst/>
          </a:prstGeom>
          <a:noFill/>
        </p:spPr>
        <p:txBody>
          <a:bodyPr wrap="square" anchor="ctr" lIns="45720" rIns="45720" tIns="27432" bIns="27432">
            <a:spAutoFit/>
          </a:bodyPr>
          <a:lstStyle/>
          <a:p>
            <a:pPr algn="l">
              <a:lnSpc>
                <a:spcPct val="100000"/>
              </a:lnSpc>
            </a:pPr>
            <a:r>
              <a:rPr sz="2100" b="1" i="0">
                <a:solidFill>
                  <a:srgbClr val="FFFFFF"/>
                </a:solidFill>
                <a:latin typeface="Century Gothic"/>
              </a:rPr>
              <a:t>EVERY OPTION: at least one exact line + page number.  </a:t>
            </a:r>
            <a:r>
              <a:rPr sz="2100" b="0" i="0">
                <a:solidFill>
                  <a:srgbClr val="FFFFFF"/>
                </a:solidFill>
                <a:latin typeface="Century Gothic"/>
              </a:rPr>
              <a:t>Start with your Day 2 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10</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04</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Course Mojo · Lesson 6</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Part A with your partner → Part B discussion → three reads → write</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4 · BOX 04</a:t>
            </a:r>
          </a:p>
        </p:txBody>
      </p:sp>
      <p:sp>
        <p:nvSpPr>
          <p:cNvPr id="9" name="Rounded Rectangle 8"/>
          <p:cNvSpPr/>
          <p:nvPr/>
        </p:nvSpPr>
        <p:spPr>
          <a:xfrm>
            <a:off x="457200" y="1600200"/>
            <a:ext cx="6949440" cy="4572000"/>
          </a:xfrm>
          <a:prstGeom prst="roundRect">
            <a:avLst>
              <a:gd name="adj" fmla="val 8000"/>
            </a:avLst>
          </a:prstGeom>
          <a:solidFill>
            <a:srgbClr val="E8D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6400800" cy="320040"/>
          </a:xfrm>
          <a:prstGeom prst="rect">
            <a:avLst/>
          </a:prstGeom>
          <a:noFill/>
        </p:spPr>
        <p:txBody>
          <a:bodyPr wrap="square" anchor="t" lIns="45720" rIns="45720" tIns="27432" bIns="27432">
            <a:spAutoFit/>
          </a:bodyPr>
          <a:lstStyle/>
          <a:p>
            <a:pPr algn="l">
              <a:lnSpc>
                <a:spcPct val="100000"/>
              </a:lnSpc>
            </a:pPr>
            <a:r>
              <a:rPr sz="1300" b="1" i="0">
                <a:solidFill>
                  <a:srgbClr val="6746C7"/>
                </a:solidFill>
                <a:latin typeface="Century Gothic"/>
              </a:rPr>
              <a:t>TARGET TASK</a:t>
            </a:r>
          </a:p>
        </p:txBody>
      </p:sp>
      <p:sp>
        <p:nvSpPr>
          <p:cNvPr id="11" name="TextBox 10"/>
          <p:cNvSpPr txBox="1"/>
          <p:nvPr/>
        </p:nvSpPr>
        <p:spPr>
          <a:xfrm>
            <a:off x="777240" y="2103120"/>
            <a:ext cx="6400800" cy="3977639"/>
          </a:xfrm>
          <a:prstGeom prst="rect">
            <a:avLst/>
          </a:prstGeom>
          <a:noFill/>
        </p:spPr>
        <p:txBody>
          <a:bodyPr wrap="square" anchor="t" lIns="45720" rIns="45720" tIns="27432" bIns="27432">
            <a:spAutoFit/>
          </a:bodyPr>
          <a:lstStyle/>
          <a:p>
            <a:pPr algn="l">
              <a:lnSpc>
                <a:spcPct val="108000"/>
              </a:lnSpc>
            </a:pPr>
            <a:r>
              <a:rPr sz="1900" b="0" i="0">
                <a:solidFill>
                  <a:srgbClr val="1E2A32"/>
                </a:solidFill>
                <a:latin typeface="Century Gothic"/>
              </a:rPr>
              <a:t>At the very end of the play, we hear Anne say in a voice-over, “In spite of everything, I still believe that people are really good at heart” (p. 778). What is Anne’s tone in these lines? How does the contrast between her tone and the mood of the scene develop the theme of the play? Provide specific evidence from the text to support your answer.</a:t>
            </a:r>
          </a:p>
        </p:txBody>
      </p:sp>
      <p:sp>
        <p:nvSpPr>
          <p:cNvPr id="12" name="Rounded Rectangle 11"/>
          <p:cNvSpPr/>
          <p:nvPr/>
        </p:nvSpPr>
        <p:spPr>
          <a:xfrm>
            <a:off x="7635240" y="1600200"/>
            <a:ext cx="4096512" cy="1417320"/>
          </a:xfrm>
          <a:prstGeom prst="roundRect">
            <a:avLst>
              <a:gd name="adj" fmla="val 8000"/>
            </a:avLst>
          </a:prstGeom>
          <a:solidFill>
            <a:srgbClr val="C8F1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691640"/>
            <a:ext cx="3703320" cy="1280160"/>
          </a:xfrm>
          <a:prstGeom prst="rect">
            <a:avLst/>
          </a:prstGeom>
          <a:noFill/>
        </p:spPr>
        <p:txBody>
          <a:bodyPr wrap="square" anchor="t" lIns="45720" rIns="45720" tIns="27432" bIns="27432">
            <a:spAutoFit/>
          </a:bodyPr>
          <a:lstStyle/>
          <a:p>
            <a:pPr algn="l">
              <a:lnSpc>
                <a:spcPct val="105000"/>
              </a:lnSpc>
            </a:pPr>
            <a:r>
              <a:rPr sz="1300" b="1" i="0">
                <a:solidFill>
                  <a:srgbClr val="007A73"/>
                </a:solidFill>
                <a:latin typeface="Century Gothic"/>
              </a:rPr>
              <a:t>PART A · PARTNERS</a:t>
            </a:r>
          </a:p>
          <a:p>
            <a:pPr algn="l">
              <a:lnSpc>
                <a:spcPct val="105000"/>
              </a:lnSpc>
            </a:pPr>
            <a:r>
              <a:rPr sz="1500" b="0" i="0">
                <a:solidFill>
                  <a:srgbClr val="1E2A32"/>
                </a:solidFill>
                <a:latin typeface="Century Gothic"/>
              </a:rPr>
              <a:t>Select the BEST evidence from your Day 2 map. Don’t search again.</a:t>
            </a:r>
          </a:p>
        </p:txBody>
      </p:sp>
      <p:sp>
        <p:nvSpPr>
          <p:cNvPr id="14" name="Rounded Rectangle 13"/>
          <p:cNvSpPr/>
          <p:nvPr/>
        </p:nvSpPr>
        <p:spPr>
          <a:xfrm>
            <a:off x="7635240" y="3154680"/>
            <a:ext cx="4096512" cy="1417320"/>
          </a:xfrm>
          <a:prstGeom prst="roundRect">
            <a:avLst>
              <a:gd name="adj" fmla="val 8000"/>
            </a:avLst>
          </a:prstGeom>
          <a:solidFill>
            <a:srgbClr val="DCE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246120"/>
            <a:ext cx="3703320" cy="1280160"/>
          </a:xfrm>
          <a:prstGeom prst="rect">
            <a:avLst/>
          </a:prstGeom>
          <a:noFill/>
        </p:spPr>
        <p:txBody>
          <a:bodyPr wrap="square" anchor="t" lIns="45720" rIns="45720" tIns="27432" bIns="27432">
            <a:spAutoFit/>
          </a:bodyPr>
          <a:lstStyle/>
          <a:p>
            <a:pPr algn="l">
              <a:lnSpc>
                <a:spcPct val="105000"/>
              </a:lnSpc>
            </a:pPr>
            <a:r>
              <a:rPr sz="1300" b="1" i="0">
                <a:solidFill>
                  <a:srgbClr val="2A56B5"/>
                </a:solidFill>
                <a:latin typeface="Century Gothic"/>
              </a:rPr>
              <a:t>PART B · DISCUSS</a:t>
            </a:r>
          </a:p>
          <a:p>
            <a:pPr algn="l">
              <a:lnSpc>
                <a:spcPct val="105000"/>
              </a:lnSpc>
            </a:pPr>
            <a:r>
              <a:rPr sz="1500" b="0" i="0">
                <a:solidFill>
                  <a:srgbClr val="1E2A32"/>
                </a:solidFill>
                <a:latin typeface="Century Gothic"/>
              </a:rPr>
              <a:t>Tone word · mood + what we know · an arguable theme</a:t>
            </a:r>
          </a:p>
        </p:txBody>
      </p:sp>
      <p:sp>
        <p:nvSpPr>
          <p:cNvPr id="16" name="Rounded Rectangle 15"/>
          <p:cNvSpPr/>
          <p:nvPr/>
        </p:nvSpPr>
        <p:spPr>
          <a:xfrm>
            <a:off x="7635240" y="4709160"/>
            <a:ext cx="4096512" cy="141732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800600"/>
            <a:ext cx="3703320" cy="1280160"/>
          </a:xfrm>
          <a:prstGeom prst="rect">
            <a:avLst/>
          </a:prstGeom>
          <a:noFill/>
        </p:spPr>
        <p:txBody>
          <a:bodyPr wrap="square" anchor="t" lIns="45720" rIns="45720" tIns="27432" bIns="27432">
            <a:spAutoFit/>
          </a:bodyPr>
          <a:lstStyle/>
          <a:p>
            <a:pPr algn="l">
              <a:lnSpc>
                <a:spcPct val="105000"/>
              </a:lnSpc>
            </a:pPr>
            <a:r>
              <a:rPr sz="1300" b="1" i="0">
                <a:solidFill>
                  <a:srgbClr val="B98100"/>
                </a:solidFill>
                <a:latin typeface="Century Gothic"/>
              </a:rPr>
              <a:t>3 READS</a:t>
            </a:r>
          </a:p>
          <a:p>
            <a:pPr algn="l">
              <a:lnSpc>
                <a:spcPct val="105000"/>
              </a:lnSpc>
            </a:pPr>
            <a:r>
              <a:rPr sz="1500" b="0" i="0">
                <a:solidFill>
                  <a:srgbClr val="1E2A32"/>
                </a:solidFill>
                <a:latin typeface="Century Gothic"/>
              </a:rPr>
              <a:t>1 together · 2 what is it asking? · 3 what do I need?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11</a:t>
            </a:r>
          </a:p>
        </p:txBody>
      </p:sp>
      <p:sp>
        <p:nvSpPr>
          <p:cNvPr id="3" name="Oval 2"/>
          <p:cNvSpPr/>
          <p:nvPr/>
        </p:nvSpPr>
        <p:spPr>
          <a:xfrm>
            <a:off x="457200" y="566928"/>
            <a:ext cx="566928" cy="566928"/>
          </a:xfrm>
          <a:prstGeom prst="ellipse">
            <a:avLst/>
          </a:prstGeom>
          <a:solidFill>
            <a:srgbClr val="FFFFFF"/>
          </a:solidFill>
          <a:ln w="38100">
            <a:solidFill>
              <a:srgbClr val="6746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6746C7"/>
                </a:solidFill>
                <a:latin typeface="Century Gothic"/>
              </a:rPr>
              <a:t>04</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On Your Own · Target Task</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Silent. Independent. Focused literary analysis, not a five-paragraph essay.</a:t>
            </a:r>
          </a:p>
        </p:txBody>
      </p:sp>
      <p:sp>
        <p:nvSpPr>
          <p:cNvPr id="7" name="Rounded Rectangle 6"/>
          <p:cNvSpPr/>
          <p:nvPr/>
        </p:nvSpPr>
        <p:spPr>
          <a:xfrm>
            <a:off x="8668512" y="566928"/>
            <a:ext cx="3063240" cy="347472"/>
          </a:xfrm>
          <a:prstGeom prst="roundRect">
            <a:avLst>
              <a:gd name="adj" fmla="val 8000"/>
            </a:avLst>
          </a:prstGeom>
          <a:solidFill>
            <a:srgbClr val="8B6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5 · RESPONSE</a:t>
            </a:r>
          </a:p>
        </p:txBody>
      </p:sp>
      <p:sp>
        <p:nvSpPr>
          <p:cNvPr id="9" name="Rounded Rectangle 8"/>
          <p:cNvSpPr/>
          <p:nvPr/>
        </p:nvSpPr>
        <p:spPr>
          <a:xfrm>
            <a:off x="457200" y="1600200"/>
            <a:ext cx="6400800" cy="3246120"/>
          </a:xfrm>
          <a:prstGeom prst="roundRect">
            <a:avLst>
              <a:gd name="adj" fmla="val 8000"/>
            </a:avLst>
          </a:prstGeom>
          <a:solidFill>
            <a:srgbClr val="FFFFFF"/>
          </a:solidFill>
          <a:ln w="25400">
            <a:solidFill>
              <a:srgbClr val="8B6B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5943600" cy="320040"/>
          </a:xfrm>
          <a:prstGeom prst="rect">
            <a:avLst/>
          </a:prstGeom>
          <a:noFill/>
        </p:spPr>
        <p:txBody>
          <a:bodyPr wrap="square" anchor="t" lIns="45720" rIns="45720" tIns="27432" bIns="27432">
            <a:spAutoFit/>
          </a:bodyPr>
          <a:lstStyle/>
          <a:p>
            <a:pPr algn="l">
              <a:lnSpc>
                <a:spcPct val="100000"/>
              </a:lnSpc>
            </a:pPr>
            <a:r>
              <a:rPr sz="1300" b="1" i="0">
                <a:solidFill>
                  <a:srgbClr val="6746C7"/>
                </a:solidFill>
                <a:latin typeface="Century Gothic"/>
              </a:rPr>
              <a:t>MY RESPONSE MUST HAVE</a:t>
            </a:r>
          </a:p>
        </p:txBody>
      </p:sp>
      <p:sp>
        <p:nvSpPr>
          <p:cNvPr id="11" name="TextBox 10"/>
          <p:cNvSpPr txBox="1"/>
          <p:nvPr/>
        </p:nvSpPr>
        <p:spPr>
          <a:xfrm>
            <a:off x="731520" y="2057400"/>
            <a:ext cx="5943600" cy="2743200"/>
          </a:xfrm>
          <a:prstGeom prst="rect">
            <a:avLst/>
          </a:prstGeom>
          <a:noFill/>
        </p:spPr>
        <p:txBody>
          <a:bodyPr wrap="square" anchor="t" lIns="45720" rIns="45720" tIns="27432" bIns="27432">
            <a:spAutoFit/>
          </a:bodyPr>
          <a:lstStyle/>
          <a:p>
            <a:pPr algn="l">
              <a:lnSpc>
                <a:spcPct val="120000"/>
              </a:lnSpc>
            </a:pPr>
            <a:r>
              <a:rPr sz="1700" b="0" i="0">
                <a:solidFill>
                  <a:srgbClr val="1E2A32"/>
                </a:solidFill>
                <a:latin typeface="Century Gothic"/>
              </a:rPr>
              <a:t>☐  A tone word I can defend + Anne’s diction</a:t>
            </a:r>
          </a:p>
          <a:p>
            <a:pPr algn="l">
              <a:lnSpc>
                <a:spcPct val="120000"/>
              </a:lnSpc>
            </a:pPr>
            <a:r>
              <a:rPr sz="1700" b="0" i="0">
                <a:solidFill>
                  <a:srgbClr val="1E2A32"/>
                </a:solidFill>
                <a:latin typeface="Century Gothic"/>
              </a:rPr>
              <a:t>☐  The mood + what the audience knows</a:t>
            </a:r>
          </a:p>
          <a:p>
            <a:pPr algn="l">
              <a:lnSpc>
                <a:spcPct val="120000"/>
              </a:lnSpc>
            </a:pPr>
            <a:r>
              <a:rPr sz="1700" b="0" i="0">
                <a:solidFill>
                  <a:srgbClr val="1E2A32"/>
                </a:solidFill>
                <a:latin typeface="Century Gothic"/>
              </a:rPr>
              <a:t>☐  An arguable theme</a:t>
            </a:r>
          </a:p>
          <a:p>
            <a:pPr algn="l">
              <a:lnSpc>
                <a:spcPct val="120000"/>
              </a:lnSpc>
            </a:pPr>
            <a:r>
              <a:rPr sz="1700" b="0" i="0">
                <a:solidFill>
                  <a:srgbClr val="1E2A32"/>
                </a:solidFill>
                <a:latin typeface="Century Gothic"/>
              </a:rPr>
              <a:t>☐  </a:t>
            </a:r>
            <a:r>
              <a:rPr sz="1700" b="1" i="0">
                <a:solidFill>
                  <a:srgbClr val="1E2A32"/>
                </a:solidFill>
                <a:latin typeface="Century Gothic"/>
              </a:rPr>
              <a:t>How</a:t>
            </a:r>
            <a:r>
              <a:rPr sz="1700" b="0" i="0">
                <a:solidFill>
                  <a:srgbClr val="1E2A32"/>
                </a:solidFill>
                <a:latin typeface="Century Gothic"/>
              </a:rPr>
              <a:t> the contrast develops the theme</a:t>
            </a:r>
          </a:p>
          <a:p>
            <a:pPr algn="l">
              <a:lnSpc>
                <a:spcPct val="120000"/>
              </a:lnSpc>
            </a:pPr>
            <a:r>
              <a:rPr sz="1700" b="0" i="0">
                <a:solidFill>
                  <a:srgbClr val="1E2A32"/>
                </a:solidFill>
                <a:latin typeface="Century Gothic"/>
              </a:rPr>
              <a:t>☐  At least </a:t>
            </a:r>
            <a:r>
              <a:rPr sz="1700" b="1" i="0">
                <a:solidFill>
                  <a:srgbClr val="1E2A32"/>
                </a:solidFill>
                <a:latin typeface="Century Gothic"/>
              </a:rPr>
              <a:t>two</a:t>
            </a:r>
            <a:r>
              <a:rPr sz="1700" b="0" i="0">
                <a:solidFill>
                  <a:srgbClr val="1E2A32"/>
                </a:solidFill>
                <a:latin typeface="Century Gothic"/>
              </a:rPr>
              <a:t> cited pieces of evidence</a:t>
            </a:r>
          </a:p>
        </p:txBody>
      </p:sp>
      <p:sp>
        <p:nvSpPr>
          <p:cNvPr id="12" name="Rounded Rectangle 11"/>
          <p:cNvSpPr/>
          <p:nvPr/>
        </p:nvSpPr>
        <p:spPr>
          <a:xfrm>
            <a:off x="7086600" y="1600200"/>
            <a:ext cx="4645152" cy="3246120"/>
          </a:xfrm>
          <a:prstGeom prst="roundRect">
            <a:avLst>
              <a:gd name="adj" fmla="val 8000"/>
            </a:avLst>
          </a:prstGeom>
          <a:solidFill>
            <a:srgbClr val="FFF1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0920" y="1691640"/>
            <a:ext cx="4206240" cy="320040"/>
          </a:xfrm>
          <a:prstGeom prst="rect">
            <a:avLst/>
          </a:prstGeom>
          <a:noFill/>
        </p:spPr>
        <p:txBody>
          <a:bodyPr wrap="square" anchor="t" lIns="45720" rIns="45720" tIns="27432" bIns="27432">
            <a:spAutoFit/>
          </a:bodyPr>
          <a:lstStyle/>
          <a:p>
            <a:pPr algn="l">
              <a:lnSpc>
                <a:spcPct val="100000"/>
              </a:lnSpc>
            </a:pPr>
            <a:r>
              <a:rPr sz="1300" b="1" i="0">
                <a:solidFill>
                  <a:srgbClr val="B98100"/>
                </a:solidFill>
                <a:latin typeface="Century Gothic"/>
              </a:rPr>
              <a:t>MILESTONES CHECK</a:t>
            </a:r>
          </a:p>
        </p:txBody>
      </p:sp>
      <p:sp>
        <p:nvSpPr>
          <p:cNvPr id="14" name="TextBox 13"/>
          <p:cNvSpPr txBox="1"/>
          <p:nvPr/>
        </p:nvSpPr>
        <p:spPr>
          <a:xfrm>
            <a:off x="7360920" y="2057400"/>
            <a:ext cx="4206240" cy="2743200"/>
          </a:xfrm>
          <a:prstGeom prst="rect">
            <a:avLst/>
          </a:prstGeom>
          <a:noFill/>
        </p:spPr>
        <p:txBody>
          <a:bodyPr wrap="square" anchor="t" lIns="45720" rIns="45720" tIns="27432" bIns="27432">
            <a:spAutoFit/>
          </a:bodyPr>
          <a:lstStyle/>
          <a:p>
            <a:pPr algn="l">
              <a:lnSpc>
                <a:spcPct val="120000"/>
              </a:lnSpc>
            </a:pPr>
            <a:r>
              <a:rPr sz="1700" b="1" i="0">
                <a:solidFill>
                  <a:srgbClr val="1E2A32"/>
                </a:solidFill>
                <a:latin typeface="Century Gothic"/>
              </a:rPr>
              <a:t>Claim: </a:t>
            </a:r>
            <a:r>
              <a:rPr sz="1700" b="0" i="0">
                <a:solidFill>
                  <a:srgbClr val="1E2A32"/>
                </a:solidFill>
                <a:latin typeface="Century Gothic"/>
              </a:rPr>
              <a:t>Is my theme arguable?</a:t>
            </a:r>
          </a:p>
          <a:p>
            <a:pPr algn="l">
              <a:lnSpc>
                <a:spcPct val="120000"/>
              </a:lnSpc>
            </a:pPr>
            <a:r>
              <a:rPr sz="1700" b="1" i="0">
                <a:solidFill>
                  <a:srgbClr val="1E2A32"/>
                </a:solidFill>
                <a:latin typeface="Century Gothic"/>
              </a:rPr>
              <a:t>Evidence: </a:t>
            </a:r>
            <a:r>
              <a:rPr sz="1700" b="0" i="0">
                <a:solidFill>
                  <a:srgbClr val="1E2A32"/>
                </a:solidFill>
                <a:latin typeface="Century Gothic"/>
              </a:rPr>
              <a:t>Did I cite precise lines + pages?</a:t>
            </a:r>
          </a:p>
          <a:p>
            <a:pPr algn="l">
              <a:lnSpc>
                <a:spcPct val="120000"/>
              </a:lnSpc>
            </a:pPr>
            <a:r>
              <a:rPr sz="1700" b="1" i="0">
                <a:solidFill>
                  <a:srgbClr val="1E2A32"/>
                </a:solidFill>
                <a:latin typeface="Century Gothic"/>
              </a:rPr>
              <a:t>Reasoning: </a:t>
            </a:r>
            <a:r>
              <a:rPr sz="1700" b="0" i="0">
                <a:solidFill>
                  <a:srgbClr val="1E2A32"/>
                </a:solidFill>
                <a:latin typeface="Century Gothic"/>
              </a:rPr>
              <a:t>Did I explain how the contrast develops the theme?</a:t>
            </a:r>
          </a:p>
        </p:txBody>
      </p:sp>
      <p:sp>
        <p:nvSpPr>
          <p:cNvPr id="15" name="Rounded Rectangle 14"/>
          <p:cNvSpPr/>
          <p:nvPr/>
        </p:nvSpPr>
        <p:spPr>
          <a:xfrm>
            <a:off x="457200" y="5074920"/>
            <a:ext cx="11274552" cy="109728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074920"/>
            <a:ext cx="10698480" cy="1097280"/>
          </a:xfrm>
          <a:prstGeom prst="rect">
            <a:avLst/>
          </a:prstGeom>
          <a:noFill/>
        </p:spPr>
        <p:txBody>
          <a:bodyPr wrap="square" anchor="ctr" lIns="45720" rIns="45720" tIns="27432" bIns="27432">
            <a:spAutoFit/>
          </a:bodyPr>
          <a:lstStyle/>
          <a:p>
            <a:pPr algn="l">
              <a:lnSpc>
                <a:spcPct val="100000"/>
              </a:lnSpc>
            </a:pPr>
            <a:r>
              <a:rPr sz="2000" b="1" i="0">
                <a:solidFill>
                  <a:srgbClr val="FFFFFF"/>
                </a:solidFill>
                <a:latin typeface="Century Gothic"/>
              </a:rPr>
              <a:t>You told me what the line says. Now tell me how it develops your theme.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84280" y="6400800"/>
            <a:ext cx="457200" cy="274320"/>
          </a:xfrm>
          <a:prstGeom prst="rect">
            <a:avLst/>
          </a:prstGeom>
          <a:noFill/>
        </p:spPr>
        <p:txBody>
          <a:bodyPr wrap="square" anchor="t" lIns="45720" rIns="45720" tIns="27432" bIns="27432">
            <a:spAutoFit/>
          </a:bodyPr>
          <a:lstStyle/>
          <a:p>
            <a:pPr algn="r">
              <a:lnSpc>
                <a:spcPct val="100000"/>
              </a:lnSpc>
            </a:pPr>
            <a:r>
              <a:rPr sz="1000" b="0" i="0">
                <a:solidFill>
                  <a:srgbClr val="9AA6AD"/>
                </a:solidFill>
                <a:latin typeface="Century Gothic"/>
              </a:rPr>
              <a:t>12</a:t>
            </a:r>
          </a:p>
        </p:txBody>
      </p:sp>
      <p:sp>
        <p:nvSpPr>
          <p:cNvPr id="3" name="Oval 2"/>
          <p:cNvSpPr/>
          <p:nvPr/>
        </p:nvSpPr>
        <p:spPr>
          <a:xfrm>
            <a:off x="457200" y="566928"/>
            <a:ext cx="566928" cy="566928"/>
          </a:xfrm>
          <a:prstGeom prst="ellipse">
            <a:avLst/>
          </a:prstGeom>
          <a:solidFill>
            <a:srgbClr val="FFFFFF"/>
          </a:solidFill>
          <a:ln w="38100">
            <a:solidFill>
              <a:srgbClr val="DF44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66928"/>
            <a:ext cx="566928" cy="566928"/>
          </a:xfrm>
          <a:prstGeom prst="rect">
            <a:avLst/>
          </a:prstGeom>
          <a:noFill/>
        </p:spPr>
        <p:txBody>
          <a:bodyPr wrap="square" anchor="ctr" lIns="45720" rIns="45720" tIns="27432" bIns="27432">
            <a:spAutoFit/>
          </a:bodyPr>
          <a:lstStyle/>
          <a:p>
            <a:pPr algn="ctr">
              <a:lnSpc>
                <a:spcPct val="100000"/>
              </a:lnSpc>
            </a:pPr>
            <a:r>
              <a:rPr sz="1800" b="1" i="0">
                <a:solidFill>
                  <a:srgbClr val="DF442A"/>
                </a:solidFill>
                <a:latin typeface="Century Gothic"/>
              </a:rPr>
              <a:t>05</a:t>
            </a:r>
          </a:p>
        </p:txBody>
      </p:sp>
      <p:sp>
        <p:nvSpPr>
          <p:cNvPr id="5" name="TextBox 4"/>
          <p:cNvSpPr txBox="1"/>
          <p:nvPr/>
        </p:nvSpPr>
        <p:spPr>
          <a:xfrm>
            <a:off x="1188720" y="548640"/>
            <a:ext cx="7406640" cy="457200"/>
          </a:xfrm>
          <a:prstGeom prst="rect">
            <a:avLst/>
          </a:prstGeom>
          <a:noFill/>
        </p:spPr>
        <p:txBody>
          <a:bodyPr wrap="square" anchor="t" lIns="45720" rIns="45720" tIns="27432" bIns="27432">
            <a:spAutoFit/>
          </a:bodyPr>
          <a:lstStyle/>
          <a:p>
            <a:pPr algn="l">
              <a:lnSpc>
                <a:spcPct val="100000"/>
              </a:lnSpc>
            </a:pPr>
            <a:r>
              <a:rPr sz="2800" b="1" i="0">
                <a:solidFill>
                  <a:srgbClr val="1E2A32"/>
                </a:solidFill>
                <a:latin typeface="Century Gothic"/>
              </a:rPr>
              <a:t>Exit Ticket · On Your Own</a:t>
            </a:r>
          </a:p>
        </p:txBody>
      </p:sp>
      <p:sp>
        <p:nvSpPr>
          <p:cNvPr id="6" name="TextBox 5"/>
          <p:cNvSpPr txBox="1"/>
          <p:nvPr/>
        </p:nvSpPr>
        <p:spPr>
          <a:xfrm>
            <a:off x="1188720" y="1005840"/>
            <a:ext cx="9601200" cy="320040"/>
          </a:xfrm>
          <a:prstGeom prst="rect">
            <a:avLst/>
          </a:prstGeom>
          <a:noFill/>
        </p:spPr>
        <p:txBody>
          <a:bodyPr wrap="square" anchor="t" lIns="45720" rIns="45720" tIns="27432" bIns="27432">
            <a:spAutoFit/>
          </a:bodyPr>
          <a:lstStyle/>
          <a:p>
            <a:pPr algn="l">
              <a:lnSpc>
                <a:spcPct val="100000"/>
              </a:lnSpc>
            </a:pPr>
            <a:r>
              <a:rPr sz="1400" b="0" i="0">
                <a:solidFill>
                  <a:srgbClr val="5A6B75"/>
                </a:solidFill>
                <a:latin typeface="Century Gothic"/>
              </a:rPr>
              <a:t>Silent. Independent. Then we close the play.</a:t>
            </a:r>
          </a:p>
        </p:txBody>
      </p:sp>
      <p:sp>
        <p:nvSpPr>
          <p:cNvPr id="7" name="Rounded Rectangle 6"/>
          <p:cNvSpPr/>
          <p:nvPr/>
        </p:nvSpPr>
        <p:spPr>
          <a:xfrm>
            <a:off x="8668512" y="566928"/>
            <a:ext cx="3063240" cy="347472"/>
          </a:xfrm>
          <a:prstGeom prst="roundRect">
            <a:avLst>
              <a:gd name="adj" fmla="val 8000"/>
            </a:avLst>
          </a:prstGeom>
          <a:solidFill>
            <a:srgbClr val="FF6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68512" y="566928"/>
            <a:ext cx="3063240" cy="347472"/>
          </a:xfrm>
          <a:prstGeom prst="rect">
            <a:avLst/>
          </a:prstGeom>
          <a:noFill/>
        </p:spPr>
        <p:txBody>
          <a:bodyPr wrap="square" anchor="ctr" lIns="45720" rIns="45720" tIns="27432" bIns="27432">
            <a:spAutoFit/>
          </a:bodyPr>
          <a:lstStyle/>
          <a:p>
            <a:pPr algn="ctr">
              <a:lnSpc>
                <a:spcPct val="100000"/>
              </a:lnSpc>
            </a:pPr>
            <a:r>
              <a:rPr sz="1100" b="1" i="0">
                <a:solidFill>
                  <a:srgbClr val="FFFFFF"/>
                </a:solidFill>
                <a:latin typeface="Century Gothic"/>
              </a:rPr>
              <a:t>PACKET P. 5 · BOX 05</a:t>
            </a:r>
          </a:p>
        </p:txBody>
      </p:sp>
      <p:sp>
        <p:nvSpPr>
          <p:cNvPr id="9" name="Rounded Rectangle 8"/>
          <p:cNvSpPr/>
          <p:nvPr/>
        </p:nvSpPr>
        <p:spPr>
          <a:xfrm>
            <a:off x="457200" y="1600200"/>
            <a:ext cx="6766560" cy="4572000"/>
          </a:xfrm>
          <a:prstGeom prst="roundRect">
            <a:avLst>
              <a:gd name="adj" fmla="val 8000"/>
            </a:avLst>
          </a:prstGeom>
          <a:solidFill>
            <a:srgbClr val="FFFFFF"/>
          </a:solidFill>
          <a:ln w="31750">
            <a:solidFill>
              <a:srgbClr val="FF6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1828800"/>
            <a:ext cx="438912" cy="438912"/>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828800"/>
            <a:ext cx="438912" cy="438912"/>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1</a:t>
            </a:r>
          </a:p>
        </p:txBody>
      </p:sp>
      <p:sp>
        <p:nvSpPr>
          <p:cNvPr id="12" name="TextBox 11"/>
          <p:cNvSpPr txBox="1"/>
          <p:nvPr/>
        </p:nvSpPr>
        <p:spPr>
          <a:xfrm>
            <a:off x="1325880" y="1783080"/>
            <a:ext cx="5669280" cy="1188720"/>
          </a:xfrm>
          <a:prstGeom prst="rect">
            <a:avLst/>
          </a:prstGeom>
          <a:noFill/>
        </p:spPr>
        <p:txBody>
          <a:bodyPr wrap="square" anchor="t" lIns="45720" rIns="45720" tIns="27432" bIns="27432">
            <a:spAutoFit/>
          </a:bodyPr>
          <a:lstStyle/>
          <a:p>
            <a:pPr algn="l">
              <a:lnSpc>
                <a:spcPct val="100000"/>
              </a:lnSpc>
            </a:pPr>
            <a:r>
              <a:rPr sz="1900" b="0" i="0">
                <a:solidFill>
                  <a:srgbClr val="1E2A32"/>
                </a:solidFill>
                <a:latin typeface="Century Gothic"/>
              </a:rPr>
              <a:t>The theme of The Diary of Anne Frank is ______. (an arguable sentence)</a:t>
            </a:r>
          </a:p>
        </p:txBody>
      </p:sp>
      <p:sp>
        <p:nvSpPr>
          <p:cNvPr id="13" name="Oval 12"/>
          <p:cNvSpPr/>
          <p:nvPr/>
        </p:nvSpPr>
        <p:spPr>
          <a:xfrm>
            <a:off x="731520" y="3200400"/>
            <a:ext cx="438912" cy="438912"/>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200400"/>
            <a:ext cx="438912" cy="438912"/>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2</a:t>
            </a:r>
          </a:p>
        </p:txBody>
      </p:sp>
      <p:sp>
        <p:nvSpPr>
          <p:cNvPr id="15" name="TextBox 14"/>
          <p:cNvSpPr txBox="1"/>
          <p:nvPr/>
        </p:nvSpPr>
        <p:spPr>
          <a:xfrm>
            <a:off x="1325880" y="3154680"/>
            <a:ext cx="5669280" cy="1188720"/>
          </a:xfrm>
          <a:prstGeom prst="rect">
            <a:avLst/>
          </a:prstGeom>
          <a:noFill/>
        </p:spPr>
        <p:txBody>
          <a:bodyPr wrap="square" anchor="t" lIns="45720" rIns="45720" tIns="27432" bIns="27432">
            <a:spAutoFit/>
          </a:bodyPr>
          <a:lstStyle/>
          <a:p>
            <a:pPr algn="l">
              <a:lnSpc>
                <a:spcPct val="100000"/>
              </a:lnSpc>
            </a:pPr>
            <a:r>
              <a:rPr sz="1900" b="0" i="0">
                <a:solidFill>
                  <a:srgbClr val="1E2A32"/>
                </a:solidFill>
                <a:latin typeface="Century Gothic"/>
              </a:rPr>
              <a:t>The evidence that best develops it is ______ (p. ___).</a:t>
            </a:r>
          </a:p>
        </p:txBody>
      </p:sp>
      <p:sp>
        <p:nvSpPr>
          <p:cNvPr id="16" name="Oval 15"/>
          <p:cNvSpPr/>
          <p:nvPr/>
        </p:nvSpPr>
        <p:spPr>
          <a:xfrm>
            <a:off x="731520" y="4572000"/>
            <a:ext cx="438912" cy="438912"/>
          </a:xfrm>
          <a:prstGeom prst="ellipse">
            <a:avLst/>
          </a:prstGeom>
          <a:solidFill>
            <a:srgbClr val="FF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572000"/>
            <a:ext cx="438912" cy="438912"/>
          </a:xfrm>
          <a:prstGeom prst="rect">
            <a:avLst/>
          </a:prstGeom>
          <a:noFill/>
        </p:spPr>
        <p:txBody>
          <a:bodyPr wrap="square" anchor="ctr" lIns="45720" rIns="45720" tIns="27432" bIns="27432">
            <a:spAutoFit/>
          </a:bodyPr>
          <a:lstStyle/>
          <a:p>
            <a:pPr algn="ctr">
              <a:lnSpc>
                <a:spcPct val="100000"/>
              </a:lnSpc>
            </a:pPr>
            <a:r>
              <a:rPr sz="1500" b="1" i="0">
                <a:solidFill>
                  <a:srgbClr val="FFFFFF"/>
                </a:solidFill>
                <a:latin typeface="Century Gothic"/>
              </a:rPr>
              <a:t>3</a:t>
            </a:r>
          </a:p>
        </p:txBody>
      </p:sp>
      <p:sp>
        <p:nvSpPr>
          <p:cNvPr id="18" name="TextBox 17"/>
          <p:cNvSpPr txBox="1"/>
          <p:nvPr/>
        </p:nvSpPr>
        <p:spPr>
          <a:xfrm>
            <a:off x="1325880" y="4526280"/>
            <a:ext cx="5669280" cy="1188720"/>
          </a:xfrm>
          <a:prstGeom prst="rect">
            <a:avLst/>
          </a:prstGeom>
          <a:noFill/>
        </p:spPr>
        <p:txBody>
          <a:bodyPr wrap="square" anchor="t" lIns="45720" rIns="45720" tIns="27432" bIns="27432">
            <a:spAutoFit/>
          </a:bodyPr>
          <a:lstStyle/>
          <a:p>
            <a:pPr algn="l">
              <a:lnSpc>
                <a:spcPct val="100000"/>
              </a:lnSpc>
            </a:pPr>
            <a:r>
              <a:rPr sz="1900" b="0" i="0">
                <a:solidFill>
                  <a:srgbClr val="1E2A32"/>
                </a:solidFill>
                <a:latin typeface="Century Gothic"/>
              </a:rPr>
              <a:t>Anne’s legacy, to me, is ______.</a:t>
            </a:r>
          </a:p>
        </p:txBody>
      </p:sp>
      <p:sp>
        <p:nvSpPr>
          <p:cNvPr id="19" name="Rounded Rectangle 18"/>
          <p:cNvSpPr/>
          <p:nvPr/>
        </p:nvSpPr>
        <p:spPr>
          <a:xfrm>
            <a:off x="7452360" y="1600200"/>
            <a:ext cx="4279392" cy="2148840"/>
          </a:xfrm>
          <a:prstGeom prst="roundRect">
            <a:avLst>
              <a:gd name="adj" fmla="val 8000"/>
            </a:avLst>
          </a:prstGeom>
          <a:solidFill>
            <a:srgbClr val="FFE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26679" y="1691640"/>
            <a:ext cx="3840480" cy="320040"/>
          </a:xfrm>
          <a:prstGeom prst="rect">
            <a:avLst/>
          </a:prstGeom>
          <a:noFill/>
        </p:spPr>
        <p:txBody>
          <a:bodyPr wrap="square" anchor="t" lIns="45720" rIns="45720" tIns="27432" bIns="27432">
            <a:spAutoFit/>
          </a:bodyPr>
          <a:lstStyle/>
          <a:p>
            <a:pPr algn="l">
              <a:lnSpc>
                <a:spcPct val="100000"/>
              </a:lnSpc>
            </a:pPr>
            <a:r>
              <a:rPr sz="1300" b="1" i="0">
                <a:solidFill>
                  <a:srgbClr val="DF442A"/>
                </a:solidFill>
                <a:latin typeface="Century Gothic"/>
              </a:rPr>
              <a:t>LEGACY SHARE</a:t>
            </a:r>
          </a:p>
        </p:txBody>
      </p:sp>
      <p:sp>
        <p:nvSpPr>
          <p:cNvPr id="21" name="TextBox 20"/>
          <p:cNvSpPr txBox="1"/>
          <p:nvPr/>
        </p:nvSpPr>
        <p:spPr>
          <a:xfrm>
            <a:off x="7726679" y="2057400"/>
            <a:ext cx="3840480" cy="1645920"/>
          </a:xfrm>
          <a:prstGeom prst="rect">
            <a:avLst/>
          </a:prstGeom>
          <a:noFill/>
        </p:spPr>
        <p:txBody>
          <a:bodyPr wrap="square" anchor="t" lIns="45720" rIns="45720" tIns="27432" bIns="27432">
            <a:spAutoFit/>
          </a:bodyPr>
          <a:lstStyle/>
          <a:p>
            <a:pPr algn="l">
              <a:lnSpc>
                <a:spcPct val="110000"/>
              </a:lnSpc>
            </a:pPr>
            <a:r>
              <a:rPr sz="1500" b="0" i="0">
                <a:solidFill>
                  <a:srgbClr val="1E2A32"/>
                </a:solidFill>
                <a:latin typeface="Century Gothic"/>
              </a:rPr>
              <a:t>Stand and read only:</a:t>
            </a:r>
          </a:p>
          <a:p>
            <a:pPr algn="l">
              <a:lnSpc>
                <a:spcPct val="110000"/>
              </a:lnSpc>
            </a:pPr>
            <a:r>
              <a:rPr sz="1500" b="1" i="0">
                <a:solidFill>
                  <a:srgbClr val="1E2A32"/>
                </a:solidFill>
                <a:latin typeface="Century Gothic"/>
              </a:rPr>
              <a:t>“Anne’s legacy, to me, is…”</a:t>
            </a:r>
          </a:p>
          <a:p>
            <a:pPr algn="l">
              <a:lnSpc>
                <a:spcPct val="110000"/>
              </a:lnSpc>
            </a:pPr>
            <a:r>
              <a:rPr sz="1500" b="0" i="0">
                <a:solidFill>
                  <a:srgbClr val="1E2A32"/>
                </a:solidFill>
                <a:latin typeface="Century Gothic"/>
              </a:rPr>
              <a:t>No commentary. Let them sit.</a:t>
            </a:r>
          </a:p>
        </p:txBody>
      </p:sp>
      <p:sp>
        <p:nvSpPr>
          <p:cNvPr id="22" name="Rounded Rectangle 21"/>
          <p:cNvSpPr/>
          <p:nvPr/>
        </p:nvSpPr>
        <p:spPr>
          <a:xfrm>
            <a:off x="7452360" y="3931920"/>
            <a:ext cx="4279392" cy="2240280"/>
          </a:xfrm>
          <a:prstGeom prst="roundRect">
            <a:avLst>
              <a:gd name="adj" fmla="val 8000"/>
            </a:avLst>
          </a:prstGeom>
          <a:solidFill>
            <a:srgbClr val="1E2A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79" y="4023360"/>
            <a:ext cx="3840480" cy="320040"/>
          </a:xfrm>
          <a:prstGeom prst="rect">
            <a:avLst/>
          </a:prstGeom>
          <a:noFill/>
        </p:spPr>
        <p:txBody>
          <a:bodyPr wrap="square" anchor="t" lIns="45720" rIns="45720" tIns="27432" bIns="27432">
            <a:spAutoFit/>
          </a:bodyPr>
          <a:lstStyle/>
          <a:p>
            <a:pPr algn="l">
              <a:lnSpc>
                <a:spcPct val="100000"/>
              </a:lnSpc>
            </a:pPr>
            <a:r>
              <a:rPr sz="1300" b="1" i="0">
                <a:solidFill>
                  <a:srgbClr val="FFC63C"/>
                </a:solidFill>
                <a:latin typeface="Century Gothic"/>
              </a:rPr>
              <a:t>TOMORROW · NIGHT</a:t>
            </a:r>
          </a:p>
        </p:txBody>
      </p:sp>
      <p:sp>
        <p:nvSpPr>
          <p:cNvPr id="24" name="TextBox 23"/>
          <p:cNvSpPr txBox="1"/>
          <p:nvPr/>
        </p:nvSpPr>
        <p:spPr>
          <a:xfrm>
            <a:off x="7726679" y="4389120"/>
            <a:ext cx="3840480" cy="1737360"/>
          </a:xfrm>
          <a:prstGeom prst="rect">
            <a:avLst/>
          </a:prstGeom>
          <a:noFill/>
        </p:spPr>
        <p:txBody>
          <a:bodyPr wrap="square" anchor="t" lIns="45720" rIns="45720" tIns="27432" bIns="27432">
            <a:spAutoFit/>
          </a:bodyPr>
          <a:lstStyle/>
          <a:p>
            <a:pPr algn="l">
              <a:lnSpc>
                <a:spcPct val="105000"/>
              </a:lnSpc>
            </a:pPr>
            <a:r>
              <a:rPr sz="1400" b="0" i="0">
                <a:solidFill>
                  <a:srgbClr val="FFFFFF"/>
                </a:solidFill>
                <a:latin typeface="Century Gothic"/>
              </a:rPr>
              <a:t>A memoir by survivor Elie Wiesel, who was your age when the events begin. Its first pages contain a warning a whole town refuses to hear.</a:t>
            </a:r>
          </a:p>
        </p:txBody>
      </p:sp>
    </p:spTree>
  </p:cSld>
  <p:clrMapOvr>
    <a:masterClrMapping/>
  </p:clrMapOvr>
</p:sld>
</file>

<file path=ppt/theme/theme1.xml><?xml version="1.0" encoding="utf-8"?>
<a:theme xmlns:a="http://schemas.openxmlformats.org/drawingml/2006/main" name="Encountering Evil Week 9 Day 2">
  <a:themeElements>
    <a:clrScheme name="Encountering Evil Week 9 Day 2">
      <a:dk1>
        <a:srgbClr val="1E2A32"/>
      </a:dk1>
      <a:lt1>
        <a:srgbClr val="FFFFFF"/>
      </a:lt1>
      <a:dk2>
        <a:srgbClr val="5A6B75"/>
      </a:dk2>
      <a:lt2>
        <a:srgbClr val="FFFBF4"/>
      </a:lt2>
      <a:accent1>
        <a:srgbClr val="00A39B"/>
      </a:accent1>
      <a:accent2>
        <a:srgbClr val="3B74E8"/>
      </a:accent2>
      <a:accent3>
        <a:srgbClr val="FF6B4E"/>
      </a:accent3>
      <a:accent4>
        <a:srgbClr val="FFC63C"/>
      </a:accent4>
      <a:accent5>
        <a:srgbClr val="8B6BE8"/>
      </a:accent5>
      <a:accent6>
        <a:srgbClr val="C2185B"/>
      </a:accent6>
      <a:hlink>
        <a:srgbClr val="2A56B5"/>
      </a:hlink>
      <a:folHlink>
        <a:srgbClr val="6746C7"/>
      </a:folHlink>
    </a:clrScheme>
    <a:fontScheme name="Encountering Evil Week 9 Day 2">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2132</Words>
  <Application>Microsoft Office PowerPoint</Application>
  <PresentationFormat>Widescreen</PresentationFormat>
  <Paragraphs>179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Century Gothic</vt:lpstr>
      <vt:lpstr>Encountering Evil Week 9 Day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Day 2 · In Spite of Everything: Tone, Mood, and the End of the Play</dc:title>
  <dc:subject>PptxGenJS Presentation</dc:subject>
  <dc:creator>Ms. Briggs</dc:creator>
  <cp:lastModifiedBy>Danyelle Briggs</cp:lastModifiedBy>
  <cp:revision>1</cp:revision>
  <dcterms:created xsi:type="dcterms:W3CDTF">2026-10-08T17:28:41Z</dcterms:created>
  <dcterms:modified xsi:type="dcterms:W3CDTF">2026-10-08T17:31:00Z</dcterms:modified>
</cp:coreProperties>
</file>