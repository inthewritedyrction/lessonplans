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7"/>
    <p:sldId id="257" r:id="rId8"/>
    <p:sldId id="258" r:id="rId9"/>
    <p:sldId id="259" r:id="rId10"/>
    <p:sldId id="260" r:id="rId11"/>
    <p:sldId id="261" r:id="rId12"/>
    <p:sldId id="262" r:id="rId13"/>
    <p:sldId id="263" r:id="rId6"/>
    <p:sldId id="264" r:id="rId5"/>
    <p:sldId id="265" r:id="rId4"/>
    <p:sldId id="266" r:id="rId3"/>
    <p:sldId id="267"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AD93AF7-35A2-BFB3-1229-15C2457ECF37}">
          <p14:sldIdLst>
            <p14:sldId id="256"/>
            <p14:sldId id="257"/>
          </p14:sldIdLst>
        </p14:section>
        <p14:section name="Tone vs. Mood" id="{FE85F2F0-7B1E-D457-56B1-1AC96C63F273}">
          <p14:sldIdLst>
            <p14:sldId id="258"/>
            <p14:sldId id="259"/>
            <p14:sldId id="260"/>
          </p14:sldIdLst>
        </p14:section>
        <p14:section name="Final Scene" id="{C7010FEB-3070-B658-2C20-C89D755610BD}">
          <p14:sldIdLst>
            <p14:sldId id="261"/>
          </p14:sldIdLst>
        </p14:section>
        <p14:section name="Model + Think-Aloud" id="{EDA56DDE-DDCC-26E0-A968-3A049C1FB7AD}">
          <p14:sldIdLst>
            <p14:sldId id="262"/>
            <p14:sldId id="263"/>
          </p14:sldIdLst>
        </p14:section>
        <p14:section name="Partner Reading" id="{985601B6-42AF-B576-35F5-BE9EE78C70C0}">
          <p14:sldIdLst>
            <p14:sldId id="264"/>
          </p14:sldIdLst>
        </p14:section>
        <p14:section name="Debrief" id="{BE18E7F5-8AEE-AFFE-C3F5-8B26E8E388E8}">
          <p14:sldIdLst>
            <p14:sldId id="265"/>
          </p14:sldIdLst>
        </p14:section>
        <p14:section name="Transitions" id="{7CF431F1-17BA-FB6C-03F9-0441331A1F5C}">
          <p14:sldIdLst>
            <p14:sldId id="266"/>
          </p14:sldIdLst>
        </p14:section>
        <p14:section name="Exit Ticket" id="{D92C7F42-059F-0999-C57A-ECE6CF539226}">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5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2.xml"/><Relationship Id="rId3" Type="http://schemas.openxmlformats.org/officeDocument/2006/relationships/slide" Target="slides/slide11.xml"/><Relationship Id="rId4" Type="http://schemas.openxmlformats.org/officeDocument/2006/relationships/slide" Target="slides/slide10.xml"/><Relationship Id="rId5" Type="http://schemas.openxmlformats.org/officeDocument/2006/relationships/slide" Target="slides/slide9.xml"/><Relationship Id="rId6" Type="http://schemas.openxmlformats.org/officeDocument/2006/relationships/slide" Target="slides/slide8.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2269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 as scholars walk in. Classwork packet on desks, p. 1. Homework sheet and printed reading (PDF pages 18-36) on top of the desk.</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Alright, look here. Homework sheet and your reading on top of your desk. Box 01. Moishe comes back to Sighet to warn them. What does the community do with his warning, and WHY do you think they respond that way? One detail from last night. Five minutes. Silent. Then circle YES or NO.</a:t>
            </a:r>
          </a:p>
          <a:p>
            <a:r>
              <a:t>CHECK while circulating: read? understood? evidence? inferring? Note 2-3 strong 'why' answers to call on.</a:t>
            </a:r>
          </a:p>
          <a:p>
            <a:r>
              <a:t>IF STALLED: Open to p. 7. Find what the people say about Moishe.</a:t>
            </a:r>
          </a:p>
          <a:p>
            <a:r>
              <a:t>TRANSITION: Pencils down. Homework sheet out. We're going to put last night's reading back together, fast. Fix or add to your answers while we talk.</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in order; 2 answers each with page numbers. 1) What happened to Moishe? (expelled; Gestapo shooting in the forest; wounded, left for dead, p. 6) 2) What did he come back trying to do? ('I wanted to come back to warn you,' p. 7) 3) How did the people respond? (refused to believe, refused to listen, pity, imagining things, 'gone mad,' p. 7) 4) WHY? Take 2-3, don't judge yet: 'Hold onto those.'</a:t>
            </a:r>
          </a:p>
          <a:p>
            <a:r>
              <a:t>IF 'they were dumb': That's a judgment. What does the text show about why?</a:t>
            </a:r>
          </a:p>
          <a:p>
            <a:r>
              <a:t>SEQUENCE (homework #5): Moishe's warning -&gt; danger grows outside (Hungary) -&gt; German soldiers arrive -&gt; restrictions -&gt; ghettos. Ten minutes max; don't reteach every detail.</a:t>
            </a:r>
          </a:p>
          <a:p>
            <a:r>
              <a:t>TRANSITION: Before we go back into the text, notice what kind of book this is. Yesterday we finished a play. This is something different. Box 02.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(Prather): In a play, playwrights shape a story for an audience. We experienced Anne from the outside. A memoir is a survivor telling his own lived experience, through memory and purpose. We are inside his perspective.</a:t>
            </a:r>
          </a:p>
          <a:p>
            <a:r>
              <a:t>ASK (Prather): What can a memoir give us that a play cannot? Take 2. LISTEN FOR: his thoughts; it really happened; his voice; he is looking back.</a:t>
            </a:r>
          </a:p>
          <a:p>
            <a:r>
              <a:t>IF INCOMPLETE: point to p. 11, '(Poor Father! Of what then did you die?)' - the survivor's voice looking back.</a:t>
            </a:r>
          </a:p>
          <a:p>
            <a:r>
              <a:t>WIESEL (1 min): Born in Sighet, the town you just read about. A teenager when these events happened. He survived, and his writing became testimony: a record, so people remember. Stop there.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(Prather): Track two things: how this town responds every time danger gets closer, and what Wiesel begins doing with the word night. One is about people. One is about language. Both tell us what is coming.</a:t>
            </a:r>
          </a:p>
          <a:p>
            <a:r>
              <a:t>Don't pre-summarize the rest of the memoir.</a:t>
            </a:r>
          </a:p>
          <a:p>
            <a:r>
              <a:t>TRANSITION: Lens one first. Printed reading, p. 5. We're rereading Moishe's return slowly, because this is the moment the whole opening turns on.</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As I read, mark the margin. W for a warning. R for a reaction. ? for something you want to talk about. Three marks.</a:t>
            </a:r>
          </a:p>
          <a:p>
            <a:r>
              <a:t>READ ALOUD: from p. 5 ('And Moishe the Beadle, the poorest of the poor of Sighet...') through p. 6 (expulsion, return) to the bottom of p. 7 ('This was toward the end of 1942.'). Slow down on p. 7: 'Moishe was not the same. The joy in his eyes was gone.' Pause after 'Only no one is listening to me...'</a:t>
            </a:r>
          </a:p>
          <a:p>
            <a:r>
              <a:t>ASK: What changed in Moishe? Where did you put your R's?</a:t>
            </a:r>
          </a:p>
          <a:p>
            <a:r>
              <a:t>LISTEN FOR: he stopped singing and talking about God; only talks about what he saw. R's: 'refused to believe... refused to listen,' pity, imagining things, 'gone mad' (p. 7). Also p. 6: 'The deportees were quickly forgotten.'</a:t>
            </a:r>
          </a:p>
          <a:p>
            <a:r>
              <a:t>GROUNDING: His warning is end of 1942; the Germans reach Sighet in spring 1944. There was time.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MODEL (doc cam on Row M): Column one, the warning: Moishe's eyewitness account, p. 6, and why he came back, p. 7. Column two, the reaction: refused to believe, refused to listen, called him mad, p. 7. Those two are already in your packet.</a:t>
            </a:r>
          </a:p>
          <a:p>
            <a:r>
              <a:t>SAY (Prather): The third column is not a summary. It answers: what does this reaction reveal about what people do with unbearable news?</a:t>
            </a:r>
          </a:p>
          <a:p>
            <a:r>
              <a:t>CONNECT: We already studied disbelief and indifference as conditions that helped persecution grow. Now Wiesel is showing us what that looks like inside one town.</a:t>
            </a:r>
          </a:p>
          <a:p>
            <a:r>
              <a:t>TRANSITION: Don't write column three yet. Purple strip, right under Row M. I want to hear how you think.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LEAF ACTION STEP - right after scholars name how the town responded to Moishe, before anyone writes column 3.</a:t>
            </a:r>
          </a:p>
          <a:p>
            <a:r>
              <a:t>1) ASK: Okay, now I need the inference. What does their reaction reveal about people? 2) Silent 30-45 sec, thumb on chest.</a:t>
            </a:r>
          </a:p>
          <a:p>
            <a:r>
              <a:t>3) Scholar 1: First I noticed ___. Then I noticed the people ___. So I decided this reveals ___ because ___.</a:t>
            </a:r>
          </a:p>
          <a:p>
            <a:r>
              <a:t>PRESS, DON'T ANSWER: What detail made you think that? Are you explaining what happened, or what it reveals? What does this tell us about how people respond to unbearable information? Stay with the same scholar.</a:t>
            </a:r>
          </a:p>
          <a:p>
            <a:r>
              <a:t>4) Scholar 2: I agree / would revise that because ___.</a:t>
            </a:r>
          </a:p>
          <a:p>
            <a:r>
              <a:t>5) Draft one inference sentence together. LAND IT: Good. That difference matters today. We are not just tracking what happens. We are asking what the reactions reveal.</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PARTNERS (34-44): Look on the flagged pages. Find the warning, find what the town does with it, then: what does it reveal? Talk it out. Each of you writes.</a:t>
            </a:r>
          </a:p>
          <a:p>
            <a:r>
              <a:t>Pace: 38 'Row 2 should have its inference.' 42 'You should be on Row 3's inference.' 44 'Finish your sentence.'</a:t>
            </a:r>
          </a:p>
          <a:p>
            <a:r>
              <a:t>Morehouse: Row 2 -&gt; p. 9 'Yet we still were not worried.' Row 3 -&gt; p. 10 the chocolates; p. 11 'It's not lethal.'</a:t>
            </a:r>
          </a:p>
          <a:p>
            <a:r>
              <a:t>GO OVER (44-50): For each row, one scholar gives the warning, one the reaction, one the inference, another builds/revises. Then the big presses. Do not answer them yourself.</a:t>
            </a:r>
          </a:p>
          <a:p>
            <a:r>
              <a:t>TRANSITION: That's lens one, people. Now lens two, language. Last night I only asked you to NOTICE a pattern. Today we figure out what the pattern might mean. Page 3.</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(50-56): Last night I only asked you to NOTICE the pattern. Today we figure out what the pattern might mean. Define symbolism.</a:t>
            </a:r>
          </a:p>
          <a:p>
            <a:r>
              <a:t>MODEL p. 12 'Night fell.': literally it got dark; around it, the normal evening breaks - father pulled into an emergency meeting, 'The story he had interrupted would remain unfinished.' Write: night comes when ordinary life gets interrupted, maybe the beginning of the end of safety. MAYBE - one row isn't a pattern.</a:t>
            </a:r>
          </a:p>
          <a:p>
            <a:r>
              <a:t>DO NOT post 'night = death/evil/fear.' Let the pattern emerge (Prather).</a:t>
            </a:r>
          </a:p>
          <a:p>
            <a:r>
              <a:t>ROWS (56-64): pp. 14, 18, 21, 22. Stuck: Don't jump to the symbol yet. What pattern do you actually see?</a:t>
            </a:r>
          </a:p>
          <a:p>
            <a:r>
              <a:t>GO OVER (64-69): What kinds of events keep happening when night appears? What pattern? What could night begin to represent beyond darkness? Accept multiple defensible readings. Then the pattern sentence.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Choose ONE. Prompt A if your warning chart is stronger, Prompt B if your night chart is. Claim, one strong piece of evidence with a page, reasoning. Done early? Add a second evidence and reasoning.</a:t>
            </a:r>
          </a:p>
          <a:p>
            <a:r>
              <a:t>TALK FIRST (1 min): say your claim to your partner in one sentence; partner says 'So what?' if it sounds like a summary.</a:t>
            </a:r>
          </a:p>
          <a:p>
            <a:r>
              <a:t>WHISPER ONLY: You found the line. What does it prove? / You gave me what happened. I need what it reveals.</a:t>
            </a:r>
          </a:p>
          <a:p>
            <a:r>
              <a:t>TIME: 8 minutes on the clock; 10-12 if the debriefs ran fast; finish at home if behind.</a:t>
            </a:r>
          </a:p>
          <a:p>
            <a:r>
              <a:t>TRANSITION: Pencils down. Turn to page 5. Exit ticket. On your own.</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CHOOSE: more time on warnings today -&gt; A. More time on symbolism -&gt; B. Say it once.</a:t>
            </a:r>
          </a:p>
          <a:p>
            <a:r>
              <a:t>Silent and independent. Collect exit tickets. Charts on pp. 2-3 stay in folders for Day 5's synthesis (Prather). Unfinished focused writes go home.</a:t>
            </a:r>
          </a:p>
          <a:p>
            <a:r>
              <a:t>IF BEHIND: the exit ticket still happens, even at two minutes.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BF4"/>
        </a:solidFill>
        <a:effectLst/>
      </p:bgPr>
    </p:bg>
    <p:spTree>
      <p:nvGrpSpPr>
        <p:cNvPr id="1" name=""/>
        <p:cNvGrpSpPr/>
        <p:nvPr/>
      </p:nvGrpSpPr>
      <p:grpSpPr>
        <a:xfrm>
          <a:off x="0" y="0"/>
          <a:ext cx="0" cy="0"/>
          <a:chOff x="0" y="0"/>
          <a:chExt cx="0" cy="0"/>
        </a:xfrm>
      </p:grpSpPr>
      <p:sp>
        <p:nvSpPr>
          <p:cNvPr id="2" name="Text 0"/>
          <p:cNvSpPr/>
          <p:nvPr/>
        </p:nvSpPr>
        <p:spPr>
          <a:xfrm>
            <a:off x="457200" y="201168"/>
            <a:ext cx="7315200" cy="274320"/>
          </a:xfrm>
          <a:prstGeom prst="rect">
            <a:avLst/>
          </a:prstGeom>
          <a:noFill/>
          <a:ln/>
        </p:spPr>
        <p:txBody>
          <a:bodyPr wrap="square" lIns="0" tIns="0" rIns="0" bIns="0" rtlCol="0" anchor="ctr"/>
          <a:lstStyle/>
          <a:p>
            <a:pPr marL="0" indent="0">
              <a:buNone/>
            </a:pPr>
            <a:r>
              <a:rPr lang="en-US" sz="900" b="1" kern="0" spc="300" dirty="0">
                <a:solidFill>
                  <a:srgbClr val="8FA0AA"/>
                </a:solidFill>
                <a:latin typeface="Century Gothic" pitchFamily="34" charset="0"/>
                <a:ea typeface="Century Gothic" pitchFamily="34" charset="-122"/>
                <a:cs typeface="Century Gothic" pitchFamily="34" charset="-120"/>
              </a:rPr>
              <a:t>WEEK 9 · DAY 4 · ENCOUNTERING EVIL · NIGHT BY ELIE WIESEL</a:t>
            </a:r>
            <a:endParaRPr lang="en-US" sz="9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32"/>
        </a:solidFill>
        <a:effectLst/>
      </p:bgPr>
    </p:bg>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1</a:t>
            </a:r>
          </a:p>
        </p:txBody>
      </p:sp>
      <p:sp>
        <p:nvSpPr>
          <p:cNvPr id="3" name="Oval 2"/>
          <p:cNvSpPr/>
          <p:nvPr/>
        </p:nvSpPr>
        <p:spPr>
          <a:xfrm>
            <a:off x="640080" y="685800"/>
            <a:ext cx="310896" cy="310896"/>
          </a:xfrm>
          <a:prstGeom prst="ellipse">
            <a:avLst/>
          </a:prstGeom>
          <a:solidFill>
            <a:srgbClr val="00A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 y="685800"/>
            <a:ext cx="310896" cy="310896"/>
          </a:xfrm>
          <a:prstGeom prst="ellipse">
            <a:avLst/>
          </a:prstGeom>
          <a:solidFill>
            <a:srgbClr val="3B7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554480" y="685800"/>
            <a:ext cx="310896" cy="310896"/>
          </a:xfrm>
          <a:prstGeom prst="ellipse">
            <a:avLst/>
          </a:prstGeom>
          <a:solidFill>
            <a:srgbClr val="FF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11680" y="685800"/>
            <a:ext cx="310896" cy="310896"/>
          </a:xfrm>
          <a:prstGeom prst="ellipse">
            <a:avLst/>
          </a:prstGeom>
          <a:solidFill>
            <a:srgbClr val="FFC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468880" y="685800"/>
            <a:ext cx="310896" cy="310896"/>
          </a:xfrm>
          <a:prstGeom prst="ellipse">
            <a:avLst/>
          </a:prstGeom>
          <a:solidFill>
            <a:srgbClr val="8B6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34440"/>
            <a:ext cx="8229600" cy="320040"/>
          </a:xfrm>
          <a:prstGeom prst="rect">
            <a:avLst/>
          </a:prstGeom>
          <a:noFill/>
        </p:spPr>
        <p:txBody>
          <a:bodyPr wrap="square" anchor="t" lIns="45720" rIns="45720" tIns="27432" bIns="27432">
            <a:spAutoFit/>
          </a:bodyPr>
          <a:lstStyle/>
          <a:p>
            <a:pPr algn="l">
              <a:lnSpc>
                <a:spcPct val="100000"/>
              </a:lnSpc>
            </a:pPr>
            <a:r>
              <a:rPr sz="1300" b="1" i="0">
                <a:solidFill>
                  <a:srgbClr val="9FB3BD"/>
                </a:solidFill>
                <a:latin typeface="Century Gothic"/>
              </a:rPr>
              <a:t>WEEK 9 · DAY 4 · ENCOUNTERING EVIL</a:t>
            </a:r>
          </a:p>
        </p:txBody>
      </p:sp>
      <p:sp>
        <p:nvSpPr>
          <p:cNvPr id="9" name="TextBox 8"/>
          <p:cNvSpPr txBox="1"/>
          <p:nvPr/>
        </p:nvSpPr>
        <p:spPr>
          <a:xfrm>
            <a:off x="640080" y="1645920"/>
            <a:ext cx="10972800" cy="1737360"/>
          </a:xfrm>
          <a:prstGeom prst="rect">
            <a:avLst/>
          </a:prstGeom>
          <a:noFill/>
        </p:spPr>
        <p:txBody>
          <a:bodyPr wrap="square" anchor="t" lIns="45720" rIns="45720" tIns="27432" bIns="27432">
            <a:spAutoFit/>
          </a:bodyPr>
          <a:lstStyle/>
          <a:p>
            <a:pPr algn="l">
              <a:lnSpc>
                <a:spcPct val="100000"/>
              </a:lnSpc>
            </a:pPr>
            <a:r>
              <a:rPr sz="4000" b="1" i="0">
                <a:solidFill>
                  <a:srgbClr val="FFFFFF"/>
                </a:solidFill>
                <a:latin typeface="Century Gothic"/>
              </a:rPr>
              <a:t>Entering Night:</a:t>
            </a:r>
          </a:p>
          <a:p>
            <a:pPr algn="l">
              <a:lnSpc>
                <a:spcPct val="100000"/>
              </a:lnSpc>
            </a:pPr>
            <a:r>
              <a:rPr sz="4000" b="1" i="0">
                <a:solidFill>
                  <a:srgbClr val="FFFFFF"/>
                </a:solidFill>
                <a:latin typeface="Century Gothic"/>
              </a:rPr>
              <a:t>Moishe’s Warning and the Symbol of Night</a:t>
            </a:r>
          </a:p>
        </p:txBody>
      </p:sp>
      <p:sp>
        <p:nvSpPr>
          <p:cNvPr id="10" name="TextBox 9"/>
          <p:cNvSpPr txBox="1"/>
          <p:nvPr/>
        </p:nvSpPr>
        <p:spPr>
          <a:xfrm>
            <a:off x="640080" y="3429000"/>
            <a:ext cx="10789920" cy="365760"/>
          </a:xfrm>
          <a:prstGeom prst="rect">
            <a:avLst/>
          </a:prstGeom>
          <a:noFill/>
        </p:spPr>
        <p:txBody>
          <a:bodyPr wrap="square" anchor="t" lIns="45720" rIns="45720" tIns="27432" bIns="27432">
            <a:spAutoFit/>
          </a:bodyPr>
          <a:lstStyle/>
          <a:p>
            <a:pPr algn="l">
              <a:lnSpc>
                <a:spcPct val="100000"/>
              </a:lnSpc>
            </a:pPr>
            <a:r>
              <a:rPr sz="1500" b="0" i="0">
                <a:solidFill>
                  <a:srgbClr val="C9D4DA"/>
                </a:solidFill>
                <a:latin typeface="Century Gothic"/>
              </a:rPr>
              <a:t>Night by Elie Wiesel · pp. 3–22 · first read done last night</a:t>
            </a:r>
          </a:p>
        </p:txBody>
      </p:sp>
      <p:sp>
        <p:nvSpPr>
          <p:cNvPr id="11" name="Rounded Rectangle 10"/>
          <p:cNvSpPr/>
          <p:nvPr/>
        </p:nvSpPr>
        <p:spPr>
          <a:xfrm>
            <a:off x="640080" y="4114800"/>
            <a:ext cx="5303520" cy="210312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97680"/>
            <a:ext cx="4754880" cy="274320"/>
          </a:xfrm>
          <a:prstGeom prst="rect">
            <a:avLst/>
          </a:prstGeom>
          <a:noFill/>
        </p:spPr>
        <p:txBody>
          <a:bodyPr wrap="square" anchor="t" lIns="45720" rIns="45720" tIns="27432" bIns="27432">
            <a:spAutoFit/>
          </a:bodyPr>
          <a:lstStyle/>
          <a:p>
            <a:pPr algn="l">
              <a:lnSpc>
                <a:spcPct val="100000"/>
              </a:lnSpc>
            </a:pPr>
            <a:r>
              <a:rPr sz="1100" b="1" i="0">
                <a:solidFill>
                  <a:srgbClr val="FFFFFF"/>
                </a:solidFill>
                <a:latin typeface="Century Gothic"/>
              </a:rPr>
              <a:t>ESSENTIAL QUESTION</a:t>
            </a:r>
          </a:p>
        </p:txBody>
      </p:sp>
      <p:sp>
        <p:nvSpPr>
          <p:cNvPr id="13" name="TextBox 12"/>
          <p:cNvSpPr txBox="1"/>
          <p:nvPr/>
        </p:nvSpPr>
        <p:spPr>
          <a:xfrm>
            <a:off x="914400" y="4617720"/>
            <a:ext cx="4754880" cy="1508760"/>
          </a:xfrm>
          <a:prstGeom prst="rect">
            <a:avLst/>
          </a:prstGeom>
          <a:noFill/>
        </p:spPr>
        <p:txBody>
          <a:bodyPr wrap="square" anchor="t" lIns="45720" rIns="45720" tIns="27432" bIns="27432">
            <a:spAutoFit/>
          </a:bodyPr>
          <a:lstStyle/>
          <a:p>
            <a:pPr algn="l">
              <a:lnSpc>
                <a:spcPct val="100000"/>
              </a:lnSpc>
            </a:pPr>
            <a:r>
              <a:rPr sz="1550" b="0" i="0">
                <a:solidFill>
                  <a:srgbClr val="FFFFFF"/>
                </a:solidFill>
                <a:latin typeface="Century Gothic"/>
              </a:rPr>
              <a:t>What does the community’s reaction to the warning reveal about human nature, and what might Wiesel’s repeated word “night” come to symbolize?</a:t>
            </a:r>
          </a:p>
        </p:txBody>
      </p:sp>
      <p:sp>
        <p:nvSpPr>
          <p:cNvPr id="14" name="Rounded Rectangle 13"/>
          <p:cNvSpPr/>
          <p:nvPr/>
        </p:nvSpPr>
        <p:spPr>
          <a:xfrm>
            <a:off x="6217920" y="4114800"/>
            <a:ext cx="5303520" cy="2103120"/>
          </a:xfrm>
          <a:prstGeom prst="roundRect">
            <a:avLst>
              <a:gd name="adj" fmla="val 8000"/>
            </a:avLst>
          </a:prstGeom>
          <a:solidFill>
            <a:srgbClr val="FFC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4297680"/>
            <a:ext cx="4754880" cy="274320"/>
          </a:xfrm>
          <a:prstGeom prst="rect">
            <a:avLst/>
          </a:prstGeom>
          <a:noFill/>
        </p:spPr>
        <p:txBody>
          <a:bodyPr wrap="square" anchor="t" lIns="45720" rIns="45720" tIns="27432" bIns="27432">
            <a:spAutoFit/>
          </a:bodyPr>
          <a:lstStyle/>
          <a:p>
            <a:pPr algn="l">
              <a:lnSpc>
                <a:spcPct val="100000"/>
              </a:lnSpc>
            </a:pPr>
            <a:r>
              <a:rPr sz="1100" b="1" i="0">
                <a:solidFill>
                  <a:srgbClr val="3A2A00"/>
                </a:solidFill>
                <a:latin typeface="Century Gothic"/>
              </a:rPr>
              <a:t>LEARNING TARGET</a:t>
            </a:r>
          </a:p>
        </p:txBody>
      </p:sp>
      <p:sp>
        <p:nvSpPr>
          <p:cNvPr id="16" name="TextBox 15"/>
          <p:cNvSpPr txBox="1"/>
          <p:nvPr/>
        </p:nvSpPr>
        <p:spPr>
          <a:xfrm>
            <a:off x="6492240" y="4617720"/>
            <a:ext cx="4754880" cy="1508760"/>
          </a:xfrm>
          <a:prstGeom prst="rect">
            <a:avLst/>
          </a:prstGeom>
          <a:noFill/>
        </p:spPr>
        <p:txBody>
          <a:bodyPr wrap="square" anchor="t" lIns="45720" rIns="45720" tIns="27432" bIns="27432">
            <a:spAutoFit/>
          </a:bodyPr>
          <a:lstStyle/>
          <a:p>
            <a:pPr algn="l">
              <a:lnSpc>
                <a:spcPct val="100000"/>
              </a:lnSpc>
            </a:pPr>
            <a:r>
              <a:rPr sz="1450" b="0" i="0">
                <a:solidFill>
                  <a:srgbClr val="3A2A00"/>
                </a:solidFill>
                <a:latin typeface="Century Gothic"/>
              </a:rPr>
              <a:t>I can analyze how the people of Sighet respond to warnings and how Wiesel begins to use the word “night” as a symbol, and use evidence from the text to explain what those patterns reveal.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2</a:t>
            </a:r>
          </a:p>
        </p:txBody>
      </p:sp>
      <p:sp>
        <p:nvSpPr>
          <p:cNvPr id="3" name="Oval 2"/>
          <p:cNvSpPr/>
          <p:nvPr/>
        </p:nvSpPr>
        <p:spPr>
          <a:xfrm>
            <a:off x="457200" y="566928"/>
            <a:ext cx="566928" cy="566928"/>
          </a:xfrm>
          <a:prstGeom prst="ellipse">
            <a:avLst/>
          </a:prstGeom>
          <a:solidFill>
            <a:srgbClr val="FFFFFF"/>
          </a:solidFill>
          <a:ln w="38100">
            <a:solidFill>
              <a:srgbClr val="B98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B98100"/>
                </a:solidFill>
                <a:latin typeface="Century Gothic"/>
              </a:rPr>
              <a:t>01</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Do Now</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Silent. On your own. Use last night’s reading.</a:t>
            </a:r>
          </a:p>
        </p:txBody>
      </p:sp>
      <p:sp>
        <p:nvSpPr>
          <p:cNvPr id="7" name="Rounded Rectangle 6"/>
          <p:cNvSpPr/>
          <p:nvPr/>
        </p:nvSpPr>
        <p:spPr>
          <a:xfrm>
            <a:off x="8668512" y="566928"/>
            <a:ext cx="3063240" cy="347472"/>
          </a:xfrm>
          <a:prstGeom prst="roundRect">
            <a:avLst>
              <a:gd name="adj" fmla="val 8000"/>
            </a:avLst>
          </a:prstGeom>
          <a:solidFill>
            <a:srgbClr val="B98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1 · BOX 01</a:t>
            </a:r>
          </a:p>
        </p:txBody>
      </p:sp>
      <p:sp>
        <p:nvSpPr>
          <p:cNvPr id="9" name="Rounded Rectangle 8"/>
          <p:cNvSpPr/>
          <p:nvPr/>
        </p:nvSpPr>
        <p:spPr>
          <a:xfrm>
            <a:off x="457200" y="1600200"/>
            <a:ext cx="11274552" cy="2377440"/>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00200"/>
            <a:ext cx="10698480" cy="2377440"/>
          </a:xfrm>
          <a:prstGeom prst="rect">
            <a:avLst/>
          </a:prstGeom>
          <a:noFill/>
        </p:spPr>
        <p:txBody>
          <a:bodyPr wrap="square" anchor="ctr" lIns="45720" rIns="45720" tIns="27432" bIns="27432">
            <a:spAutoFit/>
          </a:bodyPr>
          <a:lstStyle/>
          <a:p>
            <a:pPr algn="l">
              <a:lnSpc>
                <a:spcPct val="108000"/>
              </a:lnSpc>
            </a:pPr>
            <a:r>
              <a:rPr sz="2400" b="0" i="0">
                <a:solidFill>
                  <a:srgbClr val="1E2A32"/>
                </a:solidFill>
                <a:latin typeface="Century Gothic"/>
              </a:rPr>
              <a:t>Moishe returns to Sighet to warn the community about what he witnessed. </a:t>
            </a:r>
          </a:p>
          <a:p>
            <a:pPr algn="l">
              <a:lnSpc>
                <a:spcPct val="108000"/>
              </a:lnSpc>
            </a:pPr>
            <a:r>
              <a:rPr sz="2400" b="1" i="0">
                <a:solidFill>
                  <a:srgbClr val="1E2A32"/>
                </a:solidFill>
                <a:latin typeface="Century Gothic"/>
              </a:rPr>
              <a:t>What does the community do with his warning, and WHY do you think they respond that way?</a:t>
            </a:r>
          </a:p>
          <a:p>
            <a:pPr algn="l">
              <a:lnSpc>
                <a:spcPct val="108000"/>
              </a:lnSpc>
            </a:pPr>
            <a:r>
              <a:rPr sz="1900" b="0" i="0">
                <a:solidFill>
                  <a:srgbClr val="1E2A32"/>
                </a:solidFill>
                <a:latin typeface="Century Gothic"/>
              </a:rPr>
              <a:t>Use one detail from last night’s reading.</a:t>
            </a:r>
          </a:p>
        </p:txBody>
      </p:sp>
      <p:sp>
        <p:nvSpPr>
          <p:cNvPr id="11" name="Rounded Rectangle 10"/>
          <p:cNvSpPr/>
          <p:nvPr/>
        </p:nvSpPr>
        <p:spPr>
          <a:xfrm>
            <a:off x="457200" y="4251960"/>
            <a:ext cx="5486400" cy="1280160"/>
          </a:xfrm>
          <a:prstGeom prst="roundRect">
            <a:avLst>
              <a:gd name="adj" fmla="val 8000"/>
            </a:avLst>
          </a:prstGeom>
          <a:solidFill>
            <a:srgbClr val="FFFFFF"/>
          </a:solidFill>
          <a:ln w="31750">
            <a:solidFill>
              <a:srgbClr val="FFC6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251960"/>
            <a:ext cx="4937760" cy="1280160"/>
          </a:xfrm>
          <a:prstGeom prst="rect">
            <a:avLst/>
          </a:prstGeom>
          <a:noFill/>
        </p:spPr>
        <p:txBody>
          <a:bodyPr wrap="square" anchor="ctr" lIns="45720" rIns="45720" tIns="27432" bIns="27432">
            <a:spAutoFit/>
          </a:bodyPr>
          <a:lstStyle/>
          <a:p>
            <a:pPr algn="l">
              <a:lnSpc>
                <a:spcPct val="100000"/>
              </a:lnSpc>
            </a:pPr>
            <a:r>
              <a:rPr sz="2000" b="1" i="0">
                <a:solidFill>
                  <a:srgbClr val="1E2A32"/>
                </a:solidFill>
                <a:latin typeface="Century Gothic"/>
              </a:rPr>
              <a:t>Then circle:  </a:t>
            </a:r>
          </a:p>
          <a:p>
            <a:pPr algn="l">
              <a:lnSpc>
                <a:spcPct val="100000"/>
              </a:lnSpc>
            </a:pPr>
            <a:r>
              <a:rPr sz="2000" b="0" i="0">
                <a:solidFill>
                  <a:srgbClr val="1E2A32"/>
                </a:solidFill>
                <a:latin typeface="Century Gothic"/>
              </a:rPr>
              <a:t>Homework completed?  YES  /  NO</a:t>
            </a:r>
          </a:p>
        </p:txBody>
      </p:sp>
      <p:sp>
        <p:nvSpPr>
          <p:cNvPr id="13" name="Rounded Rectangle 12"/>
          <p:cNvSpPr/>
          <p:nvPr/>
        </p:nvSpPr>
        <p:spPr>
          <a:xfrm>
            <a:off x="6245352" y="4251960"/>
            <a:ext cx="5486400" cy="128016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4251960"/>
            <a:ext cx="4937760" cy="1280160"/>
          </a:xfrm>
          <a:prstGeom prst="rect">
            <a:avLst/>
          </a:prstGeom>
          <a:noFill/>
        </p:spPr>
        <p:txBody>
          <a:bodyPr wrap="square" anchor="ctr" lIns="45720" rIns="45720" tIns="27432" bIns="27432">
            <a:spAutoFit/>
          </a:bodyPr>
          <a:lstStyle/>
          <a:p>
            <a:pPr algn="l">
              <a:lnSpc>
                <a:spcPct val="100000"/>
              </a:lnSpc>
            </a:pPr>
            <a:r>
              <a:rPr sz="1800" b="1" i="0">
                <a:solidFill>
                  <a:srgbClr val="FFFFFF"/>
                </a:solidFill>
                <a:latin typeface="Century Gothic"/>
              </a:rPr>
              <a:t>Homework sheet + printed reading on top of your desk.</a:t>
            </a:r>
          </a:p>
        </p:txBody>
      </p:sp>
      <p:sp>
        <p:nvSpPr>
          <p:cNvPr id="15" name="Rounded Rectangle 14"/>
          <p:cNvSpPr/>
          <p:nvPr/>
        </p:nvSpPr>
        <p:spPr>
          <a:xfrm>
            <a:off x="457200" y="5806440"/>
            <a:ext cx="2194560" cy="347472"/>
          </a:xfrm>
          <a:prstGeom prst="roundRect">
            <a:avLst>
              <a:gd name="adj" fmla="val 50000"/>
            </a:avLst>
          </a:prstGeom>
          <a:solidFill>
            <a:srgbClr val="FFC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5806440"/>
            <a:ext cx="2194560" cy="347472"/>
          </a:xfrm>
          <a:prstGeom prst="rect">
            <a:avLst/>
          </a:prstGeom>
          <a:noFill/>
        </p:spPr>
        <p:txBody>
          <a:bodyPr wrap="square" anchor="ctr" lIns="45720" rIns="45720" tIns="27432" bIns="27432">
            <a:spAutoFit/>
          </a:bodyPr>
          <a:lstStyle/>
          <a:p>
            <a:pPr algn="ctr">
              <a:lnSpc>
                <a:spcPct val="100000"/>
              </a:lnSpc>
            </a:pPr>
            <a:r>
              <a:rPr sz="1100" b="1" i="0">
                <a:solidFill>
                  <a:srgbClr val="3A2A00"/>
                </a:solidFill>
                <a:latin typeface="Century Gothic"/>
              </a:rPr>
              <a:t>5:00 · SILENT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3</a:t>
            </a:r>
          </a:p>
        </p:txBody>
      </p:sp>
      <p:sp>
        <p:nvSpPr>
          <p:cNvPr id="3" name="Oval 2"/>
          <p:cNvSpPr/>
          <p:nvPr/>
        </p:nvSpPr>
        <p:spPr>
          <a:xfrm>
            <a:off x="457200" y="566928"/>
            <a:ext cx="566928" cy="566928"/>
          </a:xfrm>
          <a:prstGeom prst="ellipse">
            <a:avLst/>
          </a:prstGeom>
          <a:solidFill>
            <a:srgbClr val="FFFFFF"/>
          </a:solidFill>
          <a:ln w="38100">
            <a:solidFill>
              <a:srgbClr val="2A56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2A56B5"/>
                </a:solidFill>
                <a:latin typeface="Century Gothic"/>
              </a:rPr>
              <a:t>↺</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Last Night’s Reading</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Fix or add to your homework while we talk.</a:t>
            </a:r>
          </a:p>
        </p:txBody>
      </p:sp>
      <p:sp>
        <p:nvSpPr>
          <p:cNvPr id="7" name="Rounded Rectangle 6"/>
          <p:cNvSpPr/>
          <p:nvPr/>
        </p:nvSpPr>
        <p:spPr>
          <a:xfrm>
            <a:off x="8668512" y="566928"/>
            <a:ext cx="3063240" cy="347472"/>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HOMEWORK · pp. 3–22</a:t>
            </a:r>
          </a:p>
        </p:txBody>
      </p:sp>
      <p:sp>
        <p:nvSpPr>
          <p:cNvPr id="9" name="Oval 8"/>
          <p:cNvSpPr/>
          <p:nvPr/>
        </p:nvSpPr>
        <p:spPr>
          <a:xfrm>
            <a:off x="457200" y="1655064"/>
            <a:ext cx="420624" cy="420624"/>
          </a:xfrm>
          <a:prstGeom prst="ellipse">
            <a:avLst/>
          </a:prstGeom>
          <a:solidFill>
            <a:srgbClr val="3B7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55064"/>
            <a:ext cx="420624" cy="420624"/>
          </a:xfrm>
          <a:prstGeom prst="rect">
            <a:avLst/>
          </a:prstGeom>
          <a:noFill/>
        </p:spPr>
        <p:txBody>
          <a:bodyPr wrap="square" anchor="ctr" lIns="45720" rIns="45720" tIns="27432" bIns="27432">
            <a:spAutoFit/>
          </a:bodyPr>
          <a:lstStyle/>
          <a:p>
            <a:pPr algn="ctr">
              <a:lnSpc>
                <a:spcPct val="100000"/>
              </a:lnSpc>
            </a:pPr>
            <a:r>
              <a:rPr sz="1400" b="1" i="0">
                <a:solidFill>
                  <a:srgbClr val="FFFFFF"/>
                </a:solidFill>
                <a:latin typeface="Century Gothic"/>
              </a:rPr>
              <a:t>1</a:t>
            </a:r>
          </a:p>
        </p:txBody>
      </p:sp>
      <p:sp>
        <p:nvSpPr>
          <p:cNvPr id="11" name="TextBox 10"/>
          <p:cNvSpPr txBox="1"/>
          <p:nvPr/>
        </p:nvSpPr>
        <p:spPr>
          <a:xfrm>
            <a:off x="1005840" y="1600200"/>
            <a:ext cx="10515600" cy="548640"/>
          </a:xfrm>
          <a:prstGeom prst="rect">
            <a:avLst/>
          </a:prstGeom>
          <a:noFill/>
        </p:spPr>
        <p:txBody>
          <a:bodyPr wrap="square" anchor="ctr" lIns="45720" rIns="45720" tIns="27432" bIns="27432">
            <a:spAutoFit/>
          </a:bodyPr>
          <a:lstStyle/>
          <a:p>
            <a:pPr algn="l">
              <a:lnSpc>
                <a:spcPct val="100000"/>
              </a:lnSpc>
            </a:pPr>
            <a:r>
              <a:rPr sz="2100" b="0" i="0">
                <a:solidFill>
                  <a:srgbClr val="1E2A32"/>
                </a:solidFill>
                <a:latin typeface="Century Gothic"/>
              </a:rPr>
              <a:t>What happened to Moishe?</a:t>
            </a:r>
          </a:p>
        </p:txBody>
      </p:sp>
      <p:sp>
        <p:nvSpPr>
          <p:cNvPr id="12" name="Oval 11"/>
          <p:cNvSpPr/>
          <p:nvPr/>
        </p:nvSpPr>
        <p:spPr>
          <a:xfrm>
            <a:off x="457200" y="2276856"/>
            <a:ext cx="420624" cy="420624"/>
          </a:xfrm>
          <a:prstGeom prst="ellipse">
            <a:avLst/>
          </a:prstGeom>
          <a:solidFill>
            <a:srgbClr val="3B7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276856"/>
            <a:ext cx="420624" cy="420624"/>
          </a:xfrm>
          <a:prstGeom prst="rect">
            <a:avLst/>
          </a:prstGeom>
          <a:noFill/>
        </p:spPr>
        <p:txBody>
          <a:bodyPr wrap="square" anchor="ctr" lIns="45720" rIns="45720" tIns="27432" bIns="27432">
            <a:spAutoFit/>
          </a:bodyPr>
          <a:lstStyle/>
          <a:p>
            <a:pPr algn="ctr">
              <a:lnSpc>
                <a:spcPct val="100000"/>
              </a:lnSpc>
            </a:pPr>
            <a:r>
              <a:rPr sz="1400" b="1" i="0">
                <a:solidFill>
                  <a:srgbClr val="FFFFFF"/>
                </a:solidFill>
                <a:latin typeface="Century Gothic"/>
              </a:rPr>
              <a:t>2</a:t>
            </a:r>
          </a:p>
        </p:txBody>
      </p:sp>
      <p:sp>
        <p:nvSpPr>
          <p:cNvPr id="14" name="TextBox 13"/>
          <p:cNvSpPr txBox="1"/>
          <p:nvPr/>
        </p:nvSpPr>
        <p:spPr>
          <a:xfrm>
            <a:off x="1005840" y="2221992"/>
            <a:ext cx="10515600" cy="548640"/>
          </a:xfrm>
          <a:prstGeom prst="rect">
            <a:avLst/>
          </a:prstGeom>
          <a:noFill/>
        </p:spPr>
        <p:txBody>
          <a:bodyPr wrap="square" anchor="ctr" lIns="45720" rIns="45720" tIns="27432" bIns="27432">
            <a:spAutoFit/>
          </a:bodyPr>
          <a:lstStyle/>
          <a:p>
            <a:pPr algn="l">
              <a:lnSpc>
                <a:spcPct val="100000"/>
              </a:lnSpc>
            </a:pPr>
            <a:r>
              <a:rPr sz="2100" b="0" i="0">
                <a:solidFill>
                  <a:srgbClr val="1E2A32"/>
                </a:solidFill>
                <a:latin typeface="Century Gothic"/>
              </a:rPr>
              <a:t>What did he come back trying to do?</a:t>
            </a:r>
          </a:p>
        </p:txBody>
      </p:sp>
      <p:sp>
        <p:nvSpPr>
          <p:cNvPr id="15" name="Oval 14"/>
          <p:cNvSpPr/>
          <p:nvPr/>
        </p:nvSpPr>
        <p:spPr>
          <a:xfrm>
            <a:off x="457200" y="2898648"/>
            <a:ext cx="420624" cy="420624"/>
          </a:xfrm>
          <a:prstGeom prst="ellipse">
            <a:avLst/>
          </a:prstGeom>
          <a:solidFill>
            <a:srgbClr val="3B7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898648"/>
            <a:ext cx="420624" cy="420624"/>
          </a:xfrm>
          <a:prstGeom prst="rect">
            <a:avLst/>
          </a:prstGeom>
          <a:noFill/>
        </p:spPr>
        <p:txBody>
          <a:bodyPr wrap="square" anchor="ctr" lIns="45720" rIns="45720" tIns="27432" bIns="27432">
            <a:spAutoFit/>
          </a:bodyPr>
          <a:lstStyle/>
          <a:p>
            <a:pPr algn="ctr">
              <a:lnSpc>
                <a:spcPct val="100000"/>
              </a:lnSpc>
            </a:pPr>
            <a:r>
              <a:rPr sz="1400" b="1" i="0">
                <a:solidFill>
                  <a:srgbClr val="FFFFFF"/>
                </a:solidFill>
                <a:latin typeface="Century Gothic"/>
              </a:rPr>
              <a:t>3</a:t>
            </a:r>
          </a:p>
        </p:txBody>
      </p:sp>
      <p:sp>
        <p:nvSpPr>
          <p:cNvPr id="17" name="TextBox 16"/>
          <p:cNvSpPr txBox="1"/>
          <p:nvPr/>
        </p:nvSpPr>
        <p:spPr>
          <a:xfrm>
            <a:off x="1005840" y="2843784"/>
            <a:ext cx="10515600" cy="548640"/>
          </a:xfrm>
          <a:prstGeom prst="rect">
            <a:avLst/>
          </a:prstGeom>
          <a:noFill/>
        </p:spPr>
        <p:txBody>
          <a:bodyPr wrap="square" anchor="ctr" lIns="45720" rIns="45720" tIns="27432" bIns="27432">
            <a:spAutoFit/>
          </a:bodyPr>
          <a:lstStyle/>
          <a:p>
            <a:pPr algn="l">
              <a:lnSpc>
                <a:spcPct val="100000"/>
              </a:lnSpc>
            </a:pPr>
            <a:r>
              <a:rPr sz="2100" b="0" i="0">
                <a:solidFill>
                  <a:srgbClr val="1E2A32"/>
                </a:solidFill>
                <a:latin typeface="Century Gothic"/>
              </a:rPr>
              <a:t>How did the people respond?</a:t>
            </a:r>
          </a:p>
        </p:txBody>
      </p:sp>
      <p:sp>
        <p:nvSpPr>
          <p:cNvPr id="18" name="Oval 17"/>
          <p:cNvSpPr/>
          <p:nvPr/>
        </p:nvSpPr>
        <p:spPr>
          <a:xfrm>
            <a:off x="457200" y="3520440"/>
            <a:ext cx="420624" cy="420624"/>
          </a:xfrm>
          <a:prstGeom prst="ellipse">
            <a:avLst/>
          </a:prstGeom>
          <a:solidFill>
            <a:srgbClr val="3B7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520440"/>
            <a:ext cx="420624" cy="420624"/>
          </a:xfrm>
          <a:prstGeom prst="rect">
            <a:avLst/>
          </a:prstGeom>
          <a:noFill/>
        </p:spPr>
        <p:txBody>
          <a:bodyPr wrap="square" anchor="ctr" lIns="45720" rIns="45720" tIns="27432" bIns="27432">
            <a:spAutoFit/>
          </a:bodyPr>
          <a:lstStyle/>
          <a:p>
            <a:pPr algn="ctr">
              <a:lnSpc>
                <a:spcPct val="100000"/>
              </a:lnSpc>
            </a:pPr>
            <a:r>
              <a:rPr sz="1400" b="1" i="0">
                <a:solidFill>
                  <a:srgbClr val="FFFFFF"/>
                </a:solidFill>
                <a:latin typeface="Century Gothic"/>
              </a:rPr>
              <a:t>4</a:t>
            </a:r>
          </a:p>
        </p:txBody>
      </p:sp>
      <p:sp>
        <p:nvSpPr>
          <p:cNvPr id="20" name="TextBox 19"/>
          <p:cNvSpPr txBox="1"/>
          <p:nvPr/>
        </p:nvSpPr>
        <p:spPr>
          <a:xfrm>
            <a:off x="1005840" y="3465576"/>
            <a:ext cx="10515600" cy="548640"/>
          </a:xfrm>
          <a:prstGeom prst="rect">
            <a:avLst/>
          </a:prstGeom>
          <a:noFill/>
        </p:spPr>
        <p:txBody>
          <a:bodyPr wrap="square" anchor="ctr" lIns="45720" rIns="45720" tIns="27432" bIns="27432">
            <a:spAutoFit/>
          </a:bodyPr>
          <a:lstStyle/>
          <a:p>
            <a:pPr algn="l">
              <a:lnSpc>
                <a:spcPct val="100000"/>
              </a:lnSpc>
            </a:pPr>
            <a:r>
              <a:rPr sz="2100" b="1" i="0">
                <a:solidFill>
                  <a:srgbClr val="1E2A32"/>
                </a:solidFill>
                <a:latin typeface="Century Gothic"/>
              </a:rPr>
              <a:t>WHY do you think they responded that way?</a:t>
            </a:r>
          </a:p>
        </p:txBody>
      </p:sp>
      <p:sp>
        <p:nvSpPr>
          <p:cNvPr id="21" name="Rounded Rectangle 20"/>
          <p:cNvSpPr/>
          <p:nvPr/>
        </p:nvSpPr>
        <p:spPr>
          <a:xfrm>
            <a:off x="457200" y="4343400"/>
            <a:ext cx="2057400" cy="914400"/>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343400"/>
            <a:ext cx="2057400" cy="914400"/>
          </a:xfrm>
          <a:prstGeom prst="rect">
            <a:avLst/>
          </a:prstGeom>
          <a:noFill/>
        </p:spPr>
        <p:txBody>
          <a:bodyPr wrap="square" anchor="ctr" lIns="45720" rIns="45720" tIns="27432" bIns="27432">
            <a:spAutoFit/>
          </a:bodyPr>
          <a:lstStyle/>
          <a:p>
            <a:pPr algn="ctr">
              <a:lnSpc>
                <a:spcPct val="100000"/>
              </a:lnSpc>
            </a:pPr>
            <a:r>
              <a:rPr sz="1500" b="1" i="0">
                <a:solidFill>
                  <a:srgbClr val="FFFFFF"/>
                </a:solidFill>
                <a:latin typeface="Century Gothic"/>
              </a:rPr>
              <a:t>Moishe’s warning</a:t>
            </a:r>
          </a:p>
        </p:txBody>
      </p:sp>
      <p:sp>
        <p:nvSpPr>
          <p:cNvPr id="23" name="TextBox 22"/>
          <p:cNvSpPr txBox="1"/>
          <p:nvPr/>
        </p:nvSpPr>
        <p:spPr>
          <a:xfrm>
            <a:off x="2487168" y="4343400"/>
            <a:ext cx="274320" cy="914400"/>
          </a:xfrm>
          <a:prstGeom prst="rect">
            <a:avLst/>
          </a:prstGeom>
          <a:noFill/>
        </p:spPr>
        <p:txBody>
          <a:bodyPr wrap="square" anchor="ctr" lIns="45720" rIns="45720" tIns="27432" bIns="27432">
            <a:spAutoFit/>
          </a:bodyPr>
          <a:lstStyle/>
          <a:p>
            <a:pPr algn="ctr">
              <a:lnSpc>
                <a:spcPct val="100000"/>
              </a:lnSpc>
            </a:pPr>
            <a:r>
              <a:rPr sz="2000" b="1" i="0">
                <a:solidFill>
                  <a:srgbClr val="1E2A32"/>
                </a:solidFill>
                <a:latin typeface="Century Gothic"/>
              </a:rPr>
              <a:t>→</a:t>
            </a:r>
          </a:p>
        </p:txBody>
      </p:sp>
      <p:sp>
        <p:nvSpPr>
          <p:cNvPr id="24" name="Rounded Rectangle 23"/>
          <p:cNvSpPr/>
          <p:nvPr/>
        </p:nvSpPr>
        <p:spPr>
          <a:xfrm>
            <a:off x="2743200" y="4343400"/>
            <a:ext cx="2057400" cy="914400"/>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0" y="4343400"/>
            <a:ext cx="2057400" cy="914400"/>
          </a:xfrm>
          <a:prstGeom prst="rect">
            <a:avLst/>
          </a:prstGeom>
          <a:noFill/>
        </p:spPr>
        <p:txBody>
          <a:bodyPr wrap="square" anchor="ctr" lIns="45720" rIns="45720" tIns="27432" bIns="27432">
            <a:spAutoFit/>
          </a:bodyPr>
          <a:lstStyle/>
          <a:p>
            <a:pPr algn="ctr">
              <a:lnSpc>
                <a:spcPct val="100000"/>
              </a:lnSpc>
            </a:pPr>
            <a:r>
              <a:rPr sz="1500" b="1" i="0">
                <a:solidFill>
                  <a:srgbClr val="FFFFFF"/>
                </a:solidFill>
                <a:latin typeface="Century Gothic"/>
              </a:rPr>
              <a:t>Danger grows outside</a:t>
            </a:r>
          </a:p>
        </p:txBody>
      </p:sp>
      <p:sp>
        <p:nvSpPr>
          <p:cNvPr id="26" name="TextBox 25"/>
          <p:cNvSpPr txBox="1"/>
          <p:nvPr/>
        </p:nvSpPr>
        <p:spPr>
          <a:xfrm>
            <a:off x="4773168" y="4343400"/>
            <a:ext cx="274320" cy="914400"/>
          </a:xfrm>
          <a:prstGeom prst="rect">
            <a:avLst/>
          </a:prstGeom>
          <a:noFill/>
        </p:spPr>
        <p:txBody>
          <a:bodyPr wrap="square" anchor="ctr" lIns="45720" rIns="45720" tIns="27432" bIns="27432">
            <a:spAutoFit/>
          </a:bodyPr>
          <a:lstStyle/>
          <a:p>
            <a:pPr algn="ctr">
              <a:lnSpc>
                <a:spcPct val="100000"/>
              </a:lnSpc>
            </a:pPr>
            <a:r>
              <a:rPr sz="2000" b="1" i="0">
                <a:solidFill>
                  <a:srgbClr val="1E2A32"/>
                </a:solidFill>
                <a:latin typeface="Century Gothic"/>
              </a:rPr>
              <a:t>→</a:t>
            </a:r>
          </a:p>
        </p:txBody>
      </p:sp>
      <p:sp>
        <p:nvSpPr>
          <p:cNvPr id="27" name="Rounded Rectangle 26"/>
          <p:cNvSpPr/>
          <p:nvPr/>
        </p:nvSpPr>
        <p:spPr>
          <a:xfrm>
            <a:off x="5029200" y="4343400"/>
            <a:ext cx="2057400" cy="91440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0" y="4343400"/>
            <a:ext cx="2057400" cy="914400"/>
          </a:xfrm>
          <a:prstGeom prst="rect">
            <a:avLst/>
          </a:prstGeom>
          <a:noFill/>
        </p:spPr>
        <p:txBody>
          <a:bodyPr wrap="square" anchor="ctr" lIns="45720" rIns="45720" tIns="27432" bIns="27432">
            <a:spAutoFit/>
          </a:bodyPr>
          <a:lstStyle/>
          <a:p>
            <a:pPr algn="ctr">
              <a:lnSpc>
                <a:spcPct val="100000"/>
              </a:lnSpc>
            </a:pPr>
            <a:r>
              <a:rPr sz="1500" b="1" i="0">
                <a:solidFill>
                  <a:srgbClr val="FFFFFF"/>
                </a:solidFill>
                <a:latin typeface="Century Gothic"/>
              </a:rPr>
              <a:t>German soldiers arrive</a:t>
            </a:r>
          </a:p>
        </p:txBody>
      </p:sp>
      <p:sp>
        <p:nvSpPr>
          <p:cNvPr id="29" name="TextBox 28"/>
          <p:cNvSpPr txBox="1"/>
          <p:nvPr/>
        </p:nvSpPr>
        <p:spPr>
          <a:xfrm>
            <a:off x="7059168" y="4343400"/>
            <a:ext cx="274320" cy="914400"/>
          </a:xfrm>
          <a:prstGeom prst="rect">
            <a:avLst/>
          </a:prstGeom>
          <a:noFill/>
        </p:spPr>
        <p:txBody>
          <a:bodyPr wrap="square" anchor="ctr" lIns="45720" rIns="45720" tIns="27432" bIns="27432">
            <a:spAutoFit/>
          </a:bodyPr>
          <a:lstStyle/>
          <a:p>
            <a:pPr algn="ctr">
              <a:lnSpc>
                <a:spcPct val="100000"/>
              </a:lnSpc>
            </a:pPr>
            <a:r>
              <a:rPr sz="2000" b="1" i="0">
                <a:solidFill>
                  <a:srgbClr val="1E2A32"/>
                </a:solidFill>
                <a:latin typeface="Century Gothic"/>
              </a:rPr>
              <a:t>→</a:t>
            </a:r>
          </a:p>
        </p:txBody>
      </p:sp>
      <p:sp>
        <p:nvSpPr>
          <p:cNvPr id="30" name="Rounded Rectangle 29"/>
          <p:cNvSpPr/>
          <p:nvPr/>
        </p:nvSpPr>
        <p:spPr>
          <a:xfrm>
            <a:off x="7315200" y="4343400"/>
            <a:ext cx="2057400" cy="91440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0" y="4343400"/>
            <a:ext cx="2057400" cy="914400"/>
          </a:xfrm>
          <a:prstGeom prst="rect">
            <a:avLst/>
          </a:prstGeom>
          <a:noFill/>
        </p:spPr>
        <p:txBody>
          <a:bodyPr wrap="square" anchor="ctr" lIns="45720" rIns="45720" tIns="27432" bIns="27432">
            <a:spAutoFit/>
          </a:bodyPr>
          <a:lstStyle/>
          <a:p>
            <a:pPr algn="ctr">
              <a:lnSpc>
                <a:spcPct val="100000"/>
              </a:lnSpc>
            </a:pPr>
            <a:r>
              <a:rPr sz="1500" b="1" i="0">
                <a:solidFill>
                  <a:srgbClr val="FFFFFF"/>
                </a:solidFill>
                <a:latin typeface="Century Gothic"/>
              </a:rPr>
              <a:t>Restrictions</a:t>
            </a:r>
          </a:p>
        </p:txBody>
      </p:sp>
      <p:sp>
        <p:nvSpPr>
          <p:cNvPr id="32" name="TextBox 31"/>
          <p:cNvSpPr txBox="1"/>
          <p:nvPr/>
        </p:nvSpPr>
        <p:spPr>
          <a:xfrm>
            <a:off x="9345168" y="4343400"/>
            <a:ext cx="274320" cy="914400"/>
          </a:xfrm>
          <a:prstGeom prst="rect">
            <a:avLst/>
          </a:prstGeom>
          <a:noFill/>
        </p:spPr>
        <p:txBody>
          <a:bodyPr wrap="square" anchor="ctr" lIns="45720" rIns="45720" tIns="27432" bIns="27432">
            <a:spAutoFit/>
          </a:bodyPr>
          <a:lstStyle/>
          <a:p>
            <a:pPr algn="ctr">
              <a:lnSpc>
                <a:spcPct val="100000"/>
              </a:lnSpc>
            </a:pPr>
            <a:r>
              <a:rPr sz="2000" b="1" i="0">
                <a:solidFill>
                  <a:srgbClr val="1E2A32"/>
                </a:solidFill>
                <a:latin typeface="Century Gothic"/>
              </a:rPr>
              <a:t>→</a:t>
            </a:r>
          </a:p>
        </p:txBody>
      </p:sp>
      <p:sp>
        <p:nvSpPr>
          <p:cNvPr id="33" name="Rounded Rectangle 32"/>
          <p:cNvSpPr/>
          <p:nvPr/>
        </p:nvSpPr>
        <p:spPr>
          <a:xfrm>
            <a:off x="9601200" y="4343400"/>
            <a:ext cx="2057400" cy="914400"/>
          </a:xfrm>
          <a:prstGeom prst="roundRect">
            <a:avLst>
              <a:gd name="adj" fmla="val 8000"/>
            </a:avLst>
          </a:prstGeom>
          <a:solidFill>
            <a:srgbClr val="FF6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0" y="4343400"/>
            <a:ext cx="2057400" cy="914400"/>
          </a:xfrm>
          <a:prstGeom prst="rect">
            <a:avLst/>
          </a:prstGeom>
          <a:noFill/>
        </p:spPr>
        <p:txBody>
          <a:bodyPr wrap="square" anchor="ctr" lIns="45720" rIns="45720" tIns="27432" bIns="27432">
            <a:spAutoFit/>
          </a:bodyPr>
          <a:lstStyle/>
          <a:p>
            <a:pPr algn="ctr">
              <a:lnSpc>
                <a:spcPct val="100000"/>
              </a:lnSpc>
            </a:pPr>
            <a:r>
              <a:rPr sz="1500" b="1" i="0">
                <a:solidFill>
                  <a:srgbClr val="FFFFFF"/>
                </a:solidFill>
                <a:latin typeface="Century Gothic"/>
              </a:rPr>
              <a:t>Ghettos</a:t>
            </a:r>
          </a:p>
        </p:txBody>
      </p:sp>
      <p:sp>
        <p:nvSpPr>
          <p:cNvPr id="35" name="TextBox 34"/>
          <p:cNvSpPr txBox="1"/>
          <p:nvPr/>
        </p:nvSpPr>
        <p:spPr>
          <a:xfrm>
            <a:off x="457200" y="5440680"/>
            <a:ext cx="11274552" cy="731520"/>
          </a:xfrm>
          <a:prstGeom prst="rect">
            <a:avLst/>
          </a:prstGeom>
          <a:noFill/>
        </p:spPr>
        <p:txBody>
          <a:bodyPr wrap="square" anchor="t" lIns="45720" rIns="45720" tIns="27432" bIns="27432">
            <a:spAutoFit/>
          </a:bodyPr>
          <a:lstStyle/>
          <a:p>
            <a:pPr algn="l">
              <a:lnSpc>
                <a:spcPct val="100000"/>
              </a:lnSpc>
            </a:pPr>
            <a:r>
              <a:rPr sz="2000" b="1" i="0">
                <a:solidFill>
                  <a:srgbClr val="5A6B75"/>
                </a:solidFill>
                <a:latin typeface="Century Gothic"/>
              </a:rPr>
              <a:t>Every step is closer. Watch what the town does at every step.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4</a:t>
            </a:r>
          </a:p>
        </p:txBody>
      </p:sp>
      <p:sp>
        <p:nvSpPr>
          <p:cNvPr id="3" name="Oval 2"/>
          <p:cNvSpPr/>
          <p:nvPr/>
        </p:nvSpPr>
        <p:spPr>
          <a:xfrm>
            <a:off x="457200" y="566928"/>
            <a:ext cx="566928" cy="566928"/>
          </a:xfrm>
          <a:prstGeom prst="ellipse">
            <a:avLst/>
          </a:prstGeom>
          <a:solidFill>
            <a:srgbClr val="FFFFFF"/>
          </a:solidFill>
          <a:ln w="38100">
            <a:solidFill>
              <a:srgbClr val="2A56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2A56B5"/>
                </a:solidFill>
                <a:latin typeface="Century Gothic"/>
              </a:rPr>
              <a:t>02</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From Play to Memoir</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Same history. A different way of telling it.</a:t>
            </a:r>
          </a:p>
        </p:txBody>
      </p:sp>
      <p:sp>
        <p:nvSpPr>
          <p:cNvPr id="7" name="Rounded Rectangle 6"/>
          <p:cNvSpPr/>
          <p:nvPr/>
        </p:nvSpPr>
        <p:spPr>
          <a:xfrm>
            <a:off x="8668512" y="566928"/>
            <a:ext cx="3063240" cy="347472"/>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1 · BOX 02</a:t>
            </a:r>
          </a:p>
        </p:txBody>
      </p:sp>
      <p:sp>
        <p:nvSpPr>
          <p:cNvPr id="9" name="Rounded Rectangle 8"/>
          <p:cNvSpPr/>
          <p:nvPr/>
        </p:nvSpPr>
        <p:spPr>
          <a:xfrm>
            <a:off x="457200" y="1600200"/>
            <a:ext cx="5486400" cy="2743200"/>
          </a:xfrm>
          <a:prstGeom prst="roundRect">
            <a:avLst>
              <a:gd name="adj" fmla="val 8000"/>
            </a:avLst>
          </a:prstGeom>
          <a:solidFill>
            <a:srgbClr val="EE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37360"/>
            <a:ext cx="4937760" cy="457200"/>
          </a:xfrm>
          <a:prstGeom prst="rect">
            <a:avLst/>
          </a:prstGeom>
          <a:noFill/>
        </p:spPr>
        <p:txBody>
          <a:bodyPr wrap="square" anchor="t" lIns="45720" rIns="45720" tIns="27432" bIns="27432">
            <a:spAutoFit/>
          </a:bodyPr>
          <a:lstStyle/>
          <a:p>
            <a:pPr algn="l">
              <a:lnSpc>
                <a:spcPct val="100000"/>
              </a:lnSpc>
            </a:pPr>
            <a:r>
              <a:rPr sz="2400" b="1" i="0">
                <a:solidFill>
                  <a:srgbClr val="5A6B75"/>
                </a:solidFill>
                <a:latin typeface="Century Gothic"/>
              </a:rPr>
              <a:t>PLAY</a:t>
            </a:r>
          </a:p>
        </p:txBody>
      </p:sp>
      <p:sp>
        <p:nvSpPr>
          <p:cNvPr id="11" name="TextBox 10"/>
          <p:cNvSpPr txBox="1"/>
          <p:nvPr/>
        </p:nvSpPr>
        <p:spPr>
          <a:xfrm>
            <a:off x="777240" y="2286000"/>
            <a:ext cx="4937760" cy="1920240"/>
          </a:xfrm>
          <a:prstGeom prst="rect">
            <a:avLst/>
          </a:prstGeom>
          <a:noFill/>
        </p:spPr>
        <p:txBody>
          <a:bodyPr wrap="square" anchor="t" lIns="45720" rIns="45720" tIns="27432" bIns="27432">
            <a:spAutoFit/>
          </a:bodyPr>
          <a:lstStyle/>
          <a:p>
            <a:pPr algn="l">
              <a:lnSpc>
                <a:spcPct val="100000"/>
              </a:lnSpc>
            </a:pPr>
            <a:r>
              <a:rPr sz="1800" b="0" i="0">
                <a:solidFill>
                  <a:srgbClr val="1E2A32"/>
                </a:solidFill>
                <a:latin typeface="Century Gothic"/>
              </a:rPr>
              <a:t>Playwrights shape a story for an audience. We experience characters from the outside: dialogue, stage directions, performance.</a:t>
            </a:r>
          </a:p>
        </p:txBody>
      </p:sp>
      <p:sp>
        <p:nvSpPr>
          <p:cNvPr id="12" name="Rounded Rectangle 11"/>
          <p:cNvSpPr/>
          <p:nvPr/>
        </p:nvSpPr>
        <p:spPr>
          <a:xfrm>
            <a:off x="6245352" y="1600200"/>
            <a:ext cx="5486400" cy="274320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5392" y="1737360"/>
            <a:ext cx="4937760" cy="457200"/>
          </a:xfrm>
          <a:prstGeom prst="rect">
            <a:avLst/>
          </a:prstGeom>
          <a:noFill/>
        </p:spPr>
        <p:txBody>
          <a:bodyPr wrap="square" anchor="t" lIns="45720" rIns="45720" tIns="27432" bIns="27432">
            <a:spAutoFit/>
          </a:bodyPr>
          <a:lstStyle/>
          <a:p>
            <a:pPr algn="l">
              <a:lnSpc>
                <a:spcPct val="100000"/>
              </a:lnSpc>
            </a:pPr>
            <a:r>
              <a:rPr sz="2400" b="1" i="0">
                <a:solidFill>
                  <a:srgbClr val="2A56B5"/>
                </a:solidFill>
                <a:latin typeface="Century Gothic"/>
              </a:rPr>
              <a:t>MEMOIR</a:t>
            </a:r>
          </a:p>
        </p:txBody>
      </p:sp>
      <p:sp>
        <p:nvSpPr>
          <p:cNvPr id="14" name="TextBox 13"/>
          <p:cNvSpPr txBox="1"/>
          <p:nvPr/>
        </p:nvSpPr>
        <p:spPr>
          <a:xfrm>
            <a:off x="6565392" y="2286000"/>
            <a:ext cx="4937760" cy="1920240"/>
          </a:xfrm>
          <a:prstGeom prst="rect">
            <a:avLst/>
          </a:prstGeom>
          <a:noFill/>
        </p:spPr>
        <p:txBody>
          <a:bodyPr wrap="square" anchor="t" lIns="45720" rIns="45720" tIns="27432" bIns="27432">
            <a:spAutoFit/>
          </a:bodyPr>
          <a:lstStyle/>
          <a:p>
            <a:pPr algn="l">
              <a:lnSpc>
                <a:spcPct val="100000"/>
              </a:lnSpc>
            </a:pPr>
            <a:r>
              <a:rPr sz="1800" b="0" i="0">
                <a:solidFill>
                  <a:srgbClr val="1E2A32"/>
                </a:solidFill>
                <a:latin typeface="Century Gothic"/>
              </a:rPr>
              <a:t>A survivor tells his own lived experience through memory and purpose. We are inside the narrator’s perspective.</a:t>
            </a:r>
          </a:p>
        </p:txBody>
      </p:sp>
      <p:sp>
        <p:nvSpPr>
          <p:cNvPr id="15" name="Rounded Rectangle 14"/>
          <p:cNvSpPr/>
          <p:nvPr/>
        </p:nvSpPr>
        <p:spPr>
          <a:xfrm>
            <a:off x="457200" y="4617720"/>
            <a:ext cx="11274552" cy="146304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617720"/>
            <a:ext cx="10698480" cy="1463040"/>
          </a:xfrm>
          <a:prstGeom prst="rect">
            <a:avLst/>
          </a:prstGeom>
          <a:noFill/>
        </p:spPr>
        <p:txBody>
          <a:bodyPr wrap="square" anchor="ctr" lIns="45720" rIns="45720" tIns="27432" bIns="27432">
            <a:spAutoFit/>
          </a:bodyPr>
          <a:lstStyle/>
          <a:p>
            <a:pPr algn="l">
              <a:lnSpc>
                <a:spcPct val="100000"/>
              </a:lnSpc>
            </a:pPr>
            <a:r>
              <a:rPr sz="2600" b="1" i="0">
                <a:solidFill>
                  <a:srgbClr val="FFFFFF"/>
                </a:solidFill>
                <a:latin typeface="Century Gothic"/>
              </a:rPr>
              <a:t>What can a memoir give us that a play </a:t>
            </a:r>
            <a:r>
              <a:rPr sz="2600" b="1" i="0">
                <a:solidFill>
                  <a:srgbClr val="FFC63C"/>
                </a:solidFill>
                <a:latin typeface="Century Gothic"/>
              </a:rPr>
              <a:t>cannot</a:t>
            </a:r>
            <a:r>
              <a:rPr sz="2600" b="1" i="0">
                <a:solidFill>
                  <a:srgbClr val="FFFFFF"/>
                </a:solidFill>
                <a:latin typeface="Century Gothic"/>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A32"/>
        </a:solidFill>
        <a:effectLst/>
      </p:bgPr>
    </p:bg>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5</a:t>
            </a:r>
          </a:p>
        </p:txBody>
      </p:sp>
      <p:sp>
        <p:nvSpPr>
          <p:cNvPr id="3" name="Oval 2"/>
          <p:cNvSpPr/>
          <p:nvPr/>
        </p:nvSpPr>
        <p:spPr>
          <a:xfrm>
            <a:off x="457200" y="566928"/>
            <a:ext cx="566928" cy="566928"/>
          </a:xfrm>
          <a:prstGeom prst="ellipse">
            <a:avLst/>
          </a:prstGeom>
          <a:solidFill>
            <a:srgbClr val="FFFFFF"/>
          </a:solidFill>
          <a:ln w="38100">
            <a:solidFill>
              <a:srgbClr val="FFC6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FFC63C"/>
                </a:solidFill>
                <a:latin typeface="Century Gothic"/>
              </a:rPr>
              <a:t>◎</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FFFFFF"/>
                </a:solidFill>
                <a:latin typeface="Century Gothic"/>
              </a:rPr>
              <a:t>Today’s Two Lenses</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C9D4DA"/>
                </a:solidFill>
                <a:latin typeface="Century Gothic"/>
              </a:rPr>
              <a:t>Track two things in the opening of Night.</a:t>
            </a:r>
          </a:p>
        </p:txBody>
      </p:sp>
      <p:sp>
        <p:nvSpPr>
          <p:cNvPr id="7" name="Rounded Rectangle 6"/>
          <p:cNvSpPr/>
          <p:nvPr/>
        </p:nvSpPr>
        <p:spPr>
          <a:xfrm>
            <a:off x="457200" y="1645920"/>
            <a:ext cx="5486400" cy="2926080"/>
          </a:xfrm>
          <a:prstGeom prst="roundRect">
            <a:avLst>
              <a:gd name="adj" fmla="val 8000"/>
            </a:avLst>
          </a:prstGeom>
          <a:solidFill>
            <a:srgbClr val="00A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4937760" cy="365760"/>
          </a:xfrm>
          <a:prstGeom prst="rect">
            <a:avLst/>
          </a:prstGeom>
          <a:noFill/>
        </p:spPr>
        <p:txBody>
          <a:bodyPr wrap="square" anchor="t" lIns="45720" rIns="45720" tIns="27432" bIns="27432">
            <a:spAutoFit/>
          </a:bodyPr>
          <a:lstStyle/>
          <a:p>
            <a:pPr algn="l">
              <a:lnSpc>
                <a:spcPct val="100000"/>
              </a:lnSpc>
            </a:pPr>
            <a:r>
              <a:rPr sz="1400" b="1" i="0">
                <a:solidFill>
                  <a:srgbClr val="FFFFFF"/>
                </a:solidFill>
                <a:latin typeface="Century Gothic"/>
              </a:rPr>
              <a:t>LENS 1 · ABOUT PEOPLE</a:t>
            </a:r>
          </a:p>
        </p:txBody>
      </p:sp>
      <p:sp>
        <p:nvSpPr>
          <p:cNvPr id="9" name="TextBox 8"/>
          <p:cNvSpPr txBox="1"/>
          <p:nvPr/>
        </p:nvSpPr>
        <p:spPr>
          <a:xfrm>
            <a:off x="777240" y="2240280"/>
            <a:ext cx="4937760" cy="2194560"/>
          </a:xfrm>
          <a:prstGeom prst="rect">
            <a:avLst/>
          </a:prstGeom>
          <a:noFill/>
        </p:spPr>
        <p:txBody>
          <a:bodyPr wrap="square" anchor="t" lIns="45720" rIns="45720" tIns="27432" bIns="27432">
            <a:spAutoFit/>
          </a:bodyPr>
          <a:lstStyle/>
          <a:p>
            <a:pPr algn="l">
              <a:lnSpc>
                <a:spcPct val="100000"/>
              </a:lnSpc>
            </a:pPr>
            <a:r>
              <a:rPr sz="2400" b="1" i="0">
                <a:solidFill>
                  <a:srgbClr val="FFFFFF"/>
                </a:solidFill>
                <a:latin typeface="Century Gothic"/>
              </a:rPr>
              <a:t>How does this town respond every time danger gets closer?</a:t>
            </a:r>
          </a:p>
        </p:txBody>
      </p:sp>
      <p:sp>
        <p:nvSpPr>
          <p:cNvPr id="10" name="Rounded Rectangle 9"/>
          <p:cNvSpPr/>
          <p:nvPr/>
        </p:nvSpPr>
        <p:spPr>
          <a:xfrm>
            <a:off x="6245352" y="1645920"/>
            <a:ext cx="5486400" cy="292608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65392" y="1783080"/>
            <a:ext cx="4937760" cy="365760"/>
          </a:xfrm>
          <a:prstGeom prst="rect">
            <a:avLst/>
          </a:prstGeom>
          <a:noFill/>
        </p:spPr>
        <p:txBody>
          <a:bodyPr wrap="square" anchor="t" lIns="45720" rIns="45720" tIns="27432" bIns="27432">
            <a:spAutoFit/>
          </a:bodyPr>
          <a:lstStyle/>
          <a:p>
            <a:pPr algn="l">
              <a:lnSpc>
                <a:spcPct val="100000"/>
              </a:lnSpc>
            </a:pPr>
            <a:r>
              <a:rPr sz="1400" b="1" i="0">
                <a:solidFill>
                  <a:srgbClr val="FFFFFF"/>
                </a:solidFill>
                <a:latin typeface="Century Gothic"/>
              </a:rPr>
              <a:t>LENS 2 · ABOUT LANGUAGE</a:t>
            </a:r>
          </a:p>
        </p:txBody>
      </p:sp>
      <p:sp>
        <p:nvSpPr>
          <p:cNvPr id="12" name="TextBox 11"/>
          <p:cNvSpPr txBox="1"/>
          <p:nvPr/>
        </p:nvSpPr>
        <p:spPr>
          <a:xfrm>
            <a:off x="6565392" y="2240280"/>
            <a:ext cx="4937760" cy="2194560"/>
          </a:xfrm>
          <a:prstGeom prst="rect">
            <a:avLst/>
          </a:prstGeom>
          <a:noFill/>
        </p:spPr>
        <p:txBody>
          <a:bodyPr wrap="square" anchor="t" lIns="45720" rIns="45720" tIns="27432" bIns="27432">
            <a:spAutoFit/>
          </a:bodyPr>
          <a:lstStyle/>
          <a:p>
            <a:pPr algn="l">
              <a:lnSpc>
                <a:spcPct val="100000"/>
              </a:lnSpc>
            </a:pPr>
            <a:r>
              <a:rPr sz="2400" b="1" i="0">
                <a:solidFill>
                  <a:srgbClr val="FFFFFF"/>
                </a:solidFill>
                <a:latin typeface="Century Gothic"/>
              </a:rPr>
              <a:t>What does Wiesel begin doing with the word “night”?</a:t>
            </a:r>
          </a:p>
        </p:txBody>
      </p:sp>
      <p:sp>
        <p:nvSpPr>
          <p:cNvPr id="13" name="TextBox 12"/>
          <p:cNvSpPr txBox="1"/>
          <p:nvPr/>
        </p:nvSpPr>
        <p:spPr>
          <a:xfrm>
            <a:off x="457200" y="4937760"/>
            <a:ext cx="11274552" cy="1097280"/>
          </a:xfrm>
          <a:prstGeom prst="rect">
            <a:avLst/>
          </a:prstGeom>
          <a:noFill/>
        </p:spPr>
        <p:txBody>
          <a:bodyPr wrap="square" anchor="ctr" lIns="45720" rIns="45720" tIns="27432" bIns="27432">
            <a:spAutoFit/>
          </a:bodyPr>
          <a:lstStyle/>
          <a:p>
            <a:pPr algn="ctr">
              <a:lnSpc>
                <a:spcPct val="100000"/>
              </a:lnSpc>
            </a:pPr>
            <a:r>
              <a:rPr sz="2600" b="1" i="0">
                <a:solidFill>
                  <a:srgbClr val="FFC63C"/>
                </a:solidFill>
                <a:latin typeface="Century Gothic"/>
              </a:rPr>
              <a:t>One is about people. One is about language. Both tell us what is coming.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6</a:t>
            </a:r>
          </a:p>
        </p:txBody>
      </p:sp>
      <p:sp>
        <p:nvSpPr>
          <p:cNvPr id="3" name="Oval 2"/>
          <p:cNvSpPr/>
          <p:nvPr/>
        </p:nvSpPr>
        <p:spPr>
          <a:xfrm>
            <a:off x="457200" y="566928"/>
            <a:ext cx="566928" cy="566928"/>
          </a:xfrm>
          <a:prstGeom prst="ellipse">
            <a:avLst/>
          </a:prstGeom>
          <a:solidFill>
            <a:srgbClr val="FFFFFF"/>
          </a:solidFill>
          <a:ln w="38100">
            <a:solidFill>
              <a:srgbClr val="007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007A73"/>
                </a:solidFill>
                <a:latin typeface="Century Gothic"/>
              </a:rPr>
              <a:t>W</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Reread · Moishe’s Warning</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Printed reading pp. 5–7. Read slowly. Mark the margin.</a:t>
            </a:r>
          </a:p>
        </p:txBody>
      </p:sp>
      <p:sp>
        <p:nvSpPr>
          <p:cNvPr id="7" name="Rounded Rectangle 6"/>
          <p:cNvSpPr/>
          <p:nvPr/>
        </p:nvSpPr>
        <p:spPr>
          <a:xfrm>
            <a:off x="8668512" y="566928"/>
            <a:ext cx="3063240" cy="347472"/>
          </a:xfrm>
          <a:prstGeom prst="roundRect">
            <a:avLst>
              <a:gd name="adj" fmla="val 8000"/>
            </a:avLst>
          </a:prstGeom>
          <a:solidFill>
            <a:srgbClr val="00A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READING pp. 5–7</a:t>
            </a:r>
          </a:p>
        </p:txBody>
      </p:sp>
      <p:sp>
        <p:nvSpPr>
          <p:cNvPr id="9" name="Rounded Rectangle 8"/>
          <p:cNvSpPr/>
          <p:nvPr/>
        </p:nvSpPr>
        <p:spPr>
          <a:xfrm>
            <a:off x="457200" y="1600200"/>
            <a:ext cx="3657600" cy="1371600"/>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00200"/>
            <a:ext cx="914400" cy="1371600"/>
          </a:xfrm>
          <a:prstGeom prst="rect">
            <a:avLst/>
          </a:prstGeom>
          <a:noFill/>
        </p:spPr>
        <p:txBody>
          <a:bodyPr wrap="square" anchor="ctr" lIns="45720" rIns="45720" tIns="27432" bIns="27432">
            <a:spAutoFit/>
          </a:bodyPr>
          <a:lstStyle/>
          <a:p>
            <a:pPr algn="l">
              <a:lnSpc>
                <a:spcPct val="100000"/>
              </a:lnSpc>
            </a:pPr>
            <a:r>
              <a:rPr sz="4800" b="1" i="0">
                <a:solidFill>
                  <a:srgbClr val="007A73"/>
                </a:solidFill>
                <a:latin typeface="Century Gothic"/>
              </a:rPr>
              <a:t>W</a:t>
            </a:r>
          </a:p>
        </p:txBody>
      </p:sp>
      <p:sp>
        <p:nvSpPr>
          <p:cNvPr id="11" name="TextBox 10"/>
          <p:cNvSpPr txBox="1"/>
          <p:nvPr/>
        </p:nvSpPr>
        <p:spPr>
          <a:xfrm>
            <a:off x="1645920" y="1600200"/>
            <a:ext cx="2377440" cy="1371600"/>
          </a:xfrm>
          <a:prstGeom prst="rect">
            <a:avLst/>
          </a:prstGeom>
          <a:noFill/>
        </p:spPr>
        <p:txBody>
          <a:bodyPr wrap="square" anchor="ctr" lIns="45720" rIns="45720" tIns="27432" bIns="27432">
            <a:spAutoFit/>
          </a:bodyPr>
          <a:lstStyle/>
          <a:p>
            <a:pPr algn="l">
              <a:lnSpc>
                <a:spcPct val="100000"/>
              </a:lnSpc>
            </a:pPr>
            <a:r>
              <a:rPr sz="2000" b="1" i="0">
                <a:solidFill>
                  <a:srgbClr val="1E2A32"/>
                </a:solidFill>
                <a:latin typeface="Century Gothic"/>
              </a:rPr>
              <a:t>a warning</a:t>
            </a:r>
          </a:p>
        </p:txBody>
      </p:sp>
      <p:sp>
        <p:nvSpPr>
          <p:cNvPr id="12" name="Rounded Rectangle 11"/>
          <p:cNvSpPr/>
          <p:nvPr/>
        </p:nvSpPr>
        <p:spPr>
          <a:xfrm>
            <a:off x="4251960" y="1600200"/>
            <a:ext cx="3657600" cy="1371600"/>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600200"/>
            <a:ext cx="914400" cy="1371600"/>
          </a:xfrm>
          <a:prstGeom prst="rect">
            <a:avLst/>
          </a:prstGeom>
          <a:noFill/>
        </p:spPr>
        <p:txBody>
          <a:bodyPr wrap="square" anchor="ctr" lIns="45720" rIns="45720" tIns="27432" bIns="27432">
            <a:spAutoFit/>
          </a:bodyPr>
          <a:lstStyle/>
          <a:p>
            <a:pPr algn="l">
              <a:lnSpc>
                <a:spcPct val="100000"/>
              </a:lnSpc>
            </a:pPr>
            <a:r>
              <a:rPr sz="4800" b="1" i="0">
                <a:solidFill>
                  <a:srgbClr val="007A73"/>
                </a:solidFill>
                <a:latin typeface="Century Gothic"/>
              </a:rPr>
              <a:t>R</a:t>
            </a:r>
          </a:p>
        </p:txBody>
      </p:sp>
      <p:sp>
        <p:nvSpPr>
          <p:cNvPr id="14" name="TextBox 13"/>
          <p:cNvSpPr txBox="1"/>
          <p:nvPr/>
        </p:nvSpPr>
        <p:spPr>
          <a:xfrm>
            <a:off x="5440680" y="1600200"/>
            <a:ext cx="2377440" cy="1371600"/>
          </a:xfrm>
          <a:prstGeom prst="rect">
            <a:avLst/>
          </a:prstGeom>
          <a:noFill/>
        </p:spPr>
        <p:txBody>
          <a:bodyPr wrap="square" anchor="ctr" lIns="45720" rIns="45720" tIns="27432" bIns="27432">
            <a:spAutoFit/>
          </a:bodyPr>
          <a:lstStyle/>
          <a:p>
            <a:pPr algn="l">
              <a:lnSpc>
                <a:spcPct val="100000"/>
              </a:lnSpc>
            </a:pPr>
            <a:r>
              <a:rPr sz="2000" b="1" i="0">
                <a:solidFill>
                  <a:srgbClr val="1E2A32"/>
                </a:solidFill>
                <a:latin typeface="Century Gothic"/>
              </a:rPr>
              <a:t>a reaction</a:t>
            </a:r>
          </a:p>
        </p:txBody>
      </p:sp>
      <p:sp>
        <p:nvSpPr>
          <p:cNvPr id="15" name="Rounded Rectangle 14"/>
          <p:cNvSpPr/>
          <p:nvPr/>
        </p:nvSpPr>
        <p:spPr>
          <a:xfrm>
            <a:off x="8046720" y="1600200"/>
            <a:ext cx="3657600" cy="1371600"/>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600200"/>
            <a:ext cx="914400" cy="1371600"/>
          </a:xfrm>
          <a:prstGeom prst="rect">
            <a:avLst/>
          </a:prstGeom>
          <a:noFill/>
        </p:spPr>
        <p:txBody>
          <a:bodyPr wrap="square" anchor="ctr" lIns="45720" rIns="45720" tIns="27432" bIns="27432">
            <a:spAutoFit/>
          </a:bodyPr>
          <a:lstStyle/>
          <a:p>
            <a:pPr algn="l">
              <a:lnSpc>
                <a:spcPct val="100000"/>
              </a:lnSpc>
            </a:pPr>
            <a:r>
              <a:rPr sz="4800" b="1" i="0">
                <a:solidFill>
                  <a:srgbClr val="007A73"/>
                </a:solidFill>
                <a:latin typeface="Century Gothic"/>
              </a:rPr>
              <a:t>?</a:t>
            </a:r>
          </a:p>
        </p:txBody>
      </p:sp>
      <p:sp>
        <p:nvSpPr>
          <p:cNvPr id="17" name="TextBox 16"/>
          <p:cNvSpPr txBox="1"/>
          <p:nvPr/>
        </p:nvSpPr>
        <p:spPr>
          <a:xfrm>
            <a:off x="9235440" y="1600200"/>
            <a:ext cx="2377440" cy="1371600"/>
          </a:xfrm>
          <a:prstGeom prst="rect">
            <a:avLst/>
          </a:prstGeom>
          <a:noFill/>
        </p:spPr>
        <p:txBody>
          <a:bodyPr wrap="square" anchor="ctr" lIns="45720" rIns="45720" tIns="27432" bIns="27432">
            <a:spAutoFit/>
          </a:bodyPr>
          <a:lstStyle/>
          <a:p>
            <a:pPr algn="l">
              <a:lnSpc>
                <a:spcPct val="100000"/>
              </a:lnSpc>
            </a:pPr>
            <a:r>
              <a:rPr sz="2000" b="1" i="0">
                <a:solidFill>
                  <a:srgbClr val="1E2A32"/>
                </a:solidFill>
                <a:latin typeface="Century Gothic"/>
              </a:rPr>
              <a:t>something to discuss</a:t>
            </a:r>
          </a:p>
        </p:txBody>
      </p:sp>
      <p:sp>
        <p:nvSpPr>
          <p:cNvPr id="18" name="Rounded Rectangle 17"/>
          <p:cNvSpPr/>
          <p:nvPr/>
        </p:nvSpPr>
        <p:spPr>
          <a:xfrm>
            <a:off x="457200" y="3200400"/>
            <a:ext cx="11274552" cy="1371600"/>
          </a:xfrm>
          <a:prstGeom prst="roundRect">
            <a:avLst>
              <a:gd name="adj" fmla="val 8000"/>
            </a:avLst>
          </a:prstGeom>
          <a:solidFill>
            <a:srgbClr val="FFFFFF"/>
          </a:solidFill>
          <a:ln w="25400">
            <a:solidFill>
              <a:srgbClr val="00A3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00400"/>
            <a:ext cx="10698480" cy="1371600"/>
          </a:xfrm>
          <a:prstGeom prst="rect">
            <a:avLst/>
          </a:prstGeom>
          <a:noFill/>
        </p:spPr>
        <p:txBody>
          <a:bodyPr wrap="square" anchor="ctr" lIns="45720" rIns="45720" tIns="27432" bIns="27432">
            <a:spAutoFit/>
          </a:bodyPr>
          <a:lstStyle/>
          <a:p>
            <a:pPr algn="l">
              <a:lnSpc>
                <a:spcPct val="100000"/>
              </a:lnSpc>
            </a:pPr>
            <a:r>
              <a:rPr sz="2400" b="1" i="0">
                <a:solidFill>
                  <a:srgbClr val="1E2A32"/>
                </a:solidFill>
                <a:latin typeface="Century Gothic"/>
              </a:rPr>
              <a:t>“I wanted to come back to warn you. Only no one is listening to me…”  (p. 7)</a:t>
            </a:r>
          </a:p>
        </p:txBody>
      </p:sp>
      <p:sp>
        <p:nvSpPr>
          <p:cNvPr id="20" name="Rounded Rectangle 19"/>
          <p:cNvSpPr/>
          <p:nvPr/>
        </p:nvSpPr>
        <p:spPr>
          <a:xfrm>
            <a:off x="457200" y="4846320"/>
            <a:ext cx="11274552" cy="123444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846320"/>
            <a:ext cx="10698480" cy="1234440"/>
          </a:xfrm>
          <a:prstGeom prst="rect">
            <a:avLst/>
          </a:prstGeom>
          <a:noFill/>
        </p:spPr>
        <p:txBody>
          <a:bodyPr wrap="square" anchor="ctr" lIns="45720" rIns="45720" tIns="27432" bIns="27432">
            <a:spAutoFit/>
          </a:bodyPr>
          <a:lstStyle/>
          <a:p>
            <a:pPr algn="l">
              <a:lnSpc>
                <a:spcPct val="100000"/>
              </a:lnSpc>
            </a:pPr>
            <a:r>
              <a:rPr sz="2000" b="1" i="0">
                <a:solidFill>
                  <a:srgbClr val="FFFFFF"/>
                </a:solidFill>
                <a:latin typeface="Century Gothic"/>
              </a:rPr>
              <a:t>Moishe is </a:t>
            </a:r>
            <a:r>
              <a:rPr sz="2000" b="1" i="0">
                <a:solidFill>
                  <a:srgbClr val="FFC63C"/>
                </a:solidFill>
                <a:latin typeface="Century Gothic"/>
              </a:rPr>
              <a:t>the witness nobody believes.</a:t>
            </a:r>
            <a:r>
              <a:rPr sz="2000" b="1" i="0">
                <a:solidFill>
                  <a:srgbClr val="FFFFFF"/>
                </a:solidFill>
                <a:latin typeface="Century Gothic"/>
              </a:rPr>
              <a:t>  What changed in him? Where are your 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7</a:t>
            </a:r>
          </a:p>
        </p:txBody>
      </p:sp>
      <p:sp>
        <p:nvSpPr>
          <p:cNvPr id="3" name="Oval 2"/>
          <p:cNvSpPr/>
          <p:nvPr/>
        </p:nvSpPr>
        <p:spPr>
          <a:xfrm>
            <a:off x="457200" y="566928"/>
            <a:ext cx="566928" cy="566928"/>
          </a:xfrm>
          <a:prstGeom prst="ellipse">
            <a:avLst/>
          </a:prstGeom>
          <a:solidFill>
            <a:srgbClr val="FFFFFF"/>
          </a:solidFill>
          <a:ln w="38100">
            <a:solidFill>
              <a:srgbClr val="007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007A73"/>
                </a:solidFill>
                <a:latin typeface="Century Gothic"/>
              </a:rPr>
              <a:t>M</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Warning Reactions · Model Row</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Moishe · pp. 6–7</a:t>
            </a:r>
          </a:p>
        </p:txBody>
      </p:sp>
      <p:sp>
        <p:nvSpPr>
          <p:cNvPr id="7" name="Rounded Rectangle 6"/>
          <p:cNvSpPr/>
          <p:nvPr/>
        </p:nvSpPr>
        <p:spPr>
          <a:xfrm>
            <a:off x="8668512" y="566928"/>
            <a:ext cx="3063240" cy="347472"/>
          </a:xfrm>
          <a:prstGeom prst="roundRect">
            <a:avLst>
              <a:gd name="adj" fmla="val 8000"/>
            </a:avLst>
          </a:prstGeom>
          <a:solidFill>
            <a:srgbClr val="00A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2 · ROW M</a:t>
            </a:r>
          </a:p>
        </p:txBody>
      </p:sp>
      <p:sp>
        <p:nvSpPr>
          <p:cNvPr id="9" name="Rounded Rectangle 8"/>
          <p:cNvSpPr/>
          <p:nvPr/>
        </p:nvSpPr>
        <p:spPr>
          <a:xfrm>
            <a:off x="457200" y="1600200"/>
            <a:ext cx="3657600" cy="2926080"/>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37360"/>
            <a:ext cx="3200400" cy="365760"/>
          </a:xfrm>
          <a:prstGeom prst="rect">
            <a:avLst/>
          </a:prstGeom>
          <a:noFill/>
        </p:spPr>
        <p:txBody>
          <a:bodyPr wrap="square" anchor="t" lIns="45720" rIns="45720" tIns="27432" bIns="27432">
            <a:spAutoFit/>
          </a:bodyPr>
          <a:lstStyle/>
          <a:p>
            <a:pPr algn="l">
              <a:lnSpc>
                <a:spcPct val="100000"/>
              </a:lnSpc>
            </a:pPr>
            <a:r>
              <a:rPr sz="1400" b="1" i="0">
                <a:solidFill>
                  <a:srgbClr val="007A73"/>
                </a:solidFill>
                <a:latin typeface="Century Gothic"/>
              </a:rPr>
              <a:t>THE WARNING</a:t>
            </a:r>
          </a:p>
        </p:txBody>
      </p:sp>
      <p:sp>
        <p:nvSpPr>
          <p:cNvPr id="11" name="TextBox 10"/>
          <p:cNvSpPr txBox="1"/>
          <p:nvPr/>
        </p:nvSpPr>
        <p:spPr>
          <a:xfrm>
            <a:off x="685800" y="2194560"/>
            <a:ext cx="3200400" cy="2194560"/>
          </a:xfrm>
          <a:prstGeom prst="rect">
            <a:avLst/>
          </a:prstGeom>
          <a:noFill/>
        </p:spPr>
        <p:txBody>
          <a:bodyPr wrap="square" anchor="t" lIns="45720" rIns="45720" tIns="27432" bIns="27432">
            <a:spAutoFit/>
          </a:bodyPr>
          <a:lstStyle/>
          <a:p>
            <a:pPr algn="l">
              <a:lnSpc>
                <a:spcPct val="100000"/>
              </a:lnSpc>
            </a:pPr>
            <a:r>
              <a:rPr sz="1800" b="0" i="0">
                <a:solidFill>
                  <a:srgbClr val="1E2A32"/>
                </a:solidFill>
                <a:latin typeface="Century Gothic"/>
              </a:rPr>
              <a:t>Moishe’s eyewitness account of the shootings (p. 6). He came back to warn them (p. 7).</a:t>
            </a:r>
          </a:p>
        </p:txBody>
      </p:sp>
      <p:sp>
        <p:nvSpPr>
          <p:cNvPr id="12" name="Rounded Rectangle 11"/>
          <p:cNvSpPr/>
          <p:nvPr/>
        </p:nvSpPr>
        <p:spPr>
          <a:xfrm>
            <a:off x="4251960" y="1600200"/>
            <a:ext cx="3657600" cy="2926080"/>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737360"/>
            <a:ext cx="3200400" cy="365760"/>
          </a:xfrm>
          <a:prstGeom prst="rect">
            <a:avLst/>
          </a:prstGeom>
          <a:noFill/>
        </p:spPr>
        <p:txBody>
          <a:bodyPr wrap="square" anchor="t" lIns="45720" rIns="45720" tIns="27432" bIns="27432">
            <a:spAutoFit/>
          </a:bodyPr>
          <a:lstStyle/>
          <a:p>
            <a:pPr algn="l">
              <a:lnSpc>
                <a:spcPct val="100000"/>
              </a:lnSpc>
            </a:pPr>
            <a:r>
              <a:rPr sz="1400" b="1" i="0">
                <a:solidFill>
                  <a:srgbClr val="007A73"/>
                </a:solidFill>
                <a:latin typeface="Century Gothic"/>
              </a:rPr>
              <a:t>THE REACTION</a:t>
            </a:r>
          </a:p>
        </p:txBody>
      </p:sp>
      <p:sp>
        <p:nvSpPr>
          <p:cNvPr id="14" name="TextBox 13"/>
          <p:cNvSpPr txBox="1"/>
          <p:nvPr/>
        </p:nvSpPr>
        <p:spPr>
          <a:xfrm>
            <a:off x="4480560" y="2194560"/>
            <a:ext cx="3200400" cy="2194560"/>
          </a:xfrm>
          <a:prstGeom prst="rect">
            <a:avLst/>
          </a:prstGeom>
          <a:noFill/>
        </p:spPr>
        <p:txBody>
          <a:bodyPr wrap="square" anchor="t" lIns="45720" rIns="45720" tIns="27432" bIns="27432">
            <a:spAutoFit/>
          </a:bodyPr>
          <a:lstStyle/>
          <a:p>
            <a:pPr algn="l">
              <a:lnSpc>
                <a:spcPct val="100000"/>
              </a:lnSpc>
            </a:pPr>
            <a:r>
              <a:rPr sz="1800" b="0" i="0">
                <a:solidFill>
                  <a:srgbClr val="1E2A32"/>
                </a:solidFill>
                <a:latin typeface="Century Gothic"/>
              </a:rPr>
              <a:t>They refused to believe and refused to listen. Pity. “Imagining things.” “Gone mad.” (p. 7)</a:t>
            </a:r>
          </a:p>
        </p:txBody>
      </p:sp>
      <p:sp>
        <p:nvSpPr>
          <p:cNvPr id="15" name="Rounded Rectangle 14"/>
          <p:cNvSpPr/>
          <p:nvPr/>
        </p:nvSpPr>
        <p:spPr>
          <a:xfrm>
            <a:off x="8046720" y="1600200"/>
            <a:ext cx="3657600" cy="2926080"/>
          </a:xfrm>
          <a:prstGeom prst="roundRect">
            <a:avLst>
              <a:gd name="adj" fmla="val 8000"/>
            </a:avLst>
          </a:prstGeom>
          <a:solidFill>
            <a:srgbClr val="FFFFFF"/>
          </a:solidFill>
          <a:ln w="31750">
            <a:solidFill>
              <a:srgbClr val="FF6B4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737360"/>
            <a:ext cx="3200400" cy="365760"/>
          </a:xfrm>
          <a:prstGeom prst="rect">
            <a:avLst/>
          </a:prstGeom>
          <a:noFill/>
        </p:spPr>
        <p:txBody>
          <a:bodyPr wrap="square" anchor="t" lIns="45720" rIns="45720" tIns="27432" bIns="27432">
            <a:spAutoFit/>
          </a:bodyPr>
          <a:lstStyle/>
          <a:p>
            <a:pPr algn="l">
              <a:lnSpc>
                <a:spcPct val="100000"/>
              </a:lnSpc>
            </a:pPr>
            <a:r>
              <a:rPr sz="1400" b="1" i="0">
                <a:solidFill>
                  <a:srgbClr val="DF442A"/>
                </a:solidFill>
                <a:latin typeface="Century Gothic"/>
              </a:rPr>
              <a:t>THE INFERENCE</a:t>
            </a:r>
          </a:p>
        </p:txBody>
      </p:sp>
      <p:sp>
        <p:nvSpPr>
          <p:cNvPr id="17" name="TextBox 16"/>
          <p:cNvSpPr txBox="1"/>
          <p:nvPr/>
        </p:nvSpPr>
        <p:spPr>
          <a:xfrm>
            <a:off x="8275320" y="2194560"/>
            <a:ext cx="3200400" cy="2194560"/>
          </a:xfrm>
          <a:prstGeom prst="rect">
            <a:avLst/>
          </a:prstGeom>
          <a:noFill/>
        </p:spPr>
        <p:txBody>
          <a:bodyPr wrap="square" anchor="t" lIns="45720" rIns="45720" tIns="27432" bIns="27432">
            <a:spAutoFit/>
          </a:bodyPr>
          <a:lstStyle/>
          <a:p>
            <a:pPr algn="l">
              <a:lnSpc>
                <a:spcPct val="100000"/>
              </a:lnSpc>
            </a:pPr>
            <a:r>
              <a:rPr sz="1800" b="1" i="0">
                <a:solidFill>
                  <a:srgbClr val="1E2A32"/>
                </a:solidFill>
                <a:latin typeface="Century Gothic"/>
              </a:rPr>
              <a:t>What does this reveal about people?</a:t>
            </a:r>
          </a:p>
        </p:txBody>
      </p:sp>
      <p:sp>
        <p:nvSpPr>
          <p:cNvPr id="18" name="Rounded Rectangle 17"/>
          <p:cNvSpPr/>
          <p:nvPr/>
        </p:nvSpPr>
        <p:spPr>
          <a:xfrm>
            <a:off x="457200" y="4800600"/>
            <a:ext cx="11274552" cy="132588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00600"/>
            <a:ext cx="10698480" cy="1325880"/>
          </a:xfrm>
          <a:prstGeom prst="rect">
            <a:avLst/>
          </a:prstGeom>
          <a:noFill/>
        </p:spPr>
        <p:txBody>
          <a:bodyPr wrap="square" anchor="ctr" lIns="45720" rIns="45720" tIns="27432" bIns="27432">
            <a:spAutoFit/>
          </a:bodyPr>
          <a:lstStyle/>
          <a:p>
            <a:pPr algn="l">
              <a:lnSpc>
                <a:spcPct val="100000"/>
              </a:lnSpc>
            </a:pPr>
            <a:r>
              <a:rPr sz="1900" b="1" i="0">
                <a:solidFill>
                  <a:srgbClr val="FFFFFF"/>
                </a:solidFill>
                <a:latin typeface="Century Gothic"/>
              </a:rPr>
              <a:t>The third column is not a summary. It answers: what does this reaction reveal about what people do with unbearable news?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8DEFF"/>
        </a:solidFill>
        <a:effectLst/>
      </p:bgPr>
    </p:bg>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8</a:t>
            </a:r>
          </a:p>
        </p:txBody>
      </p:sp>
      <p:sp>
        <p:nvSpPr>
          <p:cNvPr id="3" name="Oval 2"/>
          <p:cNvSpPr/>
          <p:nvPr/>
        </p:nvSpPr>
        <p:spPr>
          <a:xfrm>
            <a:off x="457200" y="566928"/>
            <a:ext cx="566928" cy="566928"/>
          </a:xfrm>
          <a:prstGeom prst="ellipse">
            <a:avLst/>
          </a:prstGeom>
          <a:solidFill>
            <a:srgbClr val="FFFFFF"/>
          </a:solidFill>
          <a:ln w="38100">
            <a:solidFill>
              <a:srgbClr val="674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6746C7"/>
                </a:solidFill>
                <a:latin typeface="Century Gothic"/>
              </a:rPr>
              <a:t>★</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Show Your Thinking</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Think first. Then say it.</a:t>
            </a:r>
          </a:p>
        </p:txBody>
      </p:sp>
      <p:sp>
        <p:nvSpPr>
          <p:cNvPr id="7" name="Rounded Rectangle 6"/>
          <p:cNvSpPr/>
          <p:nvPr/>
        </p:nvSpPr>
        <p:spPr>
          <a:xfrm>
            <a:off x="8668512" y="566928"/>
            <a:ext cx="3063240" cy="347472"/>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2 · PURPLE STRIP</a:t>
            </a:r>
          </a:p>
        </p:txBody>
      </p:sp>
      <p:sp>
        <p:nvSpPr>
          <p:cNvPr id="9" name="Rounded Rectangle 8"/>
          <p:cNvSpPr/>
          <p:nvPr/>
        </p:nvSpPr>
        <p:spPr>
          <a:xfrm>
            <a:off x="457200" y="1600200"/>
            <a:ext cx="11274552" cy="1371600"/>
          </a:xfrm>
          <a:prstGeom prst="roundRect">
            <a:avLst>
              <a:gd name="adj" fmla="val 8000"/>
            </a:avLst>
          </a:prstGeom>
          <a:solidFill>
            <a:srgbClr val="FFFFFF"/>
          </a:solidFill>
          <a:ln w="31750">
            <a:solidFill>
              <a:srgbClr val="8B6BE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00200"/>
            <a:ext cx="10698480" cy="1371600"/>
          </a:xfrm>
          <a:prstGeom prst="rect">
            <a:avLst/>
          </a:prstGeom>
          <a:noFill/>
        </p:spPr>
        <p:txBody>
          <a:bodyPr wrap="square" anchor="ctr" lIns="45720" rIns="45720" tIns="27432" bIns="27432">
            <a:spAutoFit/>
          </a:bodyPr>
          <a:lstStyle/>
          <a:p>
            <a:pPr algn="l">
              <a:lnSpc>
                <a:spcPct val="100000"/>
              </a:lnSpc>
            </a:pPr>
            <a:r>
              <a:rPr sz="2000" b="0" i="0">
                <a:solidFill>
                  <a:srgbClr val="1E2A32"/>
                </a:solidFill>
                <a:latin typeface="Century Gothic"/>
              </a:rPr>
              <a:t>Okay, now I need the inference. </a:t>
            </a:r>
          </a:p>
          <a:p>
            <a:pPr algn="l">
              <a:lnSpc>
                <a:spcPct val="100000"/>
              </a:lnSpc>
            </a:pPr>
            <a:r>
              <a:rPr sz="2800" b="1" i="0">
                <a:solidFill>
                  <a:srgbClr val="1E2A32"/>
                </a:solidFill>
                <a:latin typeface="Century Gothic"/>
              </a:rPr>
              <a:t>What does their reaction reveal about people?</a:t>
            </a:r>
          </a:p>
        </p:txBody>
      </p:sp>
      <p:sp>
        <p:nvSpPr>
          <p:cNvPr id="11" name="Rounded Rectangle 10"/>
          <p:cNvSpPr/>
          <p:nvPr/>
        </p:nvSpPr>
        <p:spPr>
          <a:xfrm>
            <a:off x="457200" y="3200400"/>
            <a:ext cx="3108960" cy="347472"/>
          </a:xfrm>
          <a:prstGeom prst="roundRect">
            <a:avLst>
              <a:gd name="adj" fmla="val 50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200400"/>
            <a:ext cx="310896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THINK SILENTLY · 30–45 SEC</a:t>
            </a:r>
          </a:p>
        </p:txBody>
      </p:sp>
      <p:sp>
        <p:nvSpPr>
          <p:cNvPr id="13" name="Rounded Rectangle 12"/>
          <p:cNvSpPr/>
          <p:nvPr/>
        </p:nvSpPr>
        <p:spPr>
          <a:xfrm>
            <a:off x="457200" y="3749039"/>
            <a:ext cx="2697480" cy="100584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749039"/>
            <a:ext cx="2514600" cy="1005840"/>
          </a:xfrm>
          <a:prstGeom prst="rect">
            <a:avLst/>
          </a:prstGeom>
          <a:noFill/>
        </p:spPr>
        <p:txBody>
          <a:bodyPr wrap="square" anchor="ctr" lIns="45720" rIns="45720" tIns="27432" bIns="27432">
            <a:spAutoFit/>
          </a:bodyPr>
          <a:lstStyle/>
          <a:p>
            <a:pPr algn="ctr">
              <a:lnSpc>
                <a:spcPct val="100000"/>
              </a:lnSpc>
            </a:pPr>
            <a:r>
              <a:rPr sz="1700" b="1" i="0">
                <a:solidFill>
                  <a:srgbClr val="FFFFFF"/>
                </a:solidFill>
                <a:latin typeface="Century Gothic"/>
              </a:rPr>
              <a:t>First I noticed…</a:t>
            </a:r>
          </a:p>
        </p:txBody>
      </p:sp>
      <p:sp>
        <p:nvSpPr>
          <p:cNvPr id="15" name="Rounded Rectangle 14"/>
          <p:cNvSpPr/>
          <p:nvPr/>
        </p:nvSpPr>
        <p:spPr>
          <a:xfrm>
            <a:off x="3319272" y="3749039"/>
            <a:ext cx="2697480" cy="100584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10712" y="3749039"/>
            <a:ext cx="2514600" cy="1005840"/>
          </a:xfrm>
          <a:prstGeom prst="rect">
            <a:avLst/>
          </a:prstGeom>
          <a:noFill/>
        </p:spPr>
        <p:txBody>
          <a:bodyPr wrap="square" anchor="ctr" lIns="45720" rIns="45720" tIns="27432" bIns="27432">
            <a:spAutoFit/>
          </a:bodyPr>
          <a:lstStyle/>
          <a:p>
            <a:pPr algn="ctr">
              <a:lnSpc>
                <a:spcPct val="100000"/>
              </a:lnSpc>
            </a:pPr>
            <a:r>
              <a:rPr sz="1700" b="1" i="0">
                <a:solidFill>
                  <a:srgbClr val="FFFFFF"/>
                </a:solidFill>
                <a:latin typeface="Century Gothic"/>
              </a:rPr>
              <a:t>Then I noticed the people…</a:t>
            </a:r>
          </a:p>
        </p:txBody>
      </p:sp>
      <p:sp>
        <p:nvSpPr>
          <p:cNvPr id="17" name="Rounded Rectangle 16"/>
          <p:cNvSpPr/>
          <p:nvPr/>
        </p:nvSpPr>
        <p:spPr>
          <a:xfrm>
            <a:off x="6181344" y="3749039"/>
            <a:ext cx="2697480" cy="100584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2783" y="3749039"/>
            <a:ext cx="2514600" cy="1005840"/>
          </a:xfrm>
          <a:prstGeom prst="rect">
            <a:avLst/>
          </a:prstGeom>
          <a:noFill/>
        </p:spPr>
        <p:txBody>
          <a:bodyPr wrap="square" anchor="ctr" lIns="45720" rIns="45720" tIns="27432" bIns="27432">
            <a:spAutoFit/>
          </a:bodyPr>
          <a:lstStyle/>
          <a:p>
            <a:pPr algn="ctr">
              <a:lnSpc>
                <a:spcPct val="100000"/>
              </a:lnSpc>
            </a:pPr>
            <a:r>
              <a:rPr sz="1700" b="1" i="0">
                <a:solidFill>
                  <a:srgbClr val="FFFFFF"/>
                </a:solidFill>
                <a:latin typeface="Century Gothic"/>
              </a:rPr>
              <a:t>So I decided this reveals…</a:t>
            </a:r>
          </a:p>
        </p:txBody>
      </p:sp>
      <p:sp>
        <p:nvSpPr>
          <p:cNvPr id="19" name="Rounded Rectangle 18"/>
          <p:cNvSpPr/>
          <p:nvPr/>
        </p:nvSpPr>
        <p:spPr>
          <a:xfrm>
            <a:off x="9043416" y="3749039"/>
            <a:ext cx="2697480" cy="100584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34856" y="3749039"/>
            <a:ext cx="2514600" cy="1005840"/>
          </a:xfrm>
          <a:prstGeom prst="rect">
            <a:avLst/>
          </a:prstGeom>
          <a:noFill/>
        </p:spPr>
        <p:txBody>
          <a:bodyPr wrap="square" anchor="ctr" lIns="45720" rIns="45720" tIns="27432" bIns="27432">
            <a:spAutoFit/>
          </a:bodyPr>
          <a:lstStyle/>
          <a:p>
            <a:pPr algn="ctr">
              <a:lnSpc>
                <a:spcPct val="100000"/>
              </a:lnSpc>
            </a:pPr>
            <a:r>
              <a:rPr sz="1700" b="1" i="0">
                <a:solidFill>
                  <a:srgbClr val="FFFFFF"/>
                </a:solidFill>
                <a:latin typeface="Century Gothic"/>
              </a:rPr>
              <a:t>Because…</a:t>
            </a:r>
          </a:p>
        </p:txBody>
      </p:sp>
      <p:sp>
        <p:nvSpPr>
          <p:cNvPr id="21" name="Rounded Rectangle 20"/>
          <p:cNvSpPr/>
          <p:nvPr/>
        </p:nvSpPr>
        <p:spPr>
          <a:xfrm>
            <a:off x="457200" y="5029200"/>
            <a:ext cx="11274552" cy="109728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029200"/>
            <a:ext cx="10698480" cy="1097280"/>
          </a:xfrm>
          <a:prstGeom prst="rect">
            <a:avLst/>
          </a:prstGeom>
          <a:noFill/>
        </p:spPr>
        <p:txBody>
          <a:bodyPr wrap="square" anchor="ctr" lIns="45720" rIns="45720" tIns="27432" bIns="27432">
            <a:spAutoFit/>
          </a:bodyPr>
          <a:lstStyle/>
          <a:p>
            <a:pPr algn="l">
              <a:lnSpc>
                <a:spcPct val="100000"/>
              </a:lnSpc>
            </a:pPr>
            <a:r>
              <a:rPr sz="1900" b="1" i="0">
                <a:solidFill>
                  <a:srgbClr val="FFC63C"/>
                </a:solidFill>
                <a:latin typeface="Century Gothic"/>
              </a:rPr>
              <a:t>BUILD · REVISE · CHALLENGE</a:t>
            </a:r>
            <a:r>
              <a:rPr sz="1900" b="0" i="0">
                <a:solidFill>
                  <a:srgbClr val="FFFFFF"/>
                </a:solidFill>
                <a:latin typeface="Century Gothic"/>
              </a:rPr>
              <a:t>     “I agree / would revise that because ______.”</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9</a:t>
            </a:r>
          </a:p>
        </p:txBody>
      </p:sp>
      <p:sp>
        <p:nvSpPr>
          <p:cNvPr id="3" name="Oval 2"/>
          <p:cNvSpPr/>
          <p:nvPr/>
        </p:nvSpPr>
        <p:spPr>
          <a:xfrm>
            <a:off x="457200" y="566928"/>
            <a:ext cx="566928" cy="566928"/>
          </a:xfrm>
          <a:prstGeom prst="ellipse">
            <a:avLst/>
          </a:prstGeom>
          <a:solidFill>
            <a:srgbClr val="FFFFFF"/>
          </a:solidFill>
          <a:ln w="38100">
            <a:solidFill>
              <a:srgbClr val="007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007A73"/>
                </a:solidFill>
                <a:latin typeface="Century Gothic"/>
              </a:rPr>
              <a:t>03</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Partner Warning Analysis</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Rows 2–3. You already read this. Select, don’t search.</a:t>
            </a:r>
          </a:p>
        </p:txBody>
      </p:sp>
      <p:sp>
        <p:nvSpPr>
          <p:cNvPr id="7" name="Rounded Rectangle 6"/>
          <p:cNvSpPr/>
          <p:nvPr/>
        </p:nvSpPr>
        <p:spPr>
          <a:xfrm>
            <a:off x="8668512" y="566928"/>
            <a:ext cx="3063240" cy="347472"/>
          </a:xfrm>
          <a:prstGeom prst="roundRect">
            <a:avLst>
              <a:gd name="adj" fmla="val 8000"/>
            </a:avLst>
          </a:prstGeom>
          <a:solidFill>
            <a:srgbClr val="00A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2 · ROWS 2–3</a:t>
            </a:r>
          </a:p>
        </p:txBody>
      </p:sp>
      <p:sp>
        <p:nvSpPr>
          <p:cNvPr id="9" name="Rounded Rectangle 8"/>
          <p:cNvSpPr/>
          <p:nvPr/>
        </p:nvSpPr>
        <p:spPr>
          <a:xfrm>
            <a:off x="457200" y="1600200"/>
            <a:ext cx="7040880" cy="1417320"/>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91640"/>
            <a:ext cx="6583680" cy="1280160"/>
          </a:xfrm>
          <a:prstGeom prst="rect">
            <a:avLst/>
          </a:prstGeom>
          <a:noFill/>
        </p:spPr>
        <p:txBody>
          <a:bodyPr wrap="square" anchor="t" lIns="45720" rIns="45720" tIns="27432" bIns="27432">
            <a:spAutoFit/>
          </a:bodyPr>
          <a:lstStyle/>
          <a:p>
            <a:pPr algn="l">
              <a:lnSpc>
                <a:spcPct val="100000"/>
              </a:lnSpc>
            </a:pPr>
            <a:r>
              <a:rPr sz="1600" b="1" i="0">
                <a:solidFill>
                  <a:srgbClr val="007A73"/>
                </a:solidFill>
                <a:latin typeface="Century Gothic"/>
              </a:rPr>
              <a:t>ROW 2  </a:t>
            </a:r>
            <a:r>
              <a:rPr sz="1600" b="1" i="0">
                <a:solidFill>
                  <a:srgbClr val="1E2A32"/>
                </a:solidFill>
                <a:latin typeface="Century Gothic"/>
              </a:rPr>
              <a:t>pp. 8–9</a:t>
            </a:r>
          </a:p>
          <a:p>
            <a:pPr algn="l">
              <a:lnSpc>
                <a:spcPct val="100000"/>
              </a:lnSpc>
            </a:pPr>
            <a:r>
              <a:rPr sz="1500" b="0" i="0">
                <a:solidFill>
                  <a:srgbClr val="1E2A32"/>
                </a:solidFill>
                <a:latin typeface="Century Gothic"/>
              </a:rPr>
              <a:t>the war news, the Fascists take power, German troops enter Hungary, the Budapest report</a:t>
            </a:r>
          </a:p>
        </p:txBody>
      </p:sp>
      <p:sp>
        <p:nvSpPr>
          <p:cNvPr id="11" name="Rounded Rectangle 10"/>
          <p:cNvSpPr/>
          <p:nvPr/>
        </p:nvSpPr>
        <p:spPr>
          <a:xfrm>
            <a:off x="457200" y="3200400"/>
            <a:ext cx="7040880" cy="1417320"/>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291840"/>
            <a:ext cx="6583680" cy="1280160"/>
          </a:xfrm>
          <a:prstGeom prst="rect">
            <a:avLst/>
          </a:prstGeom>
          <a:noFill/>
        </p:spPr>
        <p:txBody>
          <a:bodyPr wrap="square" anchor="t" lIns="45720" rIns="45720" tIns="27432" bIns="27432">
            <a:spAutoFit/>
          </a:bodyPr>
          <a:lstStyle/>
          <a:p>
            <a:pPr algn="l">
              <a:lnSpc>
                <a:spcPct val="100000"/>
              </a:lnSpc>
            </a:pPr>
            <a:r>
              <a:rPr sz="1600" b="1" i="0">
                <a:solidFill>
                  <a:srgbClr val="007A73"/>
                </a:solidFill>
                <a:latin typeface="Century Gothic"/>
              </a:rPr>
              <a:t>ROW 3  </a:t>
            </a:r>
            <a:r>
              <a:rPr sz="1600" b="1" i="0">
                <a:solidFill>
                  <a:srgbClr val="1E2A32"/>
                </a:solidFill>
                <a:latin typeface="Century Gothic"/>
              </a:rPr>
              <a:t>pp. 9–12</a:t>
            </a:r>
          </a:p>
          <a:p>
            <a:pPr algn="l">
              <a:lnSpc>
                <a:spcPct val="100000"/>
              </a:lnSpc>
            </a:pPr>
            <a:r>
              <a:rPr sz="1500" b="0" i="0">
                <a:solidFill>
                  <a:srgbClr val="1E2A32"/>
                </a:solidFill>
                <a:latin typeface="Century Gothic"/>
              </a:rPr>
              <a:t>German soldiers arrive, leaders arrested, new decrees, the ghettos</a:t>
            </a:r>
          </a:p>
        </p:txBody>
      </p:sp>
      <p:sp>
        <p:nvSpPr>
          <p:cNvPr id="13" name="Rounded Rectangle 12"/>
          <p:cNvSpPr/>
          <p:nvPr/>
        </p:nvSpPr>
        <p:spPr>
          <a:xfrm>
            <a:off x="457200" y="4846320"/>
            <a:ext cx="7040880" cy="1371600"/>
          </a:xfrm>
          <a:prstGeom prst="roundRect">
            <a:avLst>
              <a:gd name="adj" fmla="val 8000"/>
            </a:avLst>
          </a:prstGeom>
          <a:solidFill>
            <a:srgbClr val="FFFFFF"/>
          </a:solidFill>
          <a:ln w="25400">
            <a:solidFill>
              <a:srgbClr val="00A3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892040"/>
            <a:ext cx="6583680" cy="1280160"/>
          </a:xfrm>
          <a:prstGeom prst="rect">
            <a:avLst/>
          </a:prstGeom>
          <a:noFill/>
        </p:spPr>
        <p:txBody>
          <a:bodyPr wrap="square" anchor="ctr" lIns="45720" rIns="45720" tIns="27432" bIns="27432">
            <a:spAutoFit/>
          </a:bodyPr>
          <a:lstStyle/>
          <a:p>
            <a:pPr algn="l">
              <a:lnSpc>
                <a:spcPct val="100000"/>
              </a:lnSpc>
            </a:pPr>
            <a:r>
              <a:rPr sz="1900" b="1" i="0">
                <a:solidFill>
                  <a:srgbClr val="1E2A32"/>
                </a:solidFill>
                <a:latin typeface="Century Gothic"/>
              </a:rPr>
              <a:t>Warning → reaction → </a:t>
            </a:r>
          </a:p>
          <a:p>
            <a:pPr algn="l">
              <a:lnSpc>
                <a:spcPct val="100000"/>
              </a:lnSpc>
            </a:pPr>
            <a:r>
              <a:rPr sz="1900" b="0" i="0">
                <a:solidFill>
                  <a:srgbClr val="1E2A32"/>
                </a:solidFill>
                <a:latin typeface="Century Gothic"/>
              </a:rPr>
              <a:t>what does it </a:t>
            </a:r>
            <a:r>
              <a:rPr sz="1900" b="1" i="0">
                <a:solidFill>
                  <a:srgbClr val="DF442A"/>
                </a:solidFill>
                <a:latin typeface="Century Gothic"/>
              </a:rPr>
              <a:t>reveal</a:t>
            </a:r>
            <a:r>
              <a:rPr sz="1900" b="0" i="0">
                <a:solidFill>
                  <a:srgbClr val="1E2A32"/>
                </a:solidFill>
                <a:latin typeface="Century Gothic"/>
              </a:rPr>
              <a:t> about people?</a:t>
            </a:r>
          </a:p>
        </p:txBody>
      </p:sp>
      <p:sp>
        <p:nvSpPr>
          <p:cNvPr id="15" name="Rounded Rectangle 14"/>
          <p:cNvSpPr/>
          <p:nvPr/>
        </p:nvSpPr>
        <p:spPr>
          <a:xfrm>
            <a:off x="7726679" y="1600200"/>
            <a:ext cx="4005072" cy="4617720"/>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01000" y="1737360"/>
            <a:ext cx="3657600" cy="320040"/>
          </a:xfrm>
          <a:prstGeom prst="rect">
            <a:avLst/>
          </a:prstGeom>
          <a:noFill/>
        </p:spPr>
        <p:txBody>
          <a:bodyPr wrap="square" anchor="t" lIns="45720" rIns="45720" tIns="27432" bIns="27432">
            <a:spAutoFit/>
          </a:bodyPr>
          <a:lstStyle/>
          <a:p>
            <a:pPr algn="l">
              <a:lnSpc>
                <a:spcPct val="100000"/>
              </a:lnSpc>
            </a:pPr>
            <a:r>
              <a:rPr sz="1400" b="1" i="0">
                <a:solidFill>
                  <a:srgbClr val="B98100"/>
                </a:solidFill>
                <a:latin typeface="Century Gothic"/>
              </a:rPr>
              <a:t>THE BIG PRESSES</a:t>
            </a:r>
          </a:p>
        </p:txBody>
      </p:sp>
      <p:sp>
        <p:nvSpPr>
          <p:cNvPr id="17" name="TextBox 16"/>
          <p:cNvSpPr txBox="1"/>
          <p:nvPr/>
        </p:nvSpPr>
        <p:spPr>
          <a:xfrm>
            <a:off x="8001000" y="2148840"/>
            <a:ext cx="3566160" cy="3931920"/>
          </a:xfrm>
          <a:prstGeom prst="rect">
            <a:avLst/>
          </a:prstGeom>
          <a:noFill/>
        </p:spPr>
        <p:txBody>
          <a:bodyPr wrap="square" anchor="t" lIns="45720" rIns="45720" tIns="27432" bIns="27432">
            <a:spAutoFit/>
          </a:bodyPr>
          <a:lstStyle/>
          <a:p>
            <a:pPr algn="l">
              <a:lnSpc>
                <a:spcPct val="105000"/>
              </a:lnSpc>
            </a:pPr>
            <a:r>
              <a:rPr sz="1600" b="0" i="0">
                <a:solidFill>
                  <a:srgbClr val="1E2A32"/>
                </a:solidFill>
                <a:latin typeface="Century Gothic"/>
              </a:rPr>
              <a:t>“You told me what they did. What does that reveal?”</a:t>
            </a:r>
          </a:p>
          <a:p>
            <a:pPr algn="l">
              <a:lnSpc>
                <a:spcPct val="105000"/>
              </a:lnSpc>
            </a:pPr>
            <a:r>
              <a:rPr sz="1600" b="0" i="0">
                <a:solidFill>
                  <a:srgbClr val="1E2A32"/>
                </a:solidFill>
                <a:latin typeface="Century Gothic"/>
              </a:rPr>
              <a:t/>
            </a:r>
          </a:p>
          <a:p>
            <a:pPr algn="l">
              <a:lnSpc>
                <a:spcPct val="105000"/>
              </a:lnSpc>
            </a:pPr>
            <a:r>
              <a:rPr sz="1600" b="0" i="0">
                <a:solidFill>
                  <a:srgbClr val="1E2A32"/>
                </a:solidFill>
                <a:latin typeface="Century Gothic"/>
              </a:rPr>
              <a:t>“What are they protecting themselves from having to believe?”</a:t>
            </a:r>
          </a:p>
          <a:p>
            <a:pPr algn="l">
              <a:lnSpc>
                <a:spcPct val="105000"/>
              </a:lnSpc>
            </a:pPr>
            <a:r>
              <a:rPr sz="1600" b="0" i="0">
                <a:solidFill>
                  <a:srgbClr val="1E2A32"/>
                </a:solidFill>
                <a:latin typeface="Century Gothic"/>
              </a:rPr>
              <a:t/>
            </a:r>
          </a:p>
          <a:p>
            <a:pPr algn="l">
              <a:lnSpc>
                <a:spcPct val="105000"/>
              </a:lnSpc>
            </a:pPr>
            <a:r>
              <a:rPr sz="1600" b="0" i="0">
                <a:solidFill>
                  <a:srgbClr val="1E2A32"/>
                </a:solidFill>
                <a:latin typeface="Century Gothic"/>
              </a:rPr>
              <a:t>“At what point does disbelief become dangerous?”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10</a:t>
            </a:r>
          </a:p>
        </p:txBody>
      </p:sp>
      <p:sp>
        <p:nvSpPr>
          <p:cNvPr id="3" name="Oval 2"/>
          <p:cNvSpPr/>
          <p:nvPr/>
        </p:nvSpPr>
        <p:spPr>
          <a:xfrm>
            <a:off x="457200" y="566928"/>
            <a:ext cx="566928" cy="566928"/>
          </a:xfrm>
          <a:prstGeom prst="ellipse">
            <a:avLst/>
          </a:prstGeom>
          <a:solidFill>
            <a:srgbClr val="FFFFFF"/>
          </a:solidFill>
          <a:ln w="38100">
            <a:solidFill>
              <a:srgbClr val="674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6746C7"/>
                </a:solidFill>
                <a:latin typeface="Century Gothic"/>
              </a:rPr>
              <a:t>04</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Night Tracker · Find the Pattern</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Last night you noticed it. Today: what might it mean?</a:t>
            </a:r>
          </a:p>
        </p:txBody>
      </p:sp>
      <p:sp>
        <p:nvSpPr>
          <p:cNvPr id="7" name="Rounded Rectangle 6"/>
          <p:cNvSpPr/>
          <p:nvPr/>
        </p:nvSpPr>
        <p:spPr>
          <a:xfrm>
            <a:off x="8668512" y="566928"/>
            <a:ext cx="3063240" cy="347472"/>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3</a:t>
            </a:r>
          </a:p>
        </p:txBody>
      </p:sp>
      <p:sp>
        <p:nvSpPr>
          <p:cNvPr id="9" name="Rounded Rectangle 8"/>
          <p:cNvSpPr/>
          <p:nvPr/>
        </p:nvSpPr>
        <p:spPr>
          <a:xfrm>
            <a:off x="457200" y="1600200"/>
            <a:ext cx="11274552" cy="1143000"/>
          </a:xfrm>
          <a:prstGeom prst="roundRect">
            <a:avLst>
              <a:gd name="adj" fmla="val 8000"/>
            </a:avLst>
          </a:prstGeom>
          <a:solidFill>
            <a:srgbClr val="E8D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00200"/>
            <a:ext cx="10698480" cy="1143000"/>
          </a:xfrm>
          <a:prstGeom prst="rect">
            <a:avLst/>
          </a:prstGeom>
          <a:noFill/>
        </p:spPr>
        <p:txBody>
          <a:bodyPr wrap="square" anchor="ctr" lIns="45720" rIns="45720" tIns="27432" bIns="27432">
            <a:spAutoFit/>
          </a:bodyPr>
          <a:lstStyle/>
          <a:p>
            <a:pPr algn="l">
              <a:lnSpc>
                <a:spcPct val="100000"/>
              </a:lnSpc>
            </a:pPr>
            <a:r>
              <a:rPr sz="1900" b="1" i="0">
                <a:solidFill>
                  <a:srgbClr val="6746C7"/>
                </a:solidFill>
                <a:latin typeface="Century Gothic"/>
              </a:rPr>
              <a:t>SYMBOLISM  </a:t>
            </a:r>
            <a:r>
              <a:rPr sz="1900" b="0" i="0">
                <a:solidFill>
                  <a:srgbClr val="1E2A32"/>
                </a:solidFill>
                <a:latin typeface="Century Gothic"/>
              </a:rPr>
              <a:t>a concrete image, word, object, or repeated detail that carries a larger idea beyond its literal meaning</a:t>
            </a:r>
          </a:p>
        </p:txBody>
      </p:sp>
      <p:sp>
        <p:nvSpPr>
          <p:cNvPr id="11" name="Rounded Rectangle 10"/>
          <p:cNvSpPr/>
          <p:nvPr/>
        </p:nvSpPr>
        <p:spPr>
          <a:xfrm>
            <a:off x="457200" y="2971800"/>
            <a:ext cx="3657600" cy="1463040"/>
          </a:xfrm>
          <a:prstGeom prst="roundRect">
            <a:avLst>
              <a:gd name="adj" fmla="val 8000"/>
            </a:avLst>
          </a:prstGeom>
          <a:solidFill>
            <a:srgbClr val="FFFFFF"/>
          </a:solidFill>
          <a:ln w="25400">
            <a:solidFill>
              <a:srgbClr val="8B6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063240"/>
            <a:ext cx="3200400" cy="1325880"/>
          </a:xfrm>
          <a:prstGeom prst="rect">
            <a:avLst/>
          </a:prstGeom>
          <a:noFill/>
        </p:spPr>
        <p:txBody>
          <a:bodyPr wrap="square" anchor="t" lIns="45720" rIns="45720" tIns="27432" bIns="27432">
            <a:spAutoFit/>
          </a:bodyPr>
          <a:lstStyle/>
          <a:p>
            <a:pPr algn="l">
              <a:lnSpc>
                <a:spcPct val="105000"/>
              </a:lnSpc>
            </a:pPr>
            <a:r>
              <a:rPr sz="1400" b="1" i="0">
                <a:solidFill>
                  <a:srgbClr val="6746C7"/>
                </a:solidFill>
                <a:latin typeface="Century Gothic"/>
              </a:rPr>
              <a:t>1 · LITERAL</a:t>
            </a:r>
          </a:p>
          <a:p>
            <a:pPr algn="l">
              <a:lnSpc>
                <a:spcPct val="105000"/>
              </a:lnSpc>
            </a:pPr>
            <a:r>
              <a:rPr sz="1700" b="0" i="0">
                <a:solidFill>
                  <a:srgbClr val="1E2A32"/>
                </a:solidFill>
                <a:latin typeface="Century Gothic"/>
              </a:rPr>
              <a:t>What does the word mean right there?</a:t>
            </a:r>
          </a:p>
        </p:txBody>
      </p:sp>
      <p:sp>
        <p:nvSpPr>
          <p:cNvPr id="13" name="Rounded Rectangle 12"/>
          <p:cNvSpPr/>
          <p:nvPr/>
        </p:nvSpPr>
        <p:spPr>
          <a:xfrm>
            <a:off x="4251960" y="2971800"/>
            <a:ext cx="3657600" cy="1463040"/>
          </a:xfrm>
          <a:prstGeom prst="roundRect">
            <a:avLst>
              <a:gd name="adj" fmla="val 8000"/>
            </a:avLst>
          </a:prstGeom>
          <a:solidFill>
            <a:srgbClr val="FFFFFF"/>
          </a:solidFill>
          <a:ln w="25400">
            <a:solidFill>
              <a:srgbClr val="8B6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3063240"/>
            <a:ext cx="3200400" cy="1325880"/>
          </a:xfrm>
          <a:prstGeom prst="rect">
            <a:avLst/>
          </a:prstGeom>
          <a:noFill/>
        </p:spPr>
        <p:txBody>
          <a:bodyPr wrap="square" anchor="t" lIns="45720" rIns="45720" tIns="27432" bIns="27432">
            <a:spAutoFit/>
          </a:bodyPr>
          <a:lstStyle/>
          <a:p>
            <a:pPr algn="l">
              <a:lnSpc>
                <a:spcPct val="105000"/>
              </a:lnSpc>
            </a:pPr>
            <a:r>
              <a:rPr sz="1400" b="1" i="0">
                <a:solidFill>
                  <a:srgbClr val="6746C7"/>
                </a:solidFill>
                <a:latin typeface="Century Gothic"/>
              </a:rPr>
              <a:t>2 · WHAT’S HAPPENING</a:t>
            </a:r>
          </a:p>
          <a:p>
            <a:pPr algn="l">
              <a:lnSpc>
                <a:spcPct val="105000"/>
              </a:lnSpc>
            </a:pPr>
            <a:r>
              <a:rPr sz="1700" b="0" i="0">
                <a:solidFill>
                  <a:srgbClr val="1E2A32"/>
                </a:solidFill>
                <a:latin typeface="Century Gothic"/>
              </a:rPr>
              <a:t>What is going on in the scene around it?</a:t>
            </a:r>
          </a:p>
        </p:txBody>
      </p:sp>
      <p:sp>
        <p:nvSpPr>
          <p:cNvPr id="15" name="Rounded Rectangle 14"/>
          <p:cNvSpPr/>
          <p:nvPr/>
        </p:nvSpPr>
        <p:spPr>
          <a:xfrm>
            <a:off x="8046720" y="2971800"/>
            <a:ext cx="3657600" cy="1463040"/>
          </a:xfrm>
          <a:prstGeom prst="roundRect">
            <a:avLst>
              <a:gd name="adj" fmla="val 8000"/>
            </a:avLst>
          </a:prstGeom>
          <a:solidFill>
            <a:srgbClr val="FFFFFF"/>
          </a:solidFill>
          <a:ln w="25400">
            <a:solidFill>
              <a:srgbClr val="8B6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3063240"/>
            <a:ext cx="3200400" cy="1325880"/>
          </a:xfrm>
          <a:prstGeom prst="rect">
            <a:avLst/>
          </a:prstGeom>
          <a:noFill/>
        </p:spPr>
        <p:txBody>
          <a:bodyPr wrap="square" anchor="t" lIns="45720" rIns="45720" tIns="27432" bIns="27432">
            <a:spAutoFit/>
          </a:bodyPr>
          <a:lstStyle/>
          <a:p>
            <a:pPr algn="l">
              <a:lnSpc>
                <a:spcPct val="105000"/>
              </a:lnSpc>
            </a:pPr>
            <a:r>
              <a:rPr sz="1400" b="1" i="0">
                <a:solidFill>
                  <a:srgbClr val="6746C7"/>
                </a:solidFill>
                <a:latin typeface="Century Gothic"/>
              </a:rPr>
              <a:t>3 · PATTERN</a:t>
            </a:r>
          </a:p>
          <a:p>
            <a:pPr algn="l">
              <a:lnSpc>
                <a:spcPct val="105000"/>
              </a:lnSpc>
            </a:pPr>
            <a:r>
              <a:rPr sz="1700" b="0" i="0">
                <a:solidFill>
                  <a:srgbClr val="1E2A32"/>
                </a:solidFill>
                <a:latin typeface="Century Gothic"/>
              </a:rPr>
              <a:t>What keeps arriving with night?</a:t>
            </a:r>
          </a:p>
        </p:txBody>
      </p:sp>
      <p:sp>
        <p:nvSpPr>
          <p:cNvPr id="17" name="Rounded Rectangle 16"/>
          <p:cNvSpPr/>
          <p:nvPr/>
        </p:nvSpPr>
        <p:spPr>
          <a:xfrm>
            <a:off x="457200" y="4663440"/>
            <a:ext cx="11274552" cy="155448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663440"/>
            <a:ext cx="10698480" cy="1554480"/>
          </a:xfrm>
          <a:prstGeom prst="rect">
            <a:avLst/>
          </a:prstGeom>
          <a:noFill/>
        </p:spPr>
        <p:txBody>
          <a:bodyPr wrap="square" anchor="ctr" lIns="45720" rIns="45720" tIns="27432" bIns="27432">
            <a:spAutoFit/>
          </a:bodyPr>
          <a:lstStyle/>
          <a:p>
            <a:pPr algn="l">
              <a:lnSpc>
                <a:spcPct val="100000"/>
              </a:lnSpc>
            </a:pPr>
            <a:r>
              <a:rPr sz="2100" b="0" i="0">
                <a:solidFill>
                  <a:srgbClr val="FFFFFF"/>
                </a:solidFill>
                <a:latin typeface="Century Gothic"/>
              </a:rPr>
              <a:t>Night keeps arriving with </a:t>
            </a:r>
            <a:r>
              <a:rPr sz="2100" b="1" i="0">
                <a:solidFill>
                  <a:srgbClr val="FFC63C"/>
                </a:solidFill>
                <a:latin typeface="Century Gothic"/>
              </a:rPr>
              <a:t>______</a:t>
            </a:r>
            <a:r>
              <a:rPr sz="2100" b="0" i="0">
                <a:solidFill>
                  <a:srgbClr val="FFFFFF"/>
                </a:solidFill>
                <a:latin typeface="Century Gothic"/>
              </a:rPr>
              <a:t>, so Wiesel may be building “night” into a symbol of </a:t>
            </a:r>
            <a:r>
              <a:rPr sz="2100" b="1" i="0">
                <a:solidFill>
                  <a:srgbClr val="FFC63C"/>
                </a:solidFill>
                <a:latin typeface="Century Gothic"/>
              </a:rPr>
              <a:t>______</a:t>
            </a:r>
            <a:r>
              <a:rPr sz="2100" b="0" i="0">
                <a:solidFill>
                  <a:srgbClr val="FFFFFF"/>
                </a:solidFill>
                <a:latin typeface="Century Gothic"/>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11</a:t>
            </a:r>
          </a:p>
        </p:txBody>
      </p:sp>
      <p:sp>
        <p:nvSpPr>
          <p:cNvPr id="3" name="Oval 2"/>
          <p:cNvSpPr/>
          <p:nvPr/>
        </p:nvSpPr>
        <p:spPr>
          <a:xfrm>
            <a:off x="457200" y="566928"/>
            <a:ext cx="566928" cy="566928"/>
          </a:xfrm>
          <a:prstGeom prst="ellipse">
            <a:avLst/>
          </a:prstGeom>
          <a:solidFill>
            <a:srgbClr val="FFFFFF"/>
          </a:solidFill>
          <a:ln w="38100">
            <a:solidFill>
              <a:srgbClr val="2A56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2A56B5"/>
                </a:solidFill>
                <a:latin typeface="Century Gothic"/>
              </a:rPr>
              <a:t>05</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Focused Analytical Write</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Choose ONE. Talk first, then write.</a:t>
            </a:r>
          </a:p>
        </p:txBody>
      </p:sp>
      <p:sp>
        <p:nvSpPr>
          <p:cNvPr id="7" name="Rounded Rectangle 6"/>
          <p:cNvSpPr/>
          <p:nvPr/>
        </p:nvSpPr>
        <p:spPr>
          <a:xfrm>
            <a:off x="8668512" y="566928"/>
            <a:ext cx="3063240" cy="347472"/>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4 · BOX 05</a:t>
            </a:r>
          </a:p>
        </p:txBody>
      </p:sp>
      <p:sp>
        <p:nvSpPr>
          <p:cNvPr id="9" name="Rounded Rectangle 8"/>
          <p:cNvSpPr/>
          <p:nvPr/>
        </p:nvSpPr>
        <p:spPr>
          <a:xfrm>
            <a:off x="457200" y="1600200"/>
            <a:ext cx="5486400" cy="201168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91640"/>
            <a:ext cx="5029200" cy="1828800"/>
          </a:xfrm>
          <a:prstGeom prst="rect">
            <a:avLst/>
          </a:prstGeom>
          <a:noFill/>
        </p:spPr>
        <p:txBody>
          <a:bodyPr wrap="square" anchor="t" lIns="45720" rIns="45720" tIns="27432" bIns="27432">
            <a:spAutoFit/>
          </a:bodyPr>
          <a:lstStyle/>
          <a:p>
            <a:pPr algn="l">
              <a:lnSpc>
                <a:spcPct val="105000"/>
              </a:lnSpc>
            </a:pPr>
            <a:r>
              <a:rPr sz="1400" b="1" i="0">
                <a:solidFill>
                  <a:srgbClr val="2A56B5"/>
                </a:solidFill>
                <a:latin typeface="Century Gothic"/>
              </a:rPr>
              <a:t>A · HUMAN NATURE</a:t>
            </a:r>
          </a:p>
          <a:p>
            <a:pPr algn="l">
              <a:lnSpc>
                <a:spcPct val="105000"/>
              </a:lnSpc>
            </a:pPr>
            <a:r>
              <a:rPr sz="1700" b="0" i="0">
                <a:solidFill>
                  <a:srgbClr val="1E2A32"/>
                </a:solidFill>
                <a:latin typeface="Century Gothic"/>
              </a:rPr>
              <a:t>What does the community’s response to the warnings reveal about human nature?</a:t>
            </a:r>
          </a:p>
        </p:txBody>
      </p:sp>
      <p:sp>
        <p:nvSpPr>
          <p:cNvPr id="11" name="Rounded Rectangle 10"/>
          <p:cNvSpPr/>
          <p:nvPr/>
        </p:nvSpPr>
        <p:spPr>
          <a:xfrm>
            <a:off x="6245352" y="1600200"/>
            <a:ext cx="5486400" cy="2011680"/>
          </a:xfrm>
          <a:prstGeom prst="roundRect">
            <a:avLst>
              <a:gd name="adj" fmla="val 8000"/>
            </a:avLst>
          </a:prstGeom>
          <a:solidFill>
            <a:srgbClr val="E8D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1691640"/>
            <a:ext cx="5029200" cy="1828800"/>
          </a:xfrm>
          <a:prstGeom prst="rect">
            <a:avLst/>
          </a:prstGeom>
          <a:noFill/>
        </p:spPr>
        <p:txBody>
          <a:bodyPr wrap="square" anchor="t" lIns="45720" rIns="45720" tIns="27432" bIns="27432">
            <a:spAutoFit/>
          </a:bodyPr>
          <a:lstStyle/>
          <a:p>
            <a:pPr algn="l">
              <a:lnSpc>
                <a:spcPct val="105000"/>
              </a:lnSpc>
            </a:pPr>
            <a:r>
              <a:rPr sz="1400" b="1" i="0">
                <a:solidFill>
                  <a:srgbClr val="6746C7"/>
                </a:solidFill>
                <a:latin typeface="Century Gothic"/>
              </a:rPr>
              <a:t>B · SYMBOLISM</a:t>
            </a:r>
          </a:p>
          <a:p>
            <a:pPr algn="l">
              <a:lnSpc>
                <a:spcPct val="105000"/>
              </a:lnSpc>
            </a:pPr>
            <a:r>
              <a:rPr sz="1700" b="0" i="0">
                <a:solidFill>
                  <a:srgbClr val="1E2A32"/>
                </a:solidFill>
                <a:latin typeface="Century Gothic"/>
              </a:rPr>
              <a:t>What might Wiesel’s repeated use of “night” symbolize in the opening of the memoir?</a:t>
            </a:r>
          </a:p>
        </p:txBody>
      </p:sp>
      <p:sp>
        <p:nvSpPr>
          <p:cNvPr id="13" name="Rounded Rectangle 12"/>
          <p:cNvSpPr/>
          <p:nvPr/>
        </p:nvSpPr>
        <p:spPr>
          <a:xfrm>
            <a:off x="457200" y="3840480"/>
            <a:ext cx="3657600" cy="1143000"/>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886200"/>
            <a:ext cx="3200400" cy="1051560"/>
          </a:xfrm>
          <a:prstGeom prst="rect">
            <a:avLst/>
          </a:prstGeom>
          <a:noFill/>
        </p:spPr>
        <p:txBody>
          <a:bodyPr wrap="square" anchor="t" lIns="45720" rIns="45720" tIns="27432" bIns="27432">
            <a:spAutoFit/>
          </a:bodyPr>
          <a:lstStyle/>
          <a:p>
            <a:pPr algn="l">
              <a:lnSpc>
                <a:spcPct val="100000"/>
              </a:lnSpc>
            </a:pPr>
            <a:r>
              <a:rPr sz="1400" b="1" i="0">
                <a:solidFill>
                  <a:srgbClr val="B98100"/>
                </a:solidFill>
                <a:latin typeface="Century Gothic"/>
              </a:rPr>
              <a:t>CLAIM</a:t>
            </a:r>
          </a:p>
          <a:p>
            <a:pPr algn="l">
              <a:lnSpc>
                <a:spcPct val="100000"/>
              </a:lnSpc>
            </a:pPr>
            <a:r>
              <a:rPr sz="1600" b="0" i="0">
                <a:solidFill>
                  <a:srgbClr val="1E2A32"/>
                </a:solidFill>
                <a:latin typeface="Century Gothic"/>
              </a:rPr>
              <a:t>What are you arguing?</a:t>
            </a:r>
          </a:p>
        </p:txBody>
      </p:sp>
      <p:sp>
        <p:nvSpPr>
          <p:cNvPr id="15" name="Rounded Rectangle 14"/>
          <p:cNvSpPr/>
          <p:nvPr/>
        </p:nvSpPr>
        <p:spPr>
          <a:xfrm>
            <a:off x="4251960" y="3840480"/>
            <a:ext cx="3657600" cy="1143000"/>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3886200"/>
            <a:ext cx="3200400" cy="1051560"/>
          </a:xfrm>
          <a:prstGeom prst="rect">
            <a:avLst/>
          </a:prstGeom>
          <a:noFill/>
        </p:spPr>
        <p:txBody>
          <a:bodyPr wrap="square" anchor="t" lIns="45720" rIns="45720" tIns="27432" bIns="27432">
            <a:spAutoFit/>
          </a:bodyPr>
          <a:lstStyle/>
          <a:p>
            <a:pPr algn="l">
              <a:lnSpc>
                <a:spcPct val="100000"/>
              </a:lnSpc>
            </a:pPr>
            <a:r>
              <a:rPr sz="1400" b="1" i="0">
                <a:solidFill>
                  <a:srgbClr val="B98100"/>
                </a:solidFill>
                <a:latin typeface="Century Gothic"/>
              </a:rPr>
              <a:t>EVIDENCE</a:t>
            </a:r>
          </a:p>
          <a:p>
            <a:pPr algn="l">
              <a:lnSpc>
                <a:spcPct val="100000"/>
              </a:lnSpc>
            </a:pPr>
            <a:r>
              <a:rPr sz="1600" b="0" i="0">
                <a:solidFill>
                  <a:srgbClr val="1E2A32"/>
                </a:solidFill>
                <a:latin typeface="Century Gothic"/>
              </a:rPr>
              <a:t>What line or detail proves it? Page?</a:t>
            </a:r>
          </a:p>
        </p:txBody>
      </p:sp>
      <p:sp>
        <p:nvSpPr>
          <p:cNvPr id="17" name="Rounded Rectangle 16"/>
          <p:cNvSpPr/>
          <p:nvPr/>
        </p:nvSpPr>
        <p:spPr>
          <a:xfrm>
            <a:off x="8046720" y="3840480"/>
            <a:ext cx="3657600" cy="1143000"/>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3886200"/>
            <a:ext cx="3200400" cy="1051560"/>
          </a:xfrm>
          <a:prstGeom prst="rect">
            <a:avLst/>
          </a:prstGeom>
          <a:noFill/>
        </p:spPr>
        <p:txBody>
          <a:bodyPr wrap="square" anchor="t" lIns="45720" rIns="45720" tIns="27432" bIns="27432">
            <a:spAutoFit/>
          </a:bodyPr>
          <a:lstStyle/>
          <a:p>
            <a:pPr algn="l">
              <a:lnSpc>
                <a:spcPct val="100000"/>
              </a:lnSpc>
            </a:pPr>
            <a:r>
              <a:rPr sz="1400" b="1" i="0">
                <a:solidFill>
                  <a:srgbClr val="B98100"/>
                </a:solidFill>
                <a:latin typeface="Century Gothic"/>
              </a:rPr>
              <a:t>REASONING</a:t>
            </a:r>
          </a:p>
          <a:p>
            <a:pPr algn="l">
              <a:lnSpc>
                <a:spcPct val="100000"/>
              </a:lnSpc>
            </a:pPr>
            <a:r>
              <a:rPr sz="1600" b="0" i="0">
                <a:solidFill>
                  <a:srgbClr val="1E2A32"/>
                </a:solidFill>
                <a:latin typeface="Century Gothic"/>
              </a:rPr>
              <a:t>Why does that evidence support your claim?</a:t>
            </a:r>
          </a:p>
        </p:txBody>
      </p:sp>
      <p:sp>
        <p:nvSpPr>
          <p:cNvPr id="19" name="Rounded Rectangle 18"/>
          <p:cNvSpPr/>
          <p:nvPr/>
        </p:nvSpPr>
        <p:spPr>
          <a:xfrm>
            <a:off x="457200" y="5212080"/>
            <a:ext cx="11274552" cy="100584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212080"/>
            <a:ext cx="10698480" cy="1005840"/>
          </a:xfrm>
          <a:prstGeom prst="rect">
            <a:avLst/>
          </a:prstGeom>
          <a:noFill/>
        </p:spPr>
        <p:txBody>
          <a:bodyPr wrap="square" anchor="ctr" lIns="45720" rIns="45720" tIns="27432" bIns="27432">
            <a:spAutoFit/>
          </a:bodyPr>
          <a:lstStyle/>
          <a:p>
            <a:pPr algn="l">
              <a:lnSpc>
                <a:spcPct val="100000"/>
              </a:lnSpc>
            </a:pPr>
            <a:r>
              <a:rPr sz="2100" b="1" i="0">
                <a:solidFill>
                  <a:srgbClr val="FFFFFF"/>
                </a:solidFill>
                <a:latin typeface="Century Gothic"/>
              </a:rPr>
              <a:t>You found the line. Now tell me what it proves.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12</a:t>
            </a:r>
          </a:p>
        </p:txBody>
      </p:sp>
      <p:sp>
        <p:nvSpPr>
          <p:cNvPr id="3" name="Oval 2"/>
          <p:cNvSpPr/>
          <p:nvPr/>
        </p:nvSpPr>
        <p:spPr>
          <a:xfrm>
            <a:off x="457200" y="566928"/>
            <a:ext cx="566928" cy="566928"/>
          </a:xfrm>
          <a:prstGeom prst="ellipse">
            <a:avLst/>
          </a:prstGeom>
          <a:solidFill>
            <a:srgbClr val="FFFFFF"/>
          </a:solidFill>
          <a:ln w="38100">
            <a:solidFill>
              <a:srgbClr val="DF44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DF442A"/>
                </a:solidFill>
                <a:latin typeface="Century Gothic"/>
              </a:rPr>
              <a:t>06</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Exit Ticket · On Your Own</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Silent. Independent. Answer the one Ms. Briggs chooses.</a:t>
            </a:r>
          </a:p>
        </p:txBody>
      </p:sp>
      <p:sp>
        <p:nvSpPr>
          <p:cNvPr id="7" name="Rounded Rectangle 6"/>
          <p:cNvSpPr/>
          <p:nvPr/>
        </p:nvSpPr>
        <p:spPr>
          <a:xfrm>
            <a:off x="8668512" y="566928"/>
            <a:ext cx="3063240" cy="347472"/>
          </a:xfrm>
          <a:prstGeom prst="roundRect">
            <a:avLst>
              <a:gd name="adj" fmla="val 8000"/>
            </a:avLst>
          </a:prstGeom>
          <a:solidFill>
            <a:srgbClr val="FF6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5 · BOX 06</a:t>
            </a:r>
          </a:p>
        </p:txBody>
      </p:sp>
      <p:sp>
        <p:nvSpPr>
          <p:cNvPr id="9" name="Rounded Rectangle 8"/>
          <p:cNvSpPr/>
          <p:nvPr/>
        </p:nvSpPr>
        <p:spPr>
          <a:xfrm>
            <a:off x="457200" y="1600200"/>
            <a:ext cx="11274552" cy="1828800"/>
          </a:xfrm>
          <a:prstGeom prst="roundRect">
            <a:avLst>
              <a:gd name="adj" fmla="val 8000"/>
            </a:avLst>
          </a:prstGeom>
          <a:solidFill>
            <a:srgbClr val="FFFFFF"/>
          </a:solidFill>
          <a:ln w="31750">
            <a:solidFill>
              <a:srgbClr val="FF6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00200"/>
            <a:ext cx="10698480" cy="1828800"/>
          </a:xfrm>
          <a:prstGeom prst="rect">
            <a:avLst/>
          </a:prstGeom>
          <a:noFill/>
        </p:spPr>
        <p:txBody>
          <a:bodyPr wrap="square" anchor="ctr" lIns="45720" rIns="45720" tIns="27432" bIns="27432">
            <a:spAutoFit/>
          </a:bodyPr>
          <a:lstStyle/>
          <a:p>
            <a:pPr algn="l">
              <a:lnSpc>
                <a:spcPct val="100000"/>
              </a:lnSpc>
            </a:pPr>
            <a:r>
              <a:rPr sz="2100" b="1" i="0">
                <a:solidFill>
                  <a:srgbClr val="DF442A"/>
                </a:solidFill>
                <a:latin typeface="Century Gothic"/>
              </a:rPr>
              <a:t>A  </a:t>
            </a:r>
            <a:r>
              <a:rPr sz="2100" b="0" i="0">
                <a:solidFill>
                  <a:srgbClr val="1E2A32"/>
                </a:solidFill>
                <a:latin typeface="Century Gothic"/>
              </a:rPr>
              <a:t>One warning the people of Sighet fail to take seriously is ______. Their reaction reveals ______ about people.</a:t>
            </a:r>
          </a:p>
        </p:txBody>
      </p:sp>
      <p:sp>
        <p:nvSpPr>
          <p:cNvPr id="11" name="TextBox 10"/>
          <p:cNvSpPr txBox="1"/>
          <p:nvPr/>
        </p:nvSpPr>
        <p:spPr>
          <a:xfrm>
            <a:off x="457200" y="3474720"/>
            <a:ext cx="11274552" cy="457200"/>
          </a:xfrm>
          <a:prstGeom prst="rect">
            <a:avLst/>
          </a:prstGeom>
          <a:noFill/>
        </p:spPr>
        <p:txBody>
          <a:bodyPr wrap="square" anchor="t" lIns="45720" rIns="45720" tIns="27432" bIns="27432">
            <a:spAutoFit/>
          </a:bodyPr>
          <a:lstStyle/>
          <a:p>
            <a:pPr algn="ctr">
              <a:lnSpc>
                <a:spcPct val="100000"/>
              </a:lnSpc>
            </a:pPr>
            <a:r>
              <a:rPr sz="1600" b="1" i="0">
                <a:solidFill>
                  <a:srgbClr val="DF442A"/>
                </a:solidFill>
                <a:latin typeface="Century Gothic"/>
              </a:rPr>
              <a:t>OR</a:t>
            </a:r>
          </a:p>
        </p:txBody>
      </p:sp>
      <p:sp>
        <p:nvSpPr>
          <p:cNvPr id="12" name="Rounded Rectangle 11"/>
          <p:cNvSpPr/>
          <p:nvPr/>
        </p:nvSpPr>
        <p:spPr>
          <a:xfrm>
            <a:off x="457200" y="3977639"/>
            <a:ext cx="11274552" cy="1828800"/>
          </a:xfrm>
          <a:prstGeom prst="roundRect">
            <a:avLst>
              <a:gd name="adj" fmla="val 8000"/>
            </a:avLst>
          </a:prstGeom>
          <a:solidFill>
            <a:srgbClr val="FFFFFF"/>
          </a:solidFill>
          <a:ln w="31750">
            <a:solidFill>
              <a:srgbClr val="FF6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977639"/>
            <a:ext cx="10698480" cy="1828800"/>
          </a:xfrm>
          <a:prstGeom prst="rect">
            <a:avLst/>
          </a:prstGeom>
          <a:noFill/>
        </p:spPr>
        <p:txBody>
          <a:bodyPr wrap="square" anchor="ctr" lIns="45720" rIns="45720" tIns="27432" bIns="27432">
            <a:spAutoFit/>
          </a:bodyPr>
          <a:lstStyle/>
          <a:p>
            <a:pPr algn="l">
              <a:lnSpc>
                <a:spcPct val="100000"/>
              </a:lnSpc>
            </a:pPr>
            <a:r>
              <a:rPr sz="2100" b="1" i="0">
                <a:solidFill>
                  <a:srgbClr val="DF442A"/>
                </a:solidFill>
                <a:latin typeface="Century Gothic"/>
              </a:rPr>
              <a:t>B  </a:t>
            </a:r>
            <a:r>
              <a:rPr sz="2100" b="0" i="0">
                <a:solidFill>
                  <a:srgbClr val="1E2A32"/>
                </a:solidFill>
                <a:latin typeface="Century Gothic"/>
              </a:rPr>
              <a:t>So far, Wiesel’s repeated use of “night” may symbolize ______ because ______.</a:t>
            </a:r>
          </a:p>
        </p:txBody>
      </p:sp>
    </p:spTree>
  </p:cSld>
  <p:clrMapOvr>
    <a:masterClrMapping/>
  </p:clrMapOvr>
</p:sld>
</file>

<file path=ppt/theme/theme1.xml><?xml version="1.0" encoding="utf-8"?>
<a:theme xmlns:a="http://schemas.openxmlformats.org/drawingml/2006/main" name="Encountering Evil Week 9 Day 2">
  <a:themeElements>
    <a:clrScheme name="Encountering Evil Week 9 Day 2">
      <a:dk1>
        <a:srgbClr val="1E2A32"/>
      </a:dk1>
      <a:lt1>
        <a:srgbClr val="FFFFFF"/>
      </a:lt1>
      <a:dk2>
        <a:srgbClr val="5A6B75"/>
      </a:dk2>
      <a:lt2>
        <a:srgbClr val="FFFBF4"/>
      </a:lt2>
      <a:accent1>
        <a:srgbClr val="00A39B"/>
      </a:accent1>
      <a:accent2>
        <a:srgbClr val="3B74E8"/>
      </a:accent2>
      <a:accent3>
        <a:srgbClr val="FF6B4E"/>
      </a:accent3>
      <a:accent4>
        <a:srgbClr val="FFC63C"/>
      </a:accent4>
      <a:accent5>
        <a:srgbClr val="8B6BE8"/>
      </a:accent5>
      <a:accent6>
        <a:srgbClr val="C2185B"/>
      </a:accent6>
      <a:hlink>
        <a:srgbClr val="2A56B5"/>
      </a:hlink>
      <a:folHlink>
        <a:srgbClr val="6746C7"/>
      </a:folHlink>
    </a:clrScheme>
    <a:fontScheme name="Encountering Evil Week 9 Day 2">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2132</Words>
  <Application>Microsoft Office PowerPoint</Application>
  <PresentationFormat>Widescreen</PresentationFormat>
  <Paragraphs>179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Century Gothic</vt:lpstr>
      <vt:lpstr>Encountering Evil Week 9 Day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9 Day 2 · In Spite of Everything: Tone, Mood, and the End of the Play</dc:title>
  <dc:subject>PptxGenJS Presentation</dc:subject>
  <dc:creator>Ms. Briggs</dc:creator>
  <cp:lastModifiedBy>Danyelle Briggs</cp:lastModifiedBy>
  <cp:revision>1</cp:revision>
  <dcterms:created xsi:type="dcterms:W3CDTF">2026-10-08T17:28:41Z</dcterms:created>
  <dcterms:modified xsi:type="dcterms:W3CDTF">2026-10-08T17:31:00Z</dcterms:modified>
</cp:coreProperties>
</file>