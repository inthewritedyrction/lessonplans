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D93AF7-35A2-BFB3-1229-15C2457ECF37}">
          <p14:sldIdLst>
            <p14:sldId id="256"/>
            <p14:sldId id="257"/>
          </p14:sldIdLst>
        </p14:section>
        <p14:section name="Tone vs. Mood" id="{FE85F2F0-7B1E-D457-56B1-1AC96C63F273}">
          <p14:sldIdLst>
            <p14:sldId id="258"/>
            <p14:sldId id="259"/>
            <p14:sldId id="260"/>
          </p14:sldIdLst>
        </p14:section>
        <p14:section name="Final Scene" id="{C7010FEB-3070-B658-2C20-C89D755610BD}">
          <p14:sldIdLst>
            <p14:sldId id="261"/>
          </p14:sldIdLst>
        </p14:section>
        <p14:section name="Model + Think-Aloud" id="{EDA56DDE-DDCC-26E0-A968-3A049C1FB7AD}">
          <p14:sldIdLst>
            <p14:sldId id="262"/>
            <p14:sldId id="263"/>
          </p14:sldIdLst>
        </p14:section>
        <p14:section name="Partner Reading" id="{985601B6-42AF-B576-35F5-BE9EE78C70C0}">
          <p14:sldIdLst>
            <p14:sldId id="264"/>
          </p14:sldIdLst>
        </p14:section>
        <p14:section name="Debrief" id="{BE18E7F5-8AEE-AFFE-C3F5-8B26E8E388E8}">
          <p14:sldIdLst>
            <p14:sldId id="265"/>
          </p14:sldIdLst>
        </p14:section>
        <p14:section name="Transitions" id="{7CF431F1-17BA-FB6C-03F9-0441331A1F5C}">
          <p14:sldIdLst>
            <p14:sldId id="266"/>
          </p14:sldIdLst>
        </p14:section>
        <p14:section name="Exit Ticket" id="{D92C7F42-059F-0999-C57A-ECE6CF53922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2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as scholars walk in. Packets on desks, page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Alright, look here. You've got five minutes. Same event, two completely different sentences. I want you thinking about what changed and which words caused it. Work silently first.
Timer ends -&gt; SAY: Alright, pencils down for a second. Both sentences are about the exact same thing. So what changed?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Same event. What is different? (2-3 scholars)
ASK: What word in Sentence A creates that feeling? Press toward 'bullied.' And in B? 'kept... company.'
IF: 'A is just negative' -&gt; Show me the word that made you say that.
SAY: Good. The event didn't change. The WORD CHOICE did. That word choice gives the speaker an attitude. That is tone.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(Prather): Tone is the attitude in the words. It belongs to the speaker or writer. Mood is the feeling in the room. It belongs to the audience. Diction creates tone; tone plus events create mood.
SORT: Sentence A: is 'threatening' the speaker's attitude or how you feel reading it? Whose feeling is that, the speaker's or the audience's?
Keep tone and mood definitions posted all period.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(Prather): At the end of this play, Anne's tone and the scene's mood pull in opposite directions on purpose.
TRANSITION: Now we're about to get to the end of Anne's story, where her words are going to sound one way while the scene makes us feel something completely different.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only (60-90 sec): the hope of the invasion, the rising fear, the final morning. You'll read those with a partner. First we jump to the very end.
Read Scene 5 aloud: p. 777 '[It is again the afternoon in November, 1945...]' to the end of p. 778, including Anne's final voice-over and 'She puts me to shame.'
Let the silence sit. 'Don't write yet.' Pause. Then say the line on the slide.
ASK: What is Anne's attitude in those words? Then: What are WE feeling because we know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min, keep it short. Diction: 'In spite of everything,' 'still believe,' 'really good at heart.' 'In spite of everything' shows she KNOWS how bad it is, so naive fits least; write hopeful (or defiant). Audience knows: Mr. Frank just told us she didn't survive. Mood: devastating. Gap: she insists people are good; we just learned what people did to her. Her hope makes the loss hurt more.
QUICK ASK: Could someone defend naive? What word would you point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LEAF ACTION STEP. 1) Read it once together. 2) Silent 30-45 sec: whose tone, what words, what tone word can you defend? Thumb on chest. 3) [Name], talk us through how you chose your tone word. Start with 'First I...' PRESS: What diction made you choose that? Why that word instead of another one? Whose feeling are you describing? What does the audience know? 4) Who can build on, revise, or challenge that reasoning? 5) RELEASE: Good. That is the process I want running in your head while you work: look at the words, decide whose feeling it is, and prove your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calls: 38 'You should be into Chunk 2.' 44 'Row 3 should be done.' 49 'Finish your sentence.'
When stuck: Talk me through how you got there. What did you notice first? What part are you sure about?
Misconception: 'Anne's tone is sad because the scene is sad' -&gt; Whose feeling is 'sad,' Anne's or ours? Show me Anne's actual words.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compare, agree, star, each scholar writes the sentence. Take 2-3 pairs. Ask the two Prather questions. Write ideas under THEME word for word. Don't confirm or rank. 'Never give up' -&gt; That sounds like advice. We are not solving theme yet. First prove what the contrast is doing.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minutes total; shorten this FIRST if behind. Read the choppy paragraph: What makes it hard to follow? Teach the four families. Model Item 1 (invasion -&gt; celebrate = cause/effect, 'As a result,'). Scholars do Items 2-3 (3 min). Go over (3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and protected. Do not go over it as a class first. Collect EXIT TICKETS ONLY; page 2 stays with scholars or gets collected and returned on Day 3.
74-80: Cold call 2 for theme guess only. Do not confirm or correct; write on THEME board.
PREVIEW (Prather): Tomorrow, Course Mojo asks you the exact question we have been circling: how does this contrast develop the theme of the play? Your map is your evidence bank. We will be using this tomorrow.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F4"/>
        </a:solidFill>
        <a:effectLst/>
      </p:bgPr>
    </p:bg>
    <p:spTree>
      <p:nvGrpSpPr>
        <p:cNvPr id="1" name=""/>
        <p:cNvGrpSpPr/>
        <p:nvPr/>
      </p:nvGrpSpPr>
      <p:grpSpPr>
        <a:xfrm>
          <a:off x="0" y="0"/>
          <a:ext cx="0" cy="0"/>
          <a:chOff x="0" y="0"/>
          <a:chExt cx="0" cy="0"/>
        </a:xfrm>
      </p:grpSpPr>
      <p:sp>
        <p:nvSpPr>
          <p:cNvPr id="2" name="Text 0"/>
          <p:cNvSpPr/>
          <p:nvPr/>
        </p:nvSpPr>
        <p:spPr>
          <a:xfrm>
            <a:off x="457200" y="201168"/>
            <a:ext cx="7315200" cy="274320"/>
          </a:xfrm>
          <a:prstGeom prst="rect">
            <a:avLst/>
          </a:prstGeom>
          <a:noFill/>
          <a:ln/>
        </p:spPr>
        <p:txBody>
          <a:bodyPr wrap="square" lIns="0" tIns="0" rIns="0" bIns="0" rtlCol="0" anchor="ctr"/>
          <a:lstStyle/>
          <a:p>
            <a:pPr marL="0" indent="0">
              <a:buNone/>
            </a:pPr>
            <a:r>
              <a:rPr lang="en-US" sz="900" b="1" kern="0" spc="300" dirty="0">
                <a:solidFill>
                  <a:srgbClr val="8FA0AA"/>
                </a:solidFill>
                <a:latin typeface="Century Gothic" pitchFamily="34" charset="0"/>
                <a:ea typeface="Century Gothic" pitchFamily="34" charset="-122"/>
                <a:cs typeface="Century Gothic" pitchFamily="34" charset="-120"/>
              </a:rPr>
              <a:t>WEEK 9 · DAY 2 · ENCOUNTERING EVIL · THE DIARY OF ANNE FRANK</a:t>
            </a:r>
            <a:endParaRPr lang="en-US" sz="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2"/>
        </a:solidFill>
        <a:effectLst/>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ellipse">
            <a:avLst/>
          </a:prstGeom>
          <a:solidFill>
            <a:srgbClr val="00A39B"/>
          </a:solidFill>
          <a:ln/>
        </p:spPr>
        <p:txBody>
          <a:bodyPr/>
          <a:lstStyle/>
          <a:p>
            <a:endParaRPr lang="en-US"/>
          </a:p>
        </p:txBody>
      </p:sp>
      <p:sp>
        <p:nvSpPr>
          <p:cNvPr id="3" name="Shape 1"/>
          <p:cNvSpPr/>
          <p:nvPr/>
        </p:nvSpPr>
        <p:spPr>
          <a:xfrm>
            <a:off x="1097280" y="685800"/>
            <a:ext cx="310896" cy="310896"/>
          </a:xfrm>
          <a:prstGeom prst="ellipse">
            <a:avLst/>
          </a:prstGeom>
          <a:solidFill>
            <a:srgbClr val="3B74E8"/>
          </a:solidFill>
          <a:ln/>
        </p:spPr>
        <p:txBody>
          <a:bodyPr/>
          <a:lstStyle/>
          <a:p>
            <a:endParaRPr lang="en-US"/>
          </a:p>
        </p:txBody>
      </p:sp>
      <p:sp>
        <p:nvSpPr>
          <p:cNvPr id="4" name="Shape 2"/>
          <p:cNvSpPr/>
          <p:nvPr/>
        </p:nvSpPr>
        <p:spPr>
          <a:xfrm>
            <a:off x="1554480" y="685800"/>
            <a:ext cx="310896" cy="310896"/>
          </a:xfrm>
          <a:prstGeom prst="ellipse">
            <a:avLst/>
          </a:prstGeom>
          <a:solidFill>
            <a:srgbClr val="FF6B4E"/>
          </a:solidFill>
          <a:ln/>
        </p:spPr>
        <p:txBody>
          <a:bodyPr/>
          <a:lstStyle/>
          <a:p>
            <a:endParaRPr lang="en-US"/>
          </a:p>
        </p:txBody>
      </p:sp>
      <p:sp>
        <p:nvSpPr>
          <p:cNvPr id="5" name="Shape 3"/>
          <p:cNvSpPr/>
          <p:nvPr/>
        </p:nvSpPr>
        <p:spPr>
          <a:xfrm>
            <a:off x="2011680" y="685800"/>
            <a:ext cx="310896" cy="310896"/>
          </a:xfrm>
          <a:prstGeom prst="ellipse">
            <a:avLst/>
          </a:prstGeom>
          <a:solidFill>
            <a:srgbClr val="FFC63C"/>
          </a:solidFill>
          <a:ln/>
        </p:spPr>
        <p:txBody>
          <a:bodyPr/>
          <a:lstStyle/>
          <a:p>
            <a:endParaRPr lang="en-US"/>
          </a:p>
        </p:txBody>
      </p:sp>
      <p:sp>
        <p:nvSpPr>
          <p:cNvPr id="6" name="Shape 4"/>
          <p:cNvSpPr/>
          <p:nvPr/>
        </p:nvSpPr>
        <p:spPr>
          <a:xfrm>
            <a:off x="2468880" y="685800"/>
            <a:ext cx="310896" cy="310896"/>
          </a:xfrm>
          <a:prstGeom prst="ellipse">
            <a:avLst/>
          </a:prstGeom>
          <a:solidFill>
            <a:srgbClr val="8B6BE8"/>
          </a:solidFill>
          <a:ln/>
        </p:spPr>
        <p:txBody>
          <a:bodyPr/>
          <a:lstStyle/>
          <a:p>
            <a:endParaRPr lang="en-US"/>
          </a:p>
        </p:txBody>
      </p:sp>
      <p:sp>
        <p:nvSpPr>
          <p:cNvPr id="7" name="Text 5"/>
          <p:cNvSpPr txBox="1"/>
          <p:nvPr/>
        </p:nvSpPr>
        <p:spPr>
          <a:xfrm>
            <a:off x="640080" y="1234440"/>
            <a:ext cx="8229600" cy="320040"/>
          </a:xfrm>
          <a:prstGeom prst="rect">
            <a:avLst/>
          </a:prstGeom>
          <a:noFill/>
          <a:ln/>
        </p:spPr>
        <p:txBody>
          <a:bodyPr wrap="square" lIns="0" tIns="0" rIns="0" bIns="0" rtlCol="0" anchor="t"/>
          <a:lstStyle/>
          <a:p>
            <a:pPr marL="0" indent="0">
              <a:buNone/>
            </a:pPr>
            <a:r>
              <a:rPr lang="en-US" sz="1300" b="1" kern="0" spc="400" dirty="0">
                <a:solidFill>
                  <a:srgbClr val="9FB3BD"/>
                </a:solidFill>
                <a:latin typeface="Century Gothic" pitchFamily="34" charset="0"/>
                <a:ea typeface="Century Gothic" pitchFamily="34" charset="-122"/>
                <a:cs typeface="Century Gothic" pitchFamily="34" charset="-120"/>
              </a:rPr>
              <a:t>WEEK 9 · DAY 2 · ENCOUNTERING EVIL</a:t>
            </a:r>
            <a:endParaRPr lang="en-US" sz="1300" dirty="0"/>
          </a:p>
        </p:txBody>
      </p:sp>
      <p:sp>
        <p:nvSpPr>
          <p:cNvPr id="8" name="Text 6"/>
          <p:cNvSpPr txBox="1"/>
          <p:nvPr/>
        </p:nvSpPr>
        <p:spPr>
          <a:xfrm>
            <a:off x="640080" y="1645920"/>
            <a:ext cx="10972800" cy="1737360"/>
          </a:xfrm>
          <a:prstGeom prst="rect">
            <a:avLst/>
          </a:prstGeom>
          <a:noFill/>
          <a:ln/>
        </p:spPr>
        <p:txBody>
          <a:bodyPr wrap="square" lIns="0" tIns="0" rIns="0" bIns="0" rtlCol="0" anchor="t"/>
          <a:lstStyle/>
          <a:p>
            <a:pPr marL="0" indent="0">
              <a:buNone/>
            </a:pPr>
            <a:r>
              <a:rPr lang="en-US" sz="4400" b="1" dirty="0">
                <a:solidFill>
                  <a:srgbClr val="FFFFFF"/>
                </a:solidFill>
                <a:latin typeface="Century Gothic" pitchFamily="34" charset="0"/>
                <a:ea typeface="Century Gothic" pitchFamily="34" charset="-122"/>
                <a:cs typeface="Century Gothic" pitchFamily="34" charset="-120"/>
              </a:rPr>
              <a:t>In Spite of Everything:</a:t>
            </a:r>
            <a:endParaRPr lang="en-US" sz="4400" dirty="0"/>
          </a:p>
          <a:p>
            <a:pPr marL="0" indent="0">
              <a:buNone/>
            </a:pPr>
            <a:r>
              <a:rPr lang="en-US" sz="4400" b="1" dirty="0">
                <a:solidFill>
                  <a:srgbClr val="FFFFFF"/>
                </a:solidFill>
                <a:latin typeface="Century Gothic" pitchFamily="34" charset="0"/>
                <a:ea typeface="Century Gothic" pitchFamily="34" charset="-122"/>
                <a:cs typeface="Century Gothic" pitchFamily="34" charset="-120"/>
              </a:rPr>
              <a:t>Tone, Mood, and the End of the Play</a:t>
            </a:r>
            <a:endParaRPr lang="en-US" sz="4400" dirty="0"/>
          </a:p>
        </p:txBody>
      </p:sp>
      <p:sp>
        <p:nvSpPr>
          <p:cNvPr id="9" name="Text 7"/>
          <p:cNvSpPr txBox="1"/>
          <p:nvPr/>
        </p:nvSpPr>
        <p:spPr>
          <a:xfrm>
            <a:off x="640080" y="3429000"/>
            <a:ext cx="10789920" cy="365760"/>
          </a:xfrm>
          <a:prstGeom prst="rect">
            <a:avLst/>
          </a:prstGeom>
          <a:noFill/>
          <a:ln/>
        </p:spPr>
        <p:txBody>
          <a:bodyPr wrap="square" lIns="0" tIns="0" rIns="0" bIns="0" rtlCol="0" anchor="t"/>
          <a:lstStyle/>
          <a:p>
            <a:pPr marL="0" indent="0">
              <a:buNone/>
            </a:pPr>
            <a:r>
              <a:rPr lang="en-US" sz="1500" dirty="0">
                <a:solidFill>
                  <a:srgbClr val="C9D4DA"/>
                </a:solidFill>
                <a:latin typeface="Century Gothic" pitchFamily="34" charset="0"/>
                <a:ea typeface="Century Gothic" pitchFamily="34" charset="-122"/>
                <a:cs typeface="Century Gothic" pitchFamily="34" charset="-120"/>
              </a:rPr>
              <a:t>The Diary of Anne Frank · Act II, Scenes 3–5 · pp. 766–778</a:t>
            </a:r>
            <a:endParaRPr lang="en-US" sz="1500" dirty="0"/>
          </a:p>
        </p:txBody>
      </p:sp>
      <p:sp>
        <p:nvSpPr>
          <p:cNvPr id="10" name="Shape 8"/>
          <p:cNvSpPr/>
          <p:nvPr/>
        </p:nvSpPr>
        <p:spPr>
          <a:xfrm>
            <a:off x="640080" y="4114800"/>
            <a:ext cx="5303520" cy="2103120"/>
          </a:xfrm>
          <a:prstGeom prst="roundRect">
            <a:avLst>
              <a:gd name="adj" fmla="val 7826"/>
            </a:avLst>
          </a:prstGeom>
          <a:solidFill>
            <a:srgbClr val="8B6BE8"/>
          </a:solidFill>
          <a:ln/>
        </p:spPr>
        <p:txBody>
          <a:bodyPr/>
          <a:lstStyle/>
          <a:p>
            <a:endParaRPr lang="en-US"/>
          </a:p>
        </p:txBody>
      </p:sp>
      <p:sp>
        <p:nvSpPr>
          <p:cNvPr id="11" name="Text 9"/>
          <p:cNvSpPr txBox="1"/>
          <p:nvPr/>
        </p:nvSpPr>
        <p:spPr>
          <a:xfrm>
            <a:off x="914400" y="4297680"/>
            <a:ext cx="4754880" cy="274320"/>
          </a:xfrm>
          <a:prstGeom prst="rect">
            <a:avLst/>
          </a:prstGeom>
          <a:noFill/>
          <a:ln/>
        </p:spPr>
        <p:txBody>
          <a:bodyPr wrap="square" lIns="0" tIns="0" rIns="0" bIns="0" rtlCol="0" anchor="t"/>
          <a:lstStyle/>
          <a:p>
            <a:pPr marL="0" indent="0">
              <a:buNone/>
            </a:pPr>
            <a:r>
              <a:rPr lang="en-US" sz="1100" b="1" kern="0" spc="300" dirty="0">
                <a:solidFill>
                  <a:srgbClr val="FFFFFF"/>
                </a:solidFill>
                <a:latin typeface="Century Gothic" pitchFamily="34" charset="0"/>
                <a:ea typeface="Century Gothic" pitchFamily="34" charset="-122"/>
                <a:cs typeface="Century Gothic" pitchFamily="34" charset="-120"/>
              </a:rPr>
              <a:t>ESSENTIAL QUESTION</a:t>
            </a:r>
            <a:endParaRPr lang="en-US" sz="1100" dirty="0"/>
          </a:p>
        </p:txBody>
      </p:sp>
      <p:sp>
        <p:nvSpPr>
          <p:cNvPr id="12" name="Text 10"/>
          <p:cNvSpPr txBox="1"/>
          <p:nvPr/>
        </p:nvSpPr>
        <p:spPr>
          <a:xfrm>
            <a:off x="914400" y="4617720"/>
            <a:ext cx="4754880" cy="1508760"/>
          </a:xfrm>
          <a:prstGeom prst="rect">
            <a:avLst/>
          </a:prstGeom>
          <a:noFill/>
          <a:ln/>
        </p:spPr>
        <p:txBody>
          <a:bodyPr wrap="square" lIns="0" tIns="0" rIns="0" bIns="0" rtlCol="0" anchor="t"/>
          <a:lstStyle/>
          <a:p>
            <a:pPr marL="0" indent="0">
              <a:buNone/>
            </a:pPr>
            <a:r>
              <a:rPr lang="en-US" sz="1650" dirty="0">
                <a:solidFill>
                  <a:srgbClr val="FFFFFF"/>
                </a:solidFill>
                <a:latin typeface="Century Gothic" pitchFamily="34" charset="0"/>
                <a:ea typeface="Century Gothic" pitchFamily="34" charset="-122"/>
                <a:cs typeface="Century Gothic" pitchFamily="34" charset="-120"/>
              </a:rPr>
              <a:t>What is the difference between tone and mood, and how do the playwrights set them against each other in the final scenes of the play?</a:t>
            </a:r>
            <a:endParaRPr lang="en-US" sz="1650" dirty="0"/>
          </a:p>
        </p:txBody>
      </p:sp>
      <p:sp>
        <p:nvSpPr>
          <p:cNvPr id="13" name="Shape 11"/>
          <p:cNvSpPr/>
          <p:nvPr/>
        </p:nvSpPr>
        <p:spPr>
          <a:xfrm>
            <a:off x="6217920" y="4114800"/>
            <a:ext cx="5303520" cy="2103120"/>
          </a:xfrm>
          <a:prstGeom prst="roundRect">
            <a:avLst>
              <a:gd name="adj" fmla="val 7826"/>
            </a:avLst>
          </a:prstGeom>
          <a:solidFill>
            <a:srgbClr val="FFC63C"/>
          </a:solidFill>
          <a:ln/>
        </p:spPr>
        <p:txBody>
          <a:bodyPr/>
          <a:lstStyle/>
          <a:p>
            <a:endParaRPr lang="en-US"/>
          </a:p>
        </p:txBody>
      </p:sp>
      <p:sp>
        <p:nvSpPr>
          <p:cNvPr id="14" name="Text 12"/>
          <p:cNvSpPr txBox="1"/>
          <p:nvPr/>
        </p:nvSpPr>
        <p:spPr>
          <a:xfrm>
            <a:off x="6492240" y="4297680"/>
            <a:ext cx="4754880" cy="274320"/>
          </a:xfrm>
          <a:prstGeom prst="rect">
            <a:avLst/>
          </a:prstGeom>
          <a:noFill/>
          <a:ln/>
        </p:spPr>
        <p:txBody>
          <a:bodyPr wrap="square" lIns="0" tIns="0" rIns="0" bIns="0" rtlCol="0" anchor="t"/>
          <a:lstStyle/>
          <a:p>
            <a:pPr marL="0" indent="0">
              <a:buNone/>
            </a:pPr>
            <a:r>
              <a:rPr lang="en-US" sz="1100" b="1" kern="0" spc="300" dirty="0">
                <a:solidFill>
                  <a:srgbClr val="3A2A00"/>
                </a:solidFill>
                <a:latin typeface="Century Gothic" pitchFamily="34" charset="0"/>
                <a:ea typeface="Century Gothic" pitchFamily="34" charset="-122"/>
                <a:cs typeface="Century Gothic" pitchFamily="34" charset="-120"/>
              </a:rPr>
              <a:t>LEARNING TARGET</a:t>
            </a:r>
            <a:endParaRPr lang="en-US" sz="1100" dirty="0"/>
          </a:p>
        </p:txBody>
      </p:sp>
      <p:sp>
        <p:nvSpPr>
          <p:cNvPr id="15" name="Text 13"/>
          <p:cNvSpPr txBox="1"/>
          <p:nvPr/>
        </p:nvSpPr>
        <p:spPr>
          <a:xfrm>
            <a:off x="6492240" y="4617720"/>
            <a:ext cx="4754880" cy="1508760"/>
          </a:xfrm>
          <a:prstGeom prst="rect">
            <a:avLst/>
          </a:prstGeom>
          <a:noFill/>
          <a:ln/>
        </p:spPr>
        <p:txBody>
          <a:bodyPr wrap="square" lIns="0" tIns="0" rIns="0" bIns="0" rtlCol="0" anchor="t"/>
          <a:lstStyle/>
          <a:p>
            <a:pPr marL="0" indent="0">
              <a:buNone/>
            </a:pPr>
            <a:r>
              <a:rPr lang="en-US" sz="1550" dirty="0">
                <a:solidFill>
                  <a:srgbClr val="3A2A00"/>
                </a:solidFill>
                <a:latin typeface="Century Gothic" pitchFamily="34" charset="0"/>
                <a:ea typeface="Century Gothic" pitchFamily="34" charset="-122"/>
                <a:cs typeface="Century Gothic" pitchFamily="34" charset="-120"/>
              </a:rPr>
              <a:t>I can analyze how diction creates tone, explain how events and audience knowledge create mood, and explain how the contrast between them begins to develop theme.</a:t>
            </a:r>
            <a:endParaRPr lang="en-US" sz="155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B98100"/>
                </a:solidFill>
                <a:latin typeface="Century Gothic" pitchFamily="34" charset="0"/>
                <a:ea typeface="Century Gothic" pitchFamily="34" charset="-122"/>
                <a:cs typeface="Century Gothic" pitchFamily="34" charset="-120"/>
              </a:rPr>
              <a:t>01</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Do Now · 5 Minutes</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Work silently on your own for the full five minutes.</a:t>
            </a:r>
            <a:endParaRPr lang="en-US" sz="1400" dirty="0"/>
          </a:p>
        </p:txBody>
      </p:sp>
      <p:sp>
        <p:nvSpPr>
          <p:cNvPr id="6" name="Shape 4"/>
          <p:cNvSpPr/>
          <p:nvPr/>
        </p:nvSpPr>
        <p:spPr>
          <a:xfrm>
            <a:off x="8668512" y="566928"/>
            <a:ext cx="3063240" cy="347472"/>
          </a:xfrm>
          <a:prstGeom prst="roundRect">
            <a:avLst>
              <a:gd name="adj" fmla="val 50000"/>
            </a:avLst>
          </a:prstGeom>
          <a:solidFill>
            <a:srgbClr val="B98100"/>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1 · BOX 01</a:t>
            </a:r>
            <a:endParaRPr lang="en-US" sz="1100" dirty="0"/>
          </a:p>
        </p:txBody>
      </p:sp>
      <p:sp>
        <p:nvSpPr>
          <p:cNvPr id="8" name="Shape 6"/>
          <p:cNvSpPr/>
          <p:nvPr/>
        </p:nvSpPr>
        <p:spPr>
          <a:xfrm>
            <a:off x="457200" y="1645920"/>
            <a:ext cx="5486400" cy="2194560"/>
          </a:xfrm>
          <a:prstGeom prst="roundRect">
            <a:avLst>
              <a:gd name="adj" fmla="val 7500"/>
            </a:avLst>
          </a:prstGeom>
          <a:solidFill>
            <a:srgbClr val="FFF1C9"/>
          </a:solidFill>
          <a:ln/>
        </p:spPr>
        <p:txBody>
          <a:bodyPr/>
          <a:lstStyle/>
          <a:p>
            <a:endParaRPr lang="en-US"/>
          </a:p>
        </p:txBody>
      </p:sp>
      <p:sp>
        <p:nvSpPr>
          <p:cNvPr id="9" name="Text 7"/>
          <p:cNvSpPr txBox="1"/>
          <p:nvPr/>
        </p:nvSpPr>
        <p:spPr>
          <a:xfrm>
            <a:off x="777240" y="1828800"/>
            <a:ext cx="4846320" cy="274320"/>
          </a:xfrm>
          <a:prstGeom prst="rect">
            <a:avLst/>
          </a:prstGeom>
          <a:noFill/>
          <a:ln/>
        </p:spPr>
        <p:txBody>
          <a:bodyPr wrap="square" lIns="0" tIns="0" rIns="0" bIns="0" rtlCol="0" anchor="t"/>
          <a:lstStyle/>
          <a:p>
            <a:pPr marL="0" indent="0">
              <a:buNone/>
            </a:pPr>
            <a:r>
              <a:rPr lang="en-US" sz="1200" b="1" kern="0" spc="300" dirty="0">
                <a:solidFill>
                  <a:srgbClr val="B98100"/>
                </a:solidFill>
                <a:latin typeface="Century Gothic" pitchFamily="34" charset="0"/>
                <a:ea typeface="Century Gothic" pitchFamily="34" charset="-122"/>
                <a:cs typeface="Century Gothic" pitchFamily="34" charset="-120"/>
              </a:rPr>
              <a:t>SENTENCE A</a:t>
            </a:r>
            <a:endParaRPr lang="en-US" sz="1200" dirty="0"/>
          </a:p>
        </p:txBody>
      </p:sp>
      <p:sp>
        <p:nvSpPr>
          <p:cNvPr id="10" name="Text 8"/>
          <p:cNvSpPr txBox="1"/>
          <p:nvPr/>
        </p:nvSpPr>
        <p:spPr>
          <a:xfrm>
            <a:off x="777240" y="2194560"/>
            <a:ext cx="4846320" cy="1463040"/>
          </a:xfrm>
          <a:prstGeom prst="rect">
            <a:avLst/>
          </a:prstGeom>
          <a:noFill/>
          <a:ln/>
        </p:spPr>
        <p:txBody>
          <a:bodyPr wrap="square" lIns="0" tIns="0" rIns="0" bIns="0" rtlCol="0" anchor="ctr"/>
          <a:lstStyle/>
          <a:p>
            <a:pPr marL="0" indent="0">
              <a:buNone/>
            </a:pPr>
            <a:r>
              <a:rPr lang="en-US" sz="3000" b="1" dirty="0">
                <a:solidFill>
                  <a:srgbClr val="1E2A32"/>
                </a:solidFill>
                <a:latin typeface="Century Gothic" pitchFamily="34" charset="0"/>
                <a:ea typeface="Century Gothic" pitchFamily="34" charset="-122"/>
                <a:cs typeface="Century Gothic" pitchFamily="34" charset="-120"/>
              </a:rPr>
              <a:t>“The storm bullied the windows all night.”</a:t>
            </a:r>
            <a:endParaRPr lang="en-US" sz="3000" dirty="0"/>
          </a:p>
        </p:txBody>
      </p:sp>
      <p:sp>
        <p:nvSpPr>
          <p:cNvPr id="11" name="Shape 9"/>
          <p:cNvSpPr/>
          <p:nvPr/>
        </p:nvSpPr>
        <p:spPr>
          <a:xfrm>
            <a:off x="6245352" y="1645920"/>
            <a:ext cx="5486400" cy="2194560"/>
          </a:xfrm>
          <a:prstGeom prst="roundRect">
            <a:avLst>
              <a:gd name="adj" fmla="val 7500"/>
            </a:avLst>
          </a:prstGeom>
          <a:solidFill>
            <a:srgbClr val="FFF1C9"/>
          </a:solidFill>
          <a:ln/>
        </p:spPr>
        <p:txBody>
          <a:bodyPr/>
          <a:lstStyle/>
          <a:p>
            <a:endParaRPr lang="en-US"/>
          </a:p>
        </p:txBody>
      </p:sp>
      <p:sp>
        <p:nvSpPr>
          <p:cNvPr id="12" name="Text 10"/>
          <p:cNvSpPr txBox="1"/>
          <p:nvPr/>
        </p:nvSpPr>
        <p:spPr>
          <a:xfrm>
            <a:off x="6565392" y="1828800"/>
            <a:ext cx="4846320" cy="274320"/>
          </a:xfrm>
          <a:prstGeom prst="rect">
            <a:avLst/>
          </a:prstGeom>
          <a:noFill/>
          <a:ln/>
        </p:spPr>
        <p:txBody>
          <a:bodyPr wrap="square" lIns="0" tIns="0" rIns="0" bIns="0" rtlCol="0" anchor="t"/>
          <a:lstStyle/>
          <a:p>
            <a:pPr marL="0" indent="0">
              <a:buNone/>
            </a:pPr>
            <a:r>
              <a:rPr lang="en-US" sz="1200" b="1" kern="0" spc="300" dirty="0">
                <a:solidFill>
                  <a:srgbClr val="B98100"/>
                </a:solidFill>
                <a:latin typeface="Century Gothic" pitchFamily="34" charset="0"/>
                <a:ea typeface="Century Gothic" pitchFamily="34" charset="-122"/>
                <a:cs typeface="Century Gothic" pitchFamily="34" charset="-120"/>
              </a:rPr>
              <a:t>SENTENCE B</a:t>
            </a:r>
            <a:endParaRPr lang="en-US" sz="1200" dirty="0"/>
          </a:p>
        </p:txBody>
      </p:sp>
      <p:sp>
        <p:nvSpPr>
          <p:cNvPr id="13" name="Text 11"/>
          <p:cNvSpPr txBox="1"/>
          <p:nvPr/>
        </p:nvSpPr>
        <p:spPr>
          <a:xfrm>
            <a:off x="6565392" y="2194560"/>
            <a:ext cx="4846320" cy="1463040"/>
          </a:xfrm>
          <a:prstGeom prst="rect">
            <a:avLst/>
          </a:prstGeom>
          <a:noFill/>
          <a:ln/>
        </p:spPr>
        <p:txBody>
          <a:bodyPr wrap="square" lIns="0" tIns="0" rIns="0" bIns="0" rtlCol="0" anchor="ctr"/>
          <a:lstStyle/>
          <a:p>
            <a:pPr marL="0" indent="0">
              <a:buNone/>
            </a:pPr>
            <a:r>
              <a:rPr lang="en-US" sz="3000" b="1" dirty="0">
                <a:solidFill>
                  <a:srgbClr val="1E2A32"/>
                </a:solidFill>
                <a:latin typeface="Century Gothic" pitchFamily="34" charset="0"/>
                <a:ea typeface="Century Gothic" pitchFamily="34" charset="-122"/>
                <a:cs typeface="Century Gothic" pitchFamily="34" charset="-120"/>
              </a:rPr>
              <a:t>“The rain kept the whole house company.”</a:t>
            </a:r>
            <a:endParaRPr lang="en-US" sz="3000" dirty="0"/>
          </a:p>
        </p:txBody>
      </p:sp>
      <p:sp>
        <p:nvSpPr>
          <p:cNvPr id="14" name="Shape 12"/>
          <p:cNvSpPr/>
          <p:nvPr/>
        </p:nvSpPr>
        <p:spPr>
          <a:xfrm>
            <a:off x="457200" y="4069080"/>
            <a:ext cx="11274552" cy="1417320"/>
          </a:xfrm>
          <a:prstGeom prst="roundRect">
            <a:avLst>
              <a:gd name="adj" fmla="val 11613"/>
            </a:avLst>
          </a:prstGeom>
          <a:solidFill>
            <a:srgbClr val="FFFFFF"/>
          </a:solidFill>
          <a:ln w="31750">
            <a:solidFill>
              <a:srgbClr val="FFC63C"/>
            </a:solidFill>
            <a:prstDash val="solid"/>
          </a:ln>
        </p:spPr>
        <p:txBody>
          <a:bodyPr/>
          <a:lstStyle/>
          <a:p>
            <a:endParaRPr lang="en-US"/>
          </a:p>
        </p:txBody>
      </p:sp>
      <p:sp>
        <p:nvSpPr>
          <p:cNvPr id="15" name="Text 13"/>
          <p:cNvSpPr txBox="1"/>
          <p:nvPr/>
        </p:nvSpPr>
        <p:spPr>
          <a:xfrm>
            <a:off x="777240" y="4114800"/>
            <a:ext cx="10698480" cy="1325880"/>
          </a:xfrm>
          <a:prstGeom prst="rect">
            <a:avLst/>
          </a:prstGeom>
          <a:noFill/>
          <a:ln/>
        </p:spPr>
        <p:txBody>
          <a:bodyPr wrap="square" lIns="0" tIns="0" rIns="0" bIns="0" rtlCol="0" anchor="ctr"/>
          <a:lstStyle/>
          <a:p>
            <a:pPr marL="0" indent="0">
              <a:buNone/>
            </a:pPr>
            <a:r>
              <a:rPr lang="en-US" sz="2400" dirty="0">
                <a:solidFill>
                  <a:srgbClr val="1E2A32"/>
                </a:solidFill>
                <a:latin typeface="Century Gothic" pitchFamily="34" charset="0"/>
                <a:ea typeface="Century Gothic" pitchFamily="34" charset="-122"/>
                <a:cs typeface="Century Gothic" pitchFamily="34" charset="-120"/>
              </a:rPr>
              <a:t>Same event. </a:t>
            </a:r>
            <a:r>
              <a:rPr lang="en-US" sz="2400" b="1" dirty="0">
                <a:solidFill>
                  <a:srgbClr val="1E2A32"/>
                </a:solidFill>
                <a:latin typeface="Century Gothic" pitchFamily="34" charset="0"/>
                <a:ea typeface="Century Gothic" pitchFamily="34" charset="-122"/>
                <a:cs typeface="Century Gothic" pitchFamily="34" charset="-120"/>
              </a:rPr>
              <a:t>What feels different about the two sentences? Which words create that difference?</a:t>
            </a:r>
            <a:endParaRPr lang="en-US" sz="2400" dirty="0"/>
          </a:p>
        </p:txBody>
      </p:sp>
      <p:sp>
        <p:nvSpPr>
          <p:cNvPr id="16" name="Shape 14"/>
          <p:cNvSpPr/>
          <p:nvPr/>
        </p:nvSpPr>
        <p:spPr>
          <a:xfrm>
            <a:off x="457200" y="5760720"/>
            <a:ext cx="2194560" cy="347472"/>
          </a:xfrm>
          <a:prstGeom prst="roundRect">
            <a:avLst>
              <a:gd name="adj" fmla="val 50000"/>
            </a:avLst>
          </a:prstGeom>
          <a:solidFill>
            <a:srgbClr val="FFC63C"/>
          </a:solidFill>
          <a:ln/>
        </p:spPr>
        <p:txBody>
          <a:bodyPr/>
          <a:lstStyle/>
          <a:p>
            <a:endParaRPr lang="en-US"/>
          </a:p>
        </p:txBody>
      </p:sp>
      <p:sp>
        <p:nvSpPr>
          <p:cNvPr id="17" name="Text 15"/>
          <p:cNvSpPr txBox="1"/>
          <p:nvPr/>
        </p:nvSpPr>
        <p:spPr>
          <a:xfrm>
            <a:off x="457200" y="5760720"/>
            <a:ext cx="2194560" cy="347472"/>
          </a:xfrm>
          <a:prstGeom prst="rect">
            <a:avLst/>
          </a:prstGeom>
          <a:noFill/>
          <a:ln/>
        </p:spPr>
        <p:txBody>
          <a:bodyPr wrap="square" lIns="0" tIns="0" rIns="0" bIns="0" rtlCol="0" anchor="ctr"/>
          <a:lstStyle/>
          <a:p>
            <a:pPr marL="0" indent="0" algn="ctr">
              <a:buNone/>
            </a:pPr>
            <a:r>
              <a:rPr lang="en-US" sz="1100" b="1" kern="0" spc="200" dirty="0">
                <a:solidFill>
                  <a:srgbClr val="3A2A00"/>
                </a:solidFill>
                <a:latin typeface="Century Gothic" pitchFamily="34" charset="0"/>
                <a:ea typeface="Century Gothic" pitchFamily="34" charset="-122"/>
                <a:cs typeface="Century Gothic" pitchFamily="34" charset="-120"/>
              </a:rPr>
              <a:t>5:00 · SILENT</a:t>
            </a:r>
            <a:endParaRPr lang="en-US" sz="1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DF442A"/>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DF442A"/>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What Changed?</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The rain didn’t change. The words did.</a:t>
            </a:r>
            <a:endParaRPr lang="en-US" sz="1400" dirty="0"/>
          </a:p>
        </p:txBody>
      </p:sp>
      <p:sp>
        <p:nvSpPr>
          <p:cNvPr id="6" name="Shape 4"/>
          <p:cNvSpPr/>
          <p:nvPr/>
        </p:nvSpPr>
        <p:spPr>
          <a:xfrm>
            <a:off x="457200" y="1645920"/>
            <a:ext cx="5486400" cy="2377440"/>
          </a:xfrm>
          <a:prstGeom prst="roundRect">
            <a:avLst>
              <a:gd name="adj" fmla="val 6923"/>
            </a:avLst>
          </a:prstGeom>
          <a:solidFill>
            <a:srgbClr val="FFE1D6"/>
          </a:solidFill>
          <a:ln/>
        </p:spPr>
        <p:txBody>
          <a:bodyPr/>
          <a:lstStyle/>
          <a:p>
            <a:endParaRPr lang="en-US"/>
          </a:p>
        </p:txBody>
      </p:sp>
      <p:sp>
        <p:nvSpPr>
          <p:cNvPr id="7" name="Text 5"/>
          <p:cNvSpPr txBox="1"/>
          <p:nvPr/>
        </p:nvSpPr>
        <p:spPr>
          <a:xfrm>
            <a:off x="777240" y="1783080"/>
            <a:ext cx="4846320" cy="1280160"/>
          </a:xfrm>
          <a:prstGeom prst="rect">
            <a:avLst/>
          </a:prstGeom>
          <a:noFill/>
          <a:ln/>
        </p:spPr>
        <p:txBody>
          <a:bodyPr wrap="square" lIns="0" tIns="0" rIns="0" bIns="0" rtlCol="0" anchor="ctr"/>
          <a:lstStyle/>
          <a:p>
            <a:pPr marL="0" indent="0">
              <a:buNone/>
            </a:pPr>
            <a:r>
              <a:rPr lang="en-US" sz="2600" dirty="0">
                <a:solidFill>
                  <a:srgbClr val="1E2A32"/>
                </a:solidFill>
                <a:latin typeface="Century Gothic" pitchFamily="34" charset="0"/>
                <a:ea typeface="Century Gothic" pitchFamily="34" charset="-122"/>
                <a:cs typeface="Century Gothic" pitchFamily="34" charset="-120"/>
              </a:rPr>
              <a:t>The storm </a:t>
            </a:r>
            <a:r>
              <a:rPr lang="en-US" sz="2600" b="1" u="sng" dirty="0">
                <a:solidFill>
                  <a:srgbClr val="DF442A"/>
                </a:solidFill>
                <a:latin typeface="Century Gothic" pitchFamily="34" charset="0"/>
                <a:ea typeface="Century Gothic" pitchFamily="34" charset="-122"/>
                <a:cs typeface="Century Gothic" pitchFamily="34" charset="-120"/>
              </a:rPr>
              <a:t>bullied</a:t>
            </a:r>
            <a:r>
              <a:rPr lang="en-US" sz="2600" dirty="0">
                <a:solidFill>
                  <a:srgbClr val="1E2A32"/>
                </a:solidFill>
                <a:latin typeface="Century Gothic" pitchFamily="34" charset="0"/>
                <a:ea typeface="Century Gothic" pitchFamily="34" charset="-122"/>
                <a:cs typeface="Century Gothic" pitchFamily="34" charset="-120"/>
              </a:rPr>
              <a:t> the windows all night.</a:t>
            </a:r>
            <a:endParaRPr lang="en-US" sz="2600" dirty="0"/>
          </a:p>
        </p:txBody>
      </p:sp>
      <p:sp>
        <p:nvSpPr>
          <p:cNvPr id="8" name="Text 6"/>
          <p:cNvSpPr txBox="1"/>
          <p:nvPr/>
        </p:nvSpPr>
        <p:spPr>
          <a:xfrm>
            <a:off x="777240" y="3154680"/>
            <a:ext cx="4846320" cy="548640"/>
          </a:xfrm>
          <a:prstGeom prst="rect">
            <a:avLst/>
          </a:prstGeom>
          <a:noFill/>
          <a:ln/>
        </p:spPr>
        <p:txBody>
          <a:bodyPr wrap="square" lIns="0" tIns="0" rIns="0" bIns="0" rtlCol="0" anchor="t"/>
          <a:lstStyle/>
          <a:p>
            <a:pPr marL="0" indent="0">
              <a:buNone/>
            </a:pPr>
            <a:r>
              <a:rPr lang="en-US" sz="1800" i="1" dirty="0">
                <a:solidFill>
                  <a:srgbClr val="5A6B75"/>
                </a:solidFill>
                <a:latin typeface="Century Gothic" pitchFamily="34" charset="0"/>
                <a:ea typeface="Century Gothic" pitchFamily="34" charset="-122"/>
                <a:cs typeface="Century Gothic" pitchFamily="34" charset="-120"/>
              </a:rPr>
              <a:t>threatening · violent · angry</a:t>
            </a:r>
            <a:endParaRPr lang="en-US" sz="1800" dirty="0"/>
          </a:p>
        </p:txBody>
      </p:sp>
      <p:sp>
        <p:nvSpPr>
          <p:cNvPr id="9" name="Shape 7"/>
          <p:cNvSpPr/>
          <p:nvPr/>
        </p:nvSpPr>
        <p:spPr>
          <a:xfrm>
            <a:off x="6245352" y="1645920"/>
            <a:ext cx="5486400" cy="2377440"/>
          </a:xfrm>
          <a:prstGeom prst="roundRect">
            <a:avLst>
              <a:gd name="adj" fmla="val 6923"/>
            </a:avLst>
          </a:prstGeom>
          <a:solidFill>
            <a:srgbClr val="C8F1EB"/>
          </a:solidFill>
          <a:ln/>
        </p:spPr>
        <p:txBody>
          <a:bodyPr/>
          <a:lstStyle/>
          <a:p>
            <a:endParaRPr lang="en-US"/>
          </a:p>
        </p:txBody>
      </p:sp>
      <p:sp>
        <p:nvSpPr>
          <p:cNvPr id="10" name="Text 8"/>
          <p:cNvSpPr txBox="1"/>
          <p:nvPr/>
        </p:nvSpPr>
        <p:spPr>
          <a:xfrm>
            <a:off x="6565392" y="1783080"/>
            <a:ext cx="4846320" cy="1280160"/>
          </a:xfrm>
          <a:prstGeom prst="rect">
            <a:avLst/>
          </a:prstGeom>
          <a:noFill/>
          <a:ln/>
        </p:spPr>
        <p:txBody>
          <a:bodyPr wrap="square" lIns="0" tIns="0" rIns="0" bIns="0" rtlCol="0" anchor="ctr"/>
          <a:lstStyle/>
          <a:p>
            <a:pPr marL="0" indent="0">
              <a:buNone/>
            </a:pPr>
            <a:r>
              <a:rPr lang="en-US" sz="2600" dirty="0">
                <a:solidFill>
                  <a:srgbClr val="1E2A32"/>
                </a:solidFill>
                <a:latin typeface="Century Gothic" pitchFamily="34" charset="0"/>
                <a:ea typeface="Century Gothic" pitchFamily="34" charset="-122"/>
                <a:cs typeface="Century Gothic" pitchFamily="34" charset="-120"/>
              </a:rPr>
              <a:t>The rain </a:t>
            </a:r>
            <a:r>
              <a:rPr lang="en-US" sz="2600" b="1" u="sng" dirty="0">
                <a:solidFill>
                  <a:srgbClr val="007A73"/>
                </a:solidFill>
                <a:latin typeface="Century Gothic" pitchFamily="34" charset="0"/>
                <a:ea typeface="Century Gothic" pitchFamily="34" charset="-122"/>
                <a:cs typeface="Century Gothic" pitchFamily="34" charset="-120"/>
              </a:rPr>
              <a:t>kept the whole house company</a:t>
            </a:r>
            <a:r>
              <a:rPr lang="en-US" sz="2600" dirty="0">
                <a:solidFill>
                  <a:srgbClr val="1E2A32"/>
                </a:solidFill>
                <a:latin typeface="Century Gothic" pitchFamily="34" charset="0"/>
                <a:ea typeface="Century Gothic" pitchFamily="34" charset="-122"/>
                <a:cs typeface="Century Gothic" pitchFamily="34" charset="-120"/>
              </a:rPr>
              <a:t>.</a:t>
            </a:r>
            <a:endParaRPr lang="en-US" sz="2600" dirty="0"/>
          </a:p>
        </p:txBody>
      </p:sp>
      <p:sp>
        <p:nvSpPr>
          <p:cNvPr id="11" name="Text 9"/>
          <p:cNvSpPr txBox="1"/>
          <p:nvPr/>
        </p:nvSpPr>
        <p:spPr>
          <a:xfrm>
            <a:off x="6565392" y="3154680"/>
            <a:ext cx="4846320" cy="548640"/>
          </a:xfrm>
          <a:prstGeom prst="rect">
            <a:avLst/>
          </a:prstGeom>
          <a:noFill/>
          <a:ln/>
        </p:spPr>
        <p:txBody>
          <a:bodyPr wrap="square" lIns="0" tIns="0" rIns="0" bIns="0" rtlCol="0" anchor="t"/>
          <a:lstStyle/>
          <a:p>
            <a:pPr marL="0" indent="0">
              <a:buNone/>
            </a:pPr>
            <a:r>
              <a:rPr lang="en-US" sz="1800" i="1" dirty="0">
                <a:solidFill>
                  <a:srgbClr val="5A6B75"/>
                </a:solidFill>
                <a:latin typeface="Century Gothic" pitchFamily="34" charset="0"/>
                <a:ea typeface="Century Gothic" pitchFamily="34" charset="-122"/>
                <a:cs typeface="Century Gothic" pitchFamily="34" charset="-120"/>
              </a:rPr>
              <a:t>cozy · comforting · calm</a:t>
            </a:r>
            <a:endParaRPr lang="en-US" sz="1800" dirty="0"/>
          </a:p>
        </p:txBody>
      </p:sp>
      <p:sp>
        <p:nvSpPr>
          <p:cNvPr id="12" name="Shape 10"/>
          <p:cNvSpPr/>
          <p:nvPr/>
        </p:nvSpPr>
        <p:spPr>
          <a:xfrm>
            <a:off x="457200" y="4297680"/>
            <a:ext cx="11274552" cy="1920240"/>
          </a:xfrm>
          <a:prstGeom prst="roundRect">
            <a:avLst>
              <a:gd name="adj" fmla="val 8571"/>
            </a:avLst>
          </a:prstGeom>
          <a:solidFill>
            <a:srgbClr val="1E2A32"/>
          </a:solidFill>
          <a:ln/>
        </p:spPr>
        <p:txBody>
          <a:bodyPr/>
          <a:lstStyle/>
          <a:p>
            <a:endParaRPr lang="en-US"/>
          </a:p>
        </p:txBody>
      </p:sp>
      <p:sp>
        <p:nvSpPr>
          <p:cNvPr id="13" name="Text 11"/>
          <p:cNvSpPr txBox="1"/>
          <p:nvPr/>
        </p:nvSpPr>
        <p:spPr>
          <a:xfrm>
            <a:off x="822960" y="4389120"/>
            <a:ext cx="10607040" cy="1737360"/>
          </a:xfrm>
          <a:prstGeom prst="rect">
            <a:avLst/>
          </a:prstGeom>
          <a:noFill/>
          <a:ln/>
        </p:spPr>
        <p:txBody>
          <a:bodyPr wrap="square" lIns="0" tIns="0" rIns="0" bIns="0" rtlCol="0" anchor="ctr"/>
          <a:lstStyle/>
          <a:p>
            <a:pPr marL="0" indent="0">
              <a:buNone/>
            </a:pPr>
            <a:r>
              <a:rPr lang="en-US" sz="2400" dirty="0">
                <a:solidFill>
                  <a:srgbClr val="FFFFFF"/>
                </a:solidFill>
                <a:latin typeface="Century Gothic" pitchFamily="34" charset="0"/>
                <a:ea typeface="Century Gothic" pitchFamily="34" charset="-122"/>
                <a:cs typeface="Century Gothic" pitchFamily="34" charset="-120"/>
              </a:rPr>
              <a:t>Same event. Different </a:t>
            </a:r>
            <a:r>
              <a:rPr lang="en-US" sz="2400" b="1" dirty="0">
                <a:solidFill>
                  <a:srgbClr val="FFC63C"/>
                </a:solidFill>
                <a:latin typeface="Century Gothic" pitchFamily="34" charset="0"/>
                <a:ea typeface="Century Gothic" pitchFamily="34" charset="-122"/>
                <a:cs typeface="Century Gothic" pitchFamily="34" charset="-120"/>
              </a:rPr>
              <a:t>word choice</a:t>
            </a:r>
            <a:r>
              <a:rPr lang="en-US" sz="2400" dirty="0">
                <a:solidFill>
                  <a:srgbClr val="FFFFFF"/>
                </a:solidFill>
                <a:latin typeface="Century Gothic" pitchFamily="34" charset="0"/>
                <a:ea typeface="Century Gothic" pitchFamily="34" charset="-122"/>
                <a:cs typeface="Century Gothic" pitchFamily="34" charset="-120"/>
              </a:rPr>
              <a:t>.</a:t>
            </a:r>
            <a:endParaRPr lang="en-US" sz="2400" dirty="0"/>
          </a:p>
          <a:p>
            <a:pPr marL="0" indent="0">
              <a:buNone/>
            </a:pPr>
            <a:r>
              <a:rPr lang="en-US" sz="2400" dirty="0">
                <a:solidFill>
                  <a:srgbClr val="FFFFFF"/>
                </a:solidFill>
                <a:latin typeface="Century Gothic" pitchFamily="34" charset="0"/>
                <a:ea typeface="Century Gothic" pitchFamily="34" charset="-122"/>
                <a:cs typeface="Century Gothic" pitchFamily="34" charset="-120"/>
              </a:rPr>
              <a:t>That word choice gives the speaker an attitude. That attitude is </a:t>
            </a:r>
            <a:endParaRPr lang="en-US" sz="2400" dirty="0"/>
          </a:p>
          <a:p>
            <a:pPr marL="0" indent="0">
              <a:buNone/>
            </a:pPr>
            <a:r>
              <a:rPr lang="en-US" sz="2400" b="1" dirty="0">
                <a:solidFill>
                  <a:srgbClr val="FFC63C"/>
                </a:solidFill>
                <a:latin typeface="Century Gothic" pitchFamily="34" charset="0"/>
                <a:ea typeface="Century Gothic" pitchFamily="34" charset="-122"/>
                <a:cs typeface="Century Gothic" pitchFamily="34" charset="-120"/>
              </a:rPr>
              <a:t>tone</a:t>
            </a:r>
            <a:r>
              <a:rPr lang="en-US" sz="2400" dirty="0">
                <a:solidFill>
                  <a:srgbClr val="FFFFFF"/>
                </a:solidFill>
                <a:latin typeface="Century Gothic" pitchFamily="34" charset="0"/>
                <a:ea typeface="Century Gothic" pitchFamily="34" charset="-122"/>
                <a:cs typeface="Century Gothic" pitchFamily="34" charset="-120"/>
              </a:rPr>
              <a:t>.</a:t>
            </a:r>
            <a:endParaRPr lang="en-US" sz="2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2A56B5"/>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2A56B5"/>
                </a:solidFill>
                <a:latin typeface="Century Gothic" pitchFamily="34" charset="0"/>
                <a:ea typeface="Century Gothic" pitchFamily="34" charset="-122"/>
                <a:cs typeface="Century Gothic" pitchFamily="34" charset="-120"/>
              </a:rPr>
              <a:t>02</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Tone vs. Mood</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Whose feeling is that: the speaker’s or the audience’s?</a:t>
            </a:r>
            <a:endParaRPr lang="en-US" sz="1400" dirty="0"/>
          </a:p>
        </p:txBody>
      </p:sp>
      <p:sp>
        <p:nvSpPr>
          <p:cNvPr id="6" name="Shape 4"/>
          <p:cNvSpPr/>
          <p:nvPr/>
        </p:nvSpPr>
        <p:spPr>
          <a:xfrm>
            <a:off x="8668512" y="566928"/>
            <a:ext cx="3063240" cy="347472"/>
          </a:xfrm>
          <a:prstGeom prst="roundRect">
            <a:avLst>
              <a:gd name="adj" fmla="val 50000"/>
            </a:avLst>
          </a:prstGeom>
          <a:solidFill>
            <a:srgbClr val="3B74E8"/>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1 · BOX 02</a:t>
            </a:r>
            <a:endParaRPr lang="en-US" sz="1100" dirty="0"/>
          </a:p>
        </p:txBody>
      </p:sp>
      <p:sp>
        <p:nvSpPr>
          <p:cNvPr id="8" name="Shape 6"/>
          <p:cNvSpPr/>
          <p:nvPr/>
        </p:nvSpPr>
        <p:spPr>
          <a:xfrm>
            <a:off x="457200" y="1645920"/>
            <a:ext cx="5486400" cy="2514600"/>
          </a:xfrm>
          <a:prstGeom prst="roundRect">
            <a:avLst>
              <a:gd name="adj" fmla="val 6545"/>
            </a:avLst>
          </a:prstGeom>
          <a:solidFill>
            <a:srgbClr val="DAE7FF"/>
          </a:solidFill>
          <a:ln/>
        </p:spPr>
        <p:txBody>
          <a:bodyPr/>
          <a:lstStyle/>
          <a:p>
            <a:endParaRPr lang="en-US"/>
          </a:p>
        </p:txBody>
      </p:sp>
      <p:sp>
        <p:nvSpPr>
          <p:cNvPr id="9" name="Text 7"/>
          <p:cNvSpPr txBox="1"/>
          <p:nvPr/>
        </p:nvSpPr>
        <p:spPr>
          <a:xfrm>
            <a:off x="777240" y="1783080"/>
            <a:ext cx="4846320" cy="731520"/>
          </a:xfrm>
          <a:prstGeom prst="rect">
            <a:avLst/>
          </a:prstGeom>
          <a:noFill/>
          <a:ln/>
        </p:spPr>
        <p:txBody>
          <a:bodyPr wrap="square" lIns="0" tIns="0" rIns="0" bIns="0" rtlCol="0" anchor="t"/>
          <a:lstStyle/>
          <a:p>
            <a:pPr marL="0" indent="0">
              <a:buNone/>
            </a:pPr>
            <a:r>
              <a:rPr lang="en-US" sz="4000" b="1" dirty="0">
                <a:solidFill>
                  <a:srgbClr val="2A56B5"/>
                </a:solidFill>
                <a:latin typeface="Century Gothic" pitchFamily="34" charset="0"/>
                <a:ea typeface="Century Gothic" pitchFamily="34" charset="-122"/>
                <a:cs typeface="Century Gothic" pitchFamily="34" charset="-120"/>
              </a:rPr>
              <a:t>TONE</a:t>
            </a:r>
            <a:endParaRPr lang="en-US" sz="4000" dirty="0"/>
          </a:p>
        </p:txBody>
      </p:sp>
      <p:sp>
        <p:nvSpPr>
          <p:cNvPr id="10" name="Text 8"/>
          <p:cNvSpPr txBox="1"/>
          <p:nvPr/>
        </p:nvSpPr>
        <p:spPr>
          <a:xfrm>
            <a:off x="777240" y="2560320"/>
            <a:ext cx="4846320" cy="685800"/>
          </a:xfrm>
          <a:prstGeom prst="rect">
            <a:avLst/>
          </a:prstGeom>
          <a:noFill/>
          <a:ln/>
        </p:spPr>
        <p:txBody>
          <a:bodyPr wrap="square" lIns="0" tIns="0" rIns="0" bIns="0" rtlCol="0" anchor="t"/>
          <a:lstStyle/>
          <a:p>
            <a:pPr marL="0" indent="0">
              <a:buNone/>
            </a:pPr>
            <a:r>
              <a:rPr lang="en-US" sz="2100" b="1" dirty="0">
                <a:solidFill>
                  <a:srgbClr val="1E2A32"/>
                </a:solidFill>
                <a:latin typeface="Century Gothic" pitchFamily="34" charset="0"/>
                <a:ea typeface="Century Gothic" pitchFamily="34" charset="-122"/>
                <a:cs typeface="Century Gothic" pitchFamily="34" charset="-120"/>
              </a:rPr>
              <a:t>the attitude of the speaker or writer</a:t>
            </a:r>
            <a:endParaRPr lang="en-US" sz="2100" dirty="0"/>
          </a:p>
        </p:txBody>
      </p:sp>
      <p:sp>
        <p:nvSpPr>
          <p:cNvPr id="11" name="Text 9"/>
          <p:cNvSpPr txBox="1"/>
          <p:nvPr/>
        </p:nvSpPr>
        <p:spPr>
          <a:xfrm>
            <a:off x="777240" y="3291840"/>
            <a:ext cx="4846320" cy="731520"/>
          </a:xfrm>
          <a:prstGeom prst="rect">
            <a:avLst/>
          </a:prstGeom>
          <a:noFill/>
          <a:ln/>
        </p:spPr>
        <p:txBody>
          <a:bodyPr wrap="square" lIns="0" tIns="0" rIns="0" bIns="0" rtlCol="0" anchor="t"/>
          <a:lstStyle/>
          <a:p>
            <a:pPr marL="0" indent="0">
              <a:buNone/>
            </a:pPr>
            <a:r>
              <a:rPr lang="en-US" sz="1600" i="1" dirty="0">
                <a:solidFill>
                  <a:srgbClr val="5A6B75"/>
                </a:solidFill>
                <a:latin typeface="Century Gothic" pitchFamily="34" charset="0"/>
                <a:ea typeface="Century Gothic" pitchFamily="34" charset="-122"/>
                <a:cs typeface="Century Gothic" pitchFamily="34" charset="-120"/>
              </a:rPr>
              <a:t>Ask: What attitude do the words reveal?</a:t>
            </a:r>
            <a:endParaRPr lang="en-US" sz="1600" dirty="0"/>
          </a:p>
        </p:txBody>
      </p:sp>
      <p:sp>
        <p:nvSpPr>
          <p:cNvPr id="12" name="Shape 10"/>
          <p:cNvSpPr/>
          <p:nvPr/>
        </p:nvSpPr>
        <p:spPr>
          <a:xfrm>
            <a:off x="6245352" y="1645920"/>
            <a:ext cx="5486400" cy="2514600"/>
          </a:xfrm>
          <a:prstGeom prst="roundRect">
            <a:avLst>
              <a:gd name="adj" fmla="val 6545"/>
            </a:avLst>
          </a:prstGeom>
          <a:solidFill>
            <a:srgbClr val="E8DEFF"/>
          </a:solidFill>
          <a:ln/>
        </p:spPr>
        <p:txBody>
          <a:bodyPr/>
          <a:lstStyle/>
          <a:p>
            <a:endParaRPr lang="en-US"/>
          </a:p>
        </p:txBody>
      </p:sp>
      <p:sp>
        <p:nvSpPr>
          <p:cNvPr id="13" name="Text 11"/>
          <p:cNvSpPr txBox="1"/>
          <p:nvPr/>
        </p:nvSpPr>
        <p:spPr>
          <a:xfrm>
            <a:off x="6565392" y="1783080"/>
            <a:ext cx="4846320" cy="731520"/>
          </a:xfrm>
          <a:prstGeom prst="rect">
            <a:avLst/>
          </a:prstGeom>
          <a:noFill/>
          <a:ln/>
        </p:spPr>
        <p:txBody>
          <a:bodyPr wrap="square" lIns="0" tIns="0" rIns="0" bIns="0" rtlCol="0" anchor="t"/>
          <a:lstStyle/>
          <a:p>
            <a:pPr marL="0" indent="0">
              <a:buNone/>
            </a:pPr>
            <a:r>
              <a:rPr lang="en-US" sz="4000" b="1" dirty="0">
                <a:solidFill>
                  <a:srgbClr val="6746C7"/>
                </a:solidFill>
                <a:latin typeface="Century Gothic" pitchFamily="34" charset="0"/>
                <a:ea typeface="Century Gothic" pitchFamily="34" charset="-122"/>
                <a:cs typeface="Century Gothic" pitchFamily="34" charset="-120"/>
              </a:rPr>
              <a:t>MOOD</a:t>
            </a:r>
            <a:endParaRPr lang="en-US" sz="4000" dirty="0"/>
          </a:p>
        </p:txBody>
      </p:sp>
      <p:sp>
        <p:nvSpPr>
          <p:cNvPr id="14" name="Text 12"/>
          <p:cNvSpPr txBox="1"/>
          <p:nvPr/>
        </p:nvSpPr>
        <p:spPr>
          <a:xfrm>
            <a:off x="6565392" y="2560320"/>
            <a:ext cx="4846320" cy="685800"/>
          </a:xfrm>
          <a:prstGeom prst="rect">
            <a:avLst/>
          </a:prstGeom>
          <a:noFill/>
          <a:ln/>
        </p:spPr>
        <p:txBody>
          <a:bodyPr wrap="square" lIns="0" tIns="0" rIns="0" bIns="0" rtlCol="0" anchor="t"/>
          <a:lstStyle/>
          <a:p>
            <a:pPr marL="0" indent="0">
              <a:buNone/>
            </a:pPr>
            <a:r>
              <a:rPr lang="en-US" sz="2100" b="1" dirty="0">
                <a:solidFill>
                  <a:srgbClr val="1E2A32"/>
                </a:solidFill>
                <a:latin typeface="Century Gothic" pitchFamily="34" charset="0"/>
                <a:ea typeface="Century Gothic" pitchFamily="34" charset="-122"/>
                <a:cs typeface="Century Gothic" pitchFamily="34" charset="-120"/>
              </a:rPr>
              <a:t>the feeling created for the audience</a:t>
            </a:r>
            <a:endParaRPr lang="en-US" sz="2100" dirty="0"/>
          </a:p>
        </p:txBody>
      </p:sp>
      <p:sp>
        <p:nvSpPr>
          <p:cNvPr id="15" name="Text 13"/>
          <p:cNvSpPr txBox="1"/>
          <p:nvPr/>
        </p:nvSpPr>
        <p:spPr>
          <a:xfrm>
            <a:off x="6565392" y="3291840"/>
            <a:ext cx="4846320" cy="731520"/>
          </a:xfrm>
          <a:prstGeom prst="rect">
            <a:avLst/>
          </a:prstGeom>
          <a:noFill/>
          <a:ln/>
        </p:spPr>
        <p:txBody>
          <a:bodyPr wrap="square" lIns="0" tIns="0" rIns="0" bIns="0" rtlCol="0" anchor="t"/>
          <a:lstStyle/>
          <a:p>
            <a:pPr marL="0" indent="0">
              <a:buNone/>
            </a:pPr>
            <a:r>
              <a:rPr lang="en-US" sz="1600" i="1" dirty="0">
                <a:solidFill>
                  <a:srgbClr val="5A6B75"/>
                </a:solidFill>
                <a:latin typeface="Century Gothic" pitchFamily="34" charset="0"/>
                <a:ea typeface="Century Gothic" pitchFamily="34" charset="-122"/>
                <a:cs typeface="Century Gothic" pitchFamily="34" charset="-120"/>
              </a:rPr>
              <a:t>Ask: What does the scene make the audience feel?</a:t>
            </a:r>
            <a:endParaRPr lang="en-US" sz="1600" dirty="0"/>
          </a:p>
        </p:txBody>
      </p:sp>
      <p:sp>
        <p:nvSpPr>
          <p:cNvPr id="16" name="Shape 14"/>
          <p:cNvSpPr/>
          <p:nvPr/>
        </p:nvSpPr>
        <p:spPr>
          <a:xfrm>
            <a:off x="457200" y="4434840"/>
            <a:ext cx="11274552" cy="914400"/>
          </a:xfrm>
          <a:prstGeom prst="roundRect">
            <a:avLst>
              <a:gd name="adj" fmla="val 18000"/>
            </a:avLst>
          </a:prstGeom>
          <a:solidFill>
            <a:srgbClr val="1E2A32"/>
          </a:solidFill>
          <a:ln/>
        </p:spPr>
        <p:txBody>
          <a:bodyPr/>
          <a:lstStyle/>
          <a:p>
            <a:endParaRPr lang="en-US"/>
          </a:p>
        </p:txBody>
      </p:sp>
      <p:sp>
        <p:nvSpPr>
          <p:cNvPr id="17" name="Text 15"/>
          <p:cNvSpPr txBox="1"/>
          <p:nvPr/>
        </p:nvSpPr>
        <p:spPr>
          <a:xfrm>
            <a:off x="640080" y="4434840"/>
            <a:ext cx="10881360" cy="914400"/>
          </a:xfrm>
          <a:prstGeom prst="rect">
            <a:avLst/>
          </a:prstGeom>
          <a:noFill/>
          <a:ln/>
        </p:spPr>
        <p:txBody>
          <a:bodyPr wrap="square" lIns="0" tIns="0" rIns="0" bIns="0" rtlCol="0" anchor="ctr"/>
          <a:lstStyle/>
          <a:p>
            <a:pPr marL="0" indent="0" algn="ctr">
              <a:buNone/>
            </a:pPr>
            <a:r>
              <a:rPr lang="en-US" sz="1750" b="1" dirty="0">
                <a:solidFill>
                  <a:srgbClr val="FFC63C"/>
                </a:solidFill>
                <a:latin typeface="Century Gothic" pitchFamily="34" charset="0"/>
                <a:ea typeface="Century Gothic" pitchFamily="34" charset="-122"/>
                <a:cs typeface="Century Gothic" pitchFamily="34" charset="-120"/>
              </a:rPr>
              <a:t>DICTION</a:t>
            </a:r>
            <a:r>
              <a:rPr lang="en-US" sz="1750" dirty="0">
                <a:solidFill>
                  <a:srgbClr val="FFFFFF"/>
                </a:solidFill>
                <a:latin typeface="Century Gothic" pitchFamily="34" charset="0"/>
                <a:ea typeface="Century Gothic" pitchFamily="34" charset="-122"/>
                <a:cs typeface="Century Gothic" pitchFamily="34" charset="-120"/>
              </a:rPr>
              <a:t>  →  TONE          TONE + EVENTS / STAGING / </a:t>
            </a:r>
            <a:r>
              <a:rPr lang="en-US" sz="1750" b="1" dirty="0">
                <a:solidFill>
                  <a:srgbClr val="FFC63C"/>
                </a:solidFill>
                <a:latin typeface="Century Gothic" pitchFamily="34" charset="0"/>
                <a:ea typeface="Century Gothic" pitchFamily="34" charset="-122"/>
                <a:cs typeface="Century Gothic" pitchFamily="34" charset="-120"/>
              </a:rPr>
              <a:t>AUDIENCE KNOWLEDGE</a:t>
            </a:r>
            <a:r>
              <a:rPr lang="en-US" sz="1750" dirty="0">
                <a:solidFill>
                  <a:srgbClr val="FFFFFF"/>
                </a:solidFill>
                <a:latin typeface="Century Gothic" pitchFamily="34" charset="0"/>
                <a:ea typeface="Century Gothic" pitchFamily="34" charset="-122"/>
                <a:cs typeface="Century Gothic" pitchFamily="34" charset="-120"/>
              </a:rPr>
              <a:t>  →  MOOD</a:t>
            </a:r>
            <a:endParaRPr lang="en-US" sz="1750" dirty="0"/>
          </a:p>
        </p:txBody>
      </p:sp>
      <p:sp>
        <p:nvSpPr>
          <p:cNvPr id="18" name="Text 16"/>
          <p:cNvSpPr txBox="1"/>
          <p:nvPr/>
        </p:nvSpPr>
        <p:spPr>
          <a:xfrm>
            <a:off x="457200" y="5577840"/>
            <a:ext cx="11274552" cy="548640"/>
          </a:xfrm>
          <a:prstGeom prst="rect">
            <a:avLst/>
          </a:prstGeom>
          <a:noFill/>
          <a:ln/>
        </p:spPr>
        <p:txBody>
          <a:bodyPr wrap="square" lIns="0" tIns="0" rIns="0" bIns="0" rtlCol="0" anchor="ctr"/>
          <a:lstStyle/>
          <a:p>
            <a:pPr marL="0" indent="0" algn="ctr">
              <a:buNone/>
            </a:pPr>
            <a:r>
              <a:rPr lang="en-US" sz="1600" b="1" dirty="0">
                <a:solidFill>
                  <a:srgbClr val="2A56B5"/>
                </a:solidFill>
                <a:latin typeface="Century Gothic" pitchFamily="34" charset="0"/>
                <a:ea typeface="Century Gothic" pitchFamily="34" charset="-122"/>
                <a:cs typeface="Century Gothic" pitchFamily="34" charset="-120"/>
              </a:rPr>
              <a:t>DICTION </a:t>
            </a:r>
            <a:r>
              <a:rPr lang="en-US" sz="1600" dirty="0">
                <a:solidFill>
                  <a:srgbClr val="1E2A32"/>
                </a:solidFill>
                <a:latin typeface="Century Gothic" pitchFamily="34" charset="0"/>
                <a:ea typeface="Century Gothic" pitchFamily="34" charset="-122"/>
                <a:cs typeface="Century Gothic" pitchFamily="34" charset="-120"/>
              </a:rPr>
              <a:t>deliberate word choice     </a:t>
            </a:r>
            <a:r>
              <a:rPr lang="en-US" sz="1600" b="1" dirty="0">
                <a:solidFill>
                  <a:srgbClr val="2A56B5"/>
                </a:solidFill>
                <a:latin typeface="Century Gothic" pitchFamily="34" charset="0"/>
                <a:ea typeface="Century Gothic" pitchFamily="34" charset="-122"/>
                <a:cs typeface="Century Gothic" pitchFamily="34" charset="-120"/>
              </a:rPr>
              <a:t>CONTRAST </a:t>
            </a:r>
            <a:r>
              <a:rPr lang="en-US" sz="1600" dirty="0">
                <a:solidFill>
                  <a:srgbClr val="1E2A32"/>
                </a:solidFill>
                <a:latin typeface="Century Gothic" pitchFamily="34" charset="0"/>
                <a:ea typeface="Century Gothic" pitchFamily="34" charset="-122"/>
                <a:cs typeface="Century Gothic" pitchFamily="34" charset="-120"/>
              </a:rPr>
              <a:t>an important difference placed together to create meaning</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DF442A"/>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DF442A"/>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Today’s Big Idea</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Anne’s tone vs. the audience’s mood</a:t>
            </a:r>
            <a:endParaRPr lang="en-US" sz="1400" dirty="0"/>
          </a:p>
        </p:txBody>
      </p:sp>
      <p:sp>
        <p:nvSpPr>
          <p:cNvPr id="6" name="Shape 4"/>
          <p:cNvSpPr/>
          <p:nvPr/>
        </p:nvSpPr>
        <p:spPr>
          <a:xfrm>
            <a:off x="457200" y="1645920"/>
            <a:ext cx="11274552" cy="1828800"/>
          </a:xfrm>
          <a:prstGeom prst="roundRect">
            <a:avLst>
              <a:gd name="adj" fmla="val 9000"/>
            </a:avLst>
          </a:prstGeom>
          <a:solidFill>
            <a:srgbClr val="FF6B4E"/>
          </a:solidFill>
          <a:ln/>
        </p:spPr>
        <p:txBody>
          <a:bodyPr/>
          <a:lstStyle/>
          <a:p>
            <a:endParaRPr lang="en-US"/>
          </a:p>
        </p:txBody>
      </p:sp>
      <p:sp>
        <p:nvSpPr>
          <p:cNvPr id="7" name="Text 5"/>
          <p:cNvSpPr txBox="1"/>
          <p:nvPr/>
        </p:nvSpPr>
        <p:spPr>
          <a:xfrm>
            <a:off x="822960" y="1691640"/>
            <a:ext cx="10607040" cy="1737360"/>
          </a:xfrm>
          <a:prstGeom prst="rect">
            <a:avLst/>
          </a:prstGeom>
          <a:noFill/>
          <a:ln/>
        </p:spPr>
        <p:txBody>
          <a:bodyPr wrap="square" lIns="0" tIns="0" rIns="0" bIns="0" rtlCol="0" anchor="ctr"/>
          <a:lstStyle/>
          <a:p>
            <a:pPr marL="0" indent="0">
              <a:buNone/>
            </a:pPr>
            <a:r>
              <a:rPr lang="en-US" sz="3000" b="1" dirty="0">
                <a:solidFill>
                  <a:srgbClr val="FFFFFF"/>
                </a:solidFill>
                <a:latin typeface="Century Gothic" pitchFamily="34" charset="0"/>
                <a:ea typeface="Century Gothic" pitchFamily="34" charset="-122"/>
                <a:cs typeface="Century Gothic" pitchFamily="34" charset="-120"/>
              </a:rPr>
              <a:t>At the end of this play, Anne’s tone and the scene’s mood pull in opposite directions on purpose.</a:t>
            </a:r>
            <a:endParaRPr lang="en-US" sz="3000" dirty="0"/>
          </a:p>
        </p:txBody>
      </p:sp>
      <p:sp>
        <p:nvSpPr>
          <p:cNvPr id="8" name="Shape 6"/>
          <p:cNvSpPr/>
          <p:nvPr/>
        </p:nvSpPr>
        <p:spPr>
          <a:xfrm>
            <a:off x="457200" y="3749040"/>
            <a:ext cx="5349240" cy="2468880"/>
          </a:xfrm>
          <a:prstGeom prst="roundRect">
            <a:avLst>
              <a:gd name="adj" fmla="val 6667"/>
            </a:avLst>
          </a:prstGeom>
          <a:solidFill>
            <a:srgbClr val="DAE7FF"/>
          </a:solidFill>
          <a:ln/>
        </p:spPr>
        <p:txBody>
          <a:bodyPr/>
          <a:lstStyle/>
          <a:p>
            <a:endParaRPr lang="en-US"/>
          </a:p>
        </p:txBody>
      </p:sp>
      <p:sp>
        <p:nvSpPr>
          <p:cNvPr id="9" name="Text 7"/>
          <p:cNvSpPr txBox="1"/>
          <p:nvPr/>
        </p:nvSpPr>
        <p:spPr>
          <a:xfrm>
            <a:off x="777240" y="3931920"/>
            <a:ext cx="4754880" cy="2103120"/>
          </a:xfrm>
          <a:prstGeom prst="rect">
            <a:avLst/>
          </a:prstGeom>
          <a:noFill/>
          <a:ln/>
        </p:spPr>
        <p:txBody>
          <a:bodyPr wrap="square" lIns="0" tIns="0" rIns="0" bIns="0" rtlCol="0" anchor="ctr"/>
          <a:lstStyle/>
          <a:p>
            <a:pPr marL="0" indent="0">
              <a:buNone/>
            </a:pPr>
            <a:r>
              <a:rPr lang="en-US" sz="1400" b="1" kern="0" spc="300" dirty="0">
                <a:solidFill>
                  <a:srgbClr val="2A56B5"/>
                </a:solidFill>
                <a:latin typeface="Century Gothic" pitchFamily="34" charset="0"/>
                <a:ea typeface="Century Gothic" pitchFamily="34" charset="-122"/>
                <a:cs typeface="Century Gothic" pitchFamily="34" charset="-120"/>
              </a:rPr>
              <a:t>ANNE’S WORDS
</a:t>
            </a:r>
            <a:r>
              <a:rPr lang="en-US" sz="2200" dirty="0">
                <a:solidFill>
                  <a:srgbClr val="1E2A32"/>
                </a:solidFill>
                <a:latin typeface="Century Gothic" pitchFamily="34" charset="0"/>
                <a:ea typeface="Century Gothic" pitchFamily="34" charset="-122"/>
                <a:cs typeface="Century Gothic" pitchFamily="34" charset="-120"/>
              </a:rPr>
              <a:t>Her tone. Her attitude. Proved by her diction.</a:t>
            </a:r>
            <a:endParaRPr lang="en-US" sz="2200" dirty="0"/>
          </a:p>
        </p:txBody>
      </p:sp>
      <p:sp>
        <p:nvSpPr>
          <p:cNvPr id="10" name="Text 8"/>
          <p:cNvSpPr txBox="1"/>
          <p:nvPr/>
        </p:nvSpPr>
        <p:spPr>
          <a:xfrm>
            <a:off x="5806440" y="3749040"/>
            <a:ext cx="576072" cy="2468880"/>
          </a:xfrm>
          <a:prstGeom prst="rect">
            <a:avLst/>
          </a:prstGeom>
          <a:noFill/>
          <a:ln/>
        </p:spPr>
        <p:txBody>
          <a:bodyPr wrap="square" lIns="0" tIns="0" rIns="0" bIns="0" rtlCol="0" anchor="ctr"/>
          <a:lstStyle/>
          <a:p>
            <a:pPr marL="0" indent="0" algn="ctr">
              <a:buNone/>
            </a:pPr>
            <a:r>
              <a:rPr lang="en-US" sz="4000" b="1" dirty="0">
                <a:solidFill>
                  <a:srgbClr val="DF442A"/>
                </a:solidFill>
                <a:latin typeface="Century Gothic" pitchFamily="34" charset="0"/>
                <a:ea typeface="Century Gothic" pitchFamily="34" charset="-122"/>
                <a:cs typeface="Century Gothic" pitchFamily="34" charset="-120"/>
              </a:rPr>
              <a:t>↔</a:t>
            </a:r>
            <a:endParaRPr lang="en-US" sz="4000" dirty="0"/>
          </a:p>
        </p:txBody>
      </p:sp>
      <p:sp>
        <p:nvSpPr>
          <p:cNvPr id="11" name="Shape 9"/>
          <p:cNvSpPr/>
          <p:nvPr/>
        </p:nvSpPr>
        <p:spPr>
          <a:xfrm>
            <a:off x="6382512" y="3749040"/>
            <a:ext cx="5349240" cy="2468880"/>
          </a:xfrm>
          <a:prstGeom prst="roundRect">
            <a:avLst>
              <a:gd name="adj" fmla="val 6667"/>
            </a:avLst>
          </a:prstGeom>
          <a:solidFill>
            <a:srgbClr val="E8DEFF"/>
          </a:solidFill>
          <a:ln/>
        </p:spPr>
        <p:txBody>
          <a:bodyPr/>
          <a:lstStyle/>
          <a:p>
            <a:endParaRPr lang="en-US"/>
          </a:p>
        </p:txBody>
      </p:sp>
      <p:sp>
        <p:nvSpPr>
          <p:cNvPr id="12" name="Text 10"/>
          <p:cNvSpPr txBox="1"/>
          <p:nvPr/>
        </p:nvSpPr>
        <p:spPr>
          <a:xfrm>
            <a:off x="6702552" y="3931920"/>
            <a:ext cx="4754880" cy="2103120"/>
          </a:xfrm>
          <a:prstGeom prst="rect">
            <a:avLst/>
          </a:prstGeom>
          <a:noFill/>
          <a:ln/>
        </p:spPr>
        <p:txBody>
          <a:bodyPr wrap="square" lIns="0" tIns="0" rIns="0" bIns="0" rtlCol="0" anchor="ctr"/>
          <a:lstStyle/>
          <a:p>
            <a:pPr marL="0" indent="0">
              <a:buNone/>
            </a:pPr>
            <a:r>
              <a:rPr lang="en-US" sz="1400" b="1" kern="0" spc="300" dirty="0">
                <a:solidFill>
                  <a:srgbClr val="6746C7"/>
                </a:solidFill>
                <a:latin typeface="Century Gothic" pitchFamily="34" charset="0"/>
                <a:ea typeface="Century Gothic" pitchFamily="34" charset="-122"/>
                <a:cs typeface="Century Gothic" pitchFamily="34" charset="-120"/>
              </a:rPr>
              <a:t>WHAT WE FEEL
</a:t>
            </a:r>
            <a:r>
              <a:rPr lang="en-US" sz="2200" dirty="0">
                <a:solidFill>
                  <a:srgbClr val="1E2A32"/>
                </a:solidFill>
                <a:latin typeface="Century Gothic" pitchFamily="34" charset="0"/>
                <a:ea typeface="Century Gothic" pitchFamily="34" charset="-122"/>
                <a:cs typeface="Century Gothic" pitchFamily="34" charset="-120"/>
              </a:rPr>
              <a:t>The mood. Built by events, staging, and what we know.</a:t>
            </a:r>
            <a:endParaRPr lang="en-US" sz="2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A32"/>
        </a:solidFill>
        <a:effectLst/>
      </p:bgPr>
    </p:bg>
    <p:spTree>
      <p:nvGrpSpPr>
        <p:cNvPr id="1" name=""/>
        <p:cNvGrpSpPr/>
        <p:nvPr/>
      </p:nvGrpSpPr>
      <p:grpSpPr>
        <a:xfrm>
          <a:off x="0" y="0"/>
          <a:ext cx="0" cy="0"/>
          <a:chOff x="0" y="0"/>
          <a:chExt cx="0" cy="0"/>
        </a:xfrm>
      </p:grpSpPr>
      <p:sp>
        <p:nvSpPr>
          <p:cNvPr id="2" name="Text 0"/>
          <p:cNvSpPr txBox="1"/>
          <p:nvPr/>
        </p:nvSpPr>
        <p:spPr>
          <a:xfrm>
            <a:off x="457200" y="868680"/>
            <a:ext cx="10058400" cy="731520"/>
          </a:xfrm>
          <a:prstGeom prst="rect">
            <a:avLst/>
          </a:prstGeom>
          <a:noFill/>
          <a:ln/>
        </p:spPr>
        <p:txBody>
          <a:bodyPr wrap="square" lIns="0" tIns="0" rIns="0" bIns="0" rtlCol="0" anchor="t"/>
          <a:lstStyle/>
          <a:p>
            <a:pPr marL="0" indent="0">
              <a:buNone/>
            </a:pPr>
            <a:r>
              <a:rPr lang="en-US" sz="3600" b="1" dirty="0">
                <a:solidFill>
                  <a:srgbClr val="FFFFFF"/>
                </a:solidFill>
                <a:latin typeface="Century Gothic" pitchFamily="34" charset="0"/>
                <a:ea typeface="Century Gothic" pitchFamily="34" charset="-122"/>
                <a:cs typeface="Century Gothic" pitchFamily="34" charset="-120"/>
              </a:rPr>
              <a:t>Act II, Scene 5 · pp. 777–778</a:t>
            </a:r>
            <a:endParaRPr lang="en-US" sz="3600" dirty="0"/>
          </a:p>
        </p:txBody>
      </p:sp>
      <p:sp>
        <p:nvSpPr>
          <p:cNvPr id="3" name="Text 1"/>
          <p:cNvSpPr txBox="1"/>
          <p:nvPr/>
        </p:nvSpPr>
        <p:spPr>
          <a:xfrm>
            <a:off x="457200" y="1645920"/>
            <a:ext cx="10515600" cy="457200"/>
          </a:xfrm>
          <a:prstGeom prst="rect">
            <a:avLst/>
          </a:prstGeom>
          <a:noFill/>
          <a:ln/>
        </p:spPr>
        <p:txBody>
          <a:bodyPr wrap="square" lIns="0" tIns="0" rIns="0" bIns="0" rtlCol="0" anchor="t"/>
          <a:lstStyle/>
          <a:p>
            <a:pPr marL="0" indent="0">
              <a:buNone/>
            </a:pPr>
            <a:r>
              <a:rPr lang="en-US" sz="1800" dirty="0">
                <a:solidFill>
                  <a:srgbClr val="C9D4DA"/>
                </a:solidFill>
                <a:latin typeface="Century Gothic" pitchFamily="34" charset="0"/>
                <a:ea typeface="Century Gothic" pitchFamily="34" charset="-122"/>
                <a:cs typeface="Century Gothic" pitchFamily="34" charset="-120"/>
              </a:rPr>
              <a:t>November 1945. After the war. Mr. Frank is back in the annex.</a:t>
            </a:r>
            <a:endParaRPr lang="en-US" sz="1800" dirty="0"/>
          </a:p>
        </p:txBody>
      </p:sp>
      <p:sp>
        <p:nvSpPr>
          <p:cNvPr id="4" name="Shape 2"/>
          <p:cNvSpPr/>
          <p:nvPr/>
        </p:nvSpPr>
        <p:spPr>
          <a:xfrm>
            <a:off x="457200" y="2423160"/>
            <a:ext cx="2194560" cy="822960"/>
          </a:xfrm>
          <a:prstGeom prst="roundRect">
            <a:avLst>
              <a:gd name="adj" fmla="val 20000"/>
            </a:avLst>
          </a:prstGeom>
          <a:solidFill>
            <a:srgbClr val="00A39B"/>
          </a:solidFill>
          <a:ln/>
        </p:spPr>
        <p:txBody>
          <a:bodyPr/>
          <a:lstStyle/>
          <a:p>
            <a:endParaRPr lang="en-US"/>
          </a:p>
        </p:txBody>
      </p:sp>
      <p:sp>
        <p:nvSpPr>
          <p:cNvPr id="5" name="Text 3"/>
          <p:cNvSpPr txBox="1"/>
          <p:nvPr/>
        </p:nvSpPr>
        <p:spPr>
          <a:xfrm>
            <a:off x="594360" y="2423160"/>
            <a:ext cx="192024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entury Gothic" pitchFamily="34" charset="0"/>
                <a:ea typeface="Century Gothic" pitchFamily="34" charset="-122"/>
                <a:cs typeface="Century Gothic" pitchFamily="34" charset="-120"/>
              </a:rPr>
              <a:t>HOPE</a:t>
            </a:r>
            <a:endParaRPr lang="en-US" sz="1500" dirty="0"/>
          </a:p>
        </p:txBody>
      </p:sp>
      <p:sp>
        <p:nvSpPr>
          <p:cNvPr id="6" name="Shape 4"/>
          <p:cNvSpPr/>
          <p:nvPr/>
        </p:nvSpPr>
        <p:spPr>
          <a:xfrm>
            <a:off x="2834640" y="2423160"/>
            <a:ext cx="2194560" cy="822960"/>
          </a:xfrm>
          <a:prstGeom prst="roundRect">
            <a:avLst>
              <a:gd name="adj" fmla="val 20000"/>
            </a:avLst>
          </a:prstGeom>
          <a:solidFill>
            <a:srgbClr val="FFC63C"/>
          </a:solidFill>
          <a:ln/>
        </p:spPr>
        <p:txBody>
          <a:bodyPr/>
          <a:lstStyle/>
          <a:p>
            <a:endParaRPr lang="en-US"/>
          </a:p>
        </p:txBody>
      </p:sp>
      <p:sp>
        <p:nvSpPr>
          <p:cNvPr id="7" name="Text 5"/>
          <p:cNvSpPr txBox="1"/>
          <p:nvPr/>
        </p:nvSpPr>
        <p:spPr>
          <a:xfrm>
            <a:off x="2971800" y="2423160"/>
            <a:ext cx="1920240" cy="822960"/>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FEAR</a:t>
            </a:r>
            <a:endParaRPr lang="en-US" sz="1500" dirty="0"/>
          </a:p>
        </p:txBody>
      </p:sp>
      <p:sp>
        <p:nvSpPr>
          <p:cNvPr id="8" name="Shape 6"/>
          <p:cNvSpPr/>
          <p:nvPr/>
        </p:nvSpPr>
        <p:spPr>
          <a:xfrm>
            <a:off x="5212080" y="2423160"/>
            <a:ext cx="2194560" cy="822960"/>
          </a:xfrm>
          <a:prstGeom prst="roundRect">
            <a:avLst>
              <a:gd name="adj" fmla="val 20000"/>
            </a:avLst>
          </a:prstGeom>
          <a:solidFill>
            <a:srgbClr val="FF6B4E"/>
          </a:solidFill>
          <a:ln/>
        </p:spPr>
        <p:txBody>
          <a:bodyPr/>
          <a:lstStyle/>
          <a:p>
            <a:endParaRPr lang="en-US"/>
          </a:p>
        </p:txBody>
      </p:sp>
      <p:sp>
        <p:nvSpPr>
          <p:cNvPr id="9" name="Text 7"/>
          <p:cNvSpPr txBox="1"/>
          <p:nvPr/>
        </p:nvSpPr>
        <p:spPr>
          <a:xfrm>
            <a:off x="5349240" y="2423160"/>
            <a:ext cx="192024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entury Gothic" pitchFamily="34" charset="0"/>
                <a:ea typeface="Century Gothic" pitchFamily="34" charset="-122"/>
                <a:cs typeface="Century Gothic" pitchFamily="34" charset="-120"/>
              </a:rPr>
              <a:t>THE FINAL MORNING</a:t>
            </a:r>
            <a:endParaRPr lang="en-US" sz="1500" dirty="0"/>
          </a:p>
        </p:txBody>
      </p:sp>
      <p:sp>
        <p:nvSpPr>
          <p:cNvPr id="10" name="Text 8"/>
          <p:cNvSpPr txBox="1"/>
          <p:nvPr/>
        </p:nvSpPr>
        <p:spPr>
          <a:xfrm>
            <a:off x="7680960" y="2423160"/>
            <a:ext cx="4023360" cy="822960"/>
          </a:xfrm>
          <a:prstGeom prst="rect">
            <a:avLst/>
          </a:prstGeom>
          <a:noFill/>
          <a:ln/>
        </p:spPr>
        <p:txBody>
          <a:bodyPr wrap="square" lIns="0" tIns="0" rIns="0" bIns="0" rtlCol="0" anchor="ctr"/>
          <a:lstStyle/>
          <a:p>
            <a:pPr marL="0" indent="0">
              <a:buNone/>
            </a:pPr>
            <a:r>
              <a:rPr lang="en-US" sz="1500" dirty="0">
                <a:solidFill>
                  <a:srgbClr val="C9D4DA"/>
                </a:solidFill>
                <a:latin typeface="Century Gothic" pitchFamily="34" charset="0"/>
                <a:ea typeface="Century Gothic" pitchFamily="34" charset="-122"/>
                <a:cs typeface="Century Gothic" pitchFamily="34" charset="-120"/>
              </a:rPr>
              <a:t>→ you’ll read these with a partner</a:t>
            </a:r>
            <a:endParaRPr lang="en-US" sz="1500" dirty="0"/>
          </a:p>
        </p:txBody>
      </p:sp>
      <p:sp>
        <p:nvSpPr>
          <p:cNvPr id="11" name="Shape 9"/>
          <p:cNvSpPr/>
          <p:nvPr/>
        </p:nvSpPr>
        <p:spPr>
          <a:xfrm>
            <a:off x="457200" y="3657600"/>
            <a:ext cx="11274552" cy="2560320"/>
          </a:xfrm>
          <a:prstGeom prst="roundRect">
            <a:avLst>
              <a:gd name="adj" fmla="val 6429"/>
            </a:avLst>
          </a:prstGeom>
          <a:solidFill>
            <a:srgbClr val="2B3A44"/>
          </a:solidFill>
          <a:ln/>
        </p:spPr>
        <p:txBody>
          <a:bodyPr/>
          <a:lstStyle/>
          <a:p>
            <a:endParaRPr lang="en-US"/>
          </a:p>
        </p:txBody>
      </p:sp>
      <p:sp>
        <p:nvSpPr>
          <p:cNvPr id="12" name="Text 10"/>
          <p:cNvSpPr txBox="1"/>
          <p:nvPr/>
        </p:nvSpPr>
        <p:spPr>
          <a:xfrm>
            <a:off x="822960" y="3749040"/>
            <a:ext cx="10607040" cy="2377440"/>
          </a:xfrm>
          <a:prstGeom prst="rect">
            <a:avLst/>
          </a:prstGeom>
          <a:noFill/>
          <a:ln/>
        </p:spPr>
        <p:txBody>
          <a:bodyPr wrap="square" lIns="0" tIns="0" rIns="0" bIns="0" rtlCol="0" anchor="ctr"/>
          <a:lstStyle/>
          <a:p>
            <a:pPr marL="0" indent="0" algn="ctr">
              <a:buNone/>
            </a:pPr>
            <a:r>
              <a:rPr lang="en-US" sz="3400" b="1" dirty="0">
                <a:solidFill>
                  <a:srgbClr val="FFC63C"/>
                </a:solidFill>
                <a:latin typeface="Century Gothic" pitchFamily="34" charset="0"/>
                <a:ea typeface="Century Gothic" pitchFamily="34" charset="-122"/>
                <a:cs typeface="Century Gothic" pitchFamily="34" charset="-120"/>
              </a:rPr>
              <a:t>“What you are feeling right now is mood.</a:t>
            </a:r>
            <a:endParaRPr lang="en-US" sz="3400" dirty="0"/>
          </a:p>
          <a:p>
            <a:pPr marL="0" indent="0" algn="ctr">
              <a:buNone/>
            </a:pPr>
            <a:r>
              <a:rPr lang="en-US" sz="3400" b="1" dirty="0">
                <a:solidFill>
                  <a:srgbClr val="FFC63C"/>
                </a:solidFill>
                <a:latin typeface="Century Gothic" pitchFamily="34" charset="0"/>
                <a:ea typeface="Century Gothic" pitchFamily="34" charset="-122"/>
                <a:cs typeface="Century Gothic" pitchFamily="34" charset="-120"/>
              </a:rPr>
              <a:t>Anne’s words are tone. Hold both.”</a:t>
            </a:r>
            <a:endParaRPr lang="en-US" sz="3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B98100"/>
                </a:solidFill>
                <a:latin typeface="Century Gothic" pitchFamily="34" charset="0"/>
                <a:ea typeface="Century Gothic" pitchFamily="34" charset="-122"/>
                <a:cs typeface="Century Gothic" pitchFamily="34" charset="-120"/>
              </a:rPr>
              <a:t>M</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Tone and Mood Map · Model Row</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Anne’s final voice-over · p. 778</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2 · ROW M</a:t>
            </a:r>
            <a:endParaRPr lang="en-US" sz="1100" dirty="0"/>
          </a:p>
        </p:txBody>
      </p:sp>
      <p:sp>
        <p:nvSpPr>
          <p:cNvPr id="8" name="Shape 6"/>
          <p:cNvSpPr/>
          <p:nvPr/>
        </p:nvSpPr>
        <p:spPr>
          <a:xfrm>
            <a:off x="457200" y="1600200"/>
            <a:ext cx="11274552" cy="914400"/>
          </a:xfrm>
          <a:prstGeom prst="roundRect">
            <a:avLst>
              <a:gd name="adj" fmla="val 18000"/>
            </a:avLst>
          </a:prstGeom>
          <a:solidFill>
            <a:srgbClr val="E8DEFF"/>
          </a:solidFill>
          <a:ln/>
        </p:spPr>
        <p:txBody>
          <a:bodyPr/>
          <a:lstStyle/>
          <a:p>
            <a:endParaRPr lang="en-US"/>
          </a:p>
        </p:txBody>
      </p:sp>
      <p:sp>
        <p:nvSpPr>
          <p:cNvPr id="9" name="Text 7"/>
          <p:cNvSpPr txBox="1"/>
          <p:nvPr/>
        </p:nvSpPr>
        <p:spPr>
          <a:xfrm>
            <a:off x="777240" y="1600200"/>
            <a:ext cx="10698480" cy="914400"/>
          </a:xfrm>
          <a:prstGeom prst="rect">
            <a:avLst/>
          </a:prstGeom>
          <a:noFill/>
          <a:ln/>
        </p:spPr>
        <p:txBody>
          <a:bodyPr wrap="square" lIns="0" tIns="0" rIns="0" bIns="0" rtlCol="0" anchor="ctr"/>
          <a:lstStyle/>
          <a:p>
            <a:pPr marL="0" indent="0">
              <a:buNone/>
            </a:pPr>
            <a:r>
              <a:rPr lang="en-US" sz="2100" b="1" dirty="0">
                <a:solidFill>
                  <a:srgbClr val="1E2A32"/>
                </a:solidFill>
                <a:latin typeface="Century Gothic" pitchFamily="34" charset="0"/>
                <a:ea typeface="Century Gothic" pitchFamily="34" charset="-122"/>
                <a:cs typeface="Century Gothic" pitchFamily="34" charset="-120"/>
              </a:rPr>
              <a:t>“In spite of everything, I still believe that people are really good at heart.”  (p. 778)</a:t>
            </a:r>
            <a:endParaRPr lang="en-US" sz="2100" dirty="0"/>
          </a:p>
        </p:txBody>
      </p:sp>
      <p:sp>
        <p:nvSpPr>
          <p:cNvPr id="10" name="Shape 8"/>
          <p:cNvSpPr/>
          <p:nvPr/>
        </p:nvSpPr>
        <p:spPr>
          <a:xfrm>
            <a:off x="457200" y="2743200"/>
            <a:ext cx="475488" cy="475488"/>
          </a:xfrm>
          <a:prstGeom prst="ellipse">
            <a:avLst/>
          </a:prstGeom>
          <a:solidFill>
            <a:srgbClr val="FFC63C"/>
          </a:solidFill>
          <a:ln/>
        </p:spPr>
        <p:txBody>
          <a:bodyPr/>
          <a:lstStyle/>
          <a:p>
            <a:endParaRPr lang="en-US"/>
          </a:p>
        </p:txBody>
      </p:sp>
      <p:sp>
        <p:nvSpPr>
          <p:cNvPr id="11" name="Text 9"/>
          <p:cNvSpPr txBox="1"/>
          <p:nvPr/>
        </p:nvSpPr>
        <p:spPr>
          <a:xfrm>
            <a:off x="457200" y="27432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1</a:t>
            </a:r>
            <a:endParaRPr lang="en-US" sz="1500" dirty="0"/>
          </a:p>
        </p:txBody>
      </p:sp>
      <p:sp>
        <p:nvSpPr>
          <p:cNvPr id="12" name="Text 10"/>
          <p:cNvSpPr txBox="1"/>
          <p:nvPr/>
        </p:nvSpPr>
        <p:spPr>
          <a:xfrm>
            <a:off x="1051560" y="26974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Identify the moment</a:t>
            </a:r>
            <a:endParaRPr lang="en-US" sz="1350" dirty="0"/>
          </a:p>
        </p:txBody>
      </p:sp>
      <p:sp>
        <p:nvSpPr>
          <p:cNvPr id="13" name="Shape 11"/>
          <p:cNvSpPr/>
          <p:nvPr/>
        </p:nvSpPr>
        <p:spPr>
          <a:xfrm>
            <a:off x="457200" y="3429000"/>
            <a:ext cx="475488" cy="475488"/>
          </a:xfrm>
          <a:prstGeom prst="ellipse">
            <a:avLst/>
          </a:prstGeom>
          <a:solidFill>
            <a:srgbClr val="FFC63C"/>
          </a:solidFill>
          <a:ln/>
        </p:spPr>
        <p:txBody>
          <a:bodyPr/>
          <a:lstStyle/>
          <a:p>
            <a:endParaRPr lang="en-US"/>
          </a:p>
        </p:txBody>
      </p:sp>
      <p:sp>
        <p:nvSpPr>
          <p:cNvPr id="14" name="Text 12"/>
          <p:cNvSpPr txBox="1"/>
          <p:nvPr/>
        </p:nvSpPr>
        <p:spPr>
          <a:xfrm>
            <a:off x="457200" y="34290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2</a:t>
            </a:r>
            <a:endParaRPr lang="en-US" sz="1500" dirty="0"/>
          </a:p>
        </p:txBody>
      </p:sp>
      <p:sp>
        <p:nvSpPr>
          <p:cNvPr id="15" name="Text 13"/>
          <p:cNvSpPr txBox="1"/>
          <p:nvPr/>
        </p:nvSpPr>
        <p:spPr>
          <a:xfrm>
            <a:off x="1051560" y="33832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Look at Anne’s actual diction</a:t>
            </a:r>
            <a:endParaRPr lang="en-US" sz="1350" dirty="0"/>
          </a:p>
        </p:txBody>
      </p:sp>
      <p:sp>
        <p:nvSpPr>
          <p:cNvPr id="16" name="Shape 14"/>
          <p:cNvSpPr/>
          <p:nvPr/>
        </p:nvSpPr>
        <p:spPr>
          <a:xfrm>
            <a:off x="457200" y="4114800"/>
            <a:ext cx="475488" cy="475488"/>
          </a:xfrm>
          <a:prstGeom prst="ellipse">
            <a:avLst/>
          </a:prstGeom>
          <a:solidFill>
            <a:srgbClr val="FFC63C"/>
          </a:solidFill>
          <a:ln/>
        </p:spPr>
        <p:txBody>
          <a:bodyPr/>
          <a:lstStyle/>
          <a:p>
            <a:endParaRPr lang="en-US"/>
          </a:p>
        </p:txBody>
      </p:sp>
      <p:sp>
        <p:nvSpPr>
          <p:cNvPr id="17" name="Text 15"/>
          <p:cNvSpPr txBox="1"/>
          <p:nvPr/>
        </p:nvSpPr>
        <p:spPr>
          <a:xfrm>
            <a:off x="457200" y="41148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3</a:t>
            </a:r>
            <a:endParaRPr lang="en-US" sz="1500" dirty="0"/>
          </a:p>
        </p:txBody>
      </p:sp>
      <p:sp>
        <p:nvSpPr>
          <p:cNvPr id="18" name="Text 16"/>
          <p:cNvSpPr txBox="1"/>
          <p:nvPr/>
        </p:nvSpPr>
        <p:spPr>
          <a:xfrm>
            <a:off x="1051560" y="40690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Choose a tone word the diction can defend</a:t>
            </a:r>
            <a:endParaRPr lang="en-US" sz="1350" dirty="0"/>
          </a:p>
        </p:txBody>
      </p:sp>
      <p:sp>
        <p:nvSpPr>
          <p:cNvPr id="19" name="Shape 17"/>
          <p:cNvSpPr/>
          <p:nvPr/>
        </p:nvSpPr>
        <p:spPr>
          <a:xfrm>
            <a:off x="3566160" y="2743200"/>
            <a:ext cx="475488" cy="475488"/>
          </a:xfrm>
          <a:prstGeom prst="ellipse">
            <a:avLst/>
          </a:prstGeom>
          <a:solidFill>
            <a:srgbClr val="FFC63C"/>
          </a:solidFill>
          <a:ln/>
        </p:spPr>
        <p:txBody>
          <a:bodyPr/>
          <a:lstStyle/>
          <a:p>
            <a:endParaRPr lang="en-US"/>
          </a:p>
        </p:txBody>
      </p:sp>
      <p:sp>
        <p:nvSpPr>
          <p:cNvPr id="20" name="Text 18"/>
          <p:cNvSpPr txBox="1"/>
          <p:nvPr/>
        </p:nvSpPr>
        <p:spPr>
          <a:xfrm>
            <a:off x="3566160" y="27432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4</a:t>
            </a:r>
            <a:endParaRPr lang="en-US" sz="1500" dirty="0"/>
          </a:p>
        </p:txBody>
      </p:sp>
      <p:sp>
        <p:nvSpPr>
          <p:cNvPr id="21" name="Text 19"/>
          <p:cNvSpPr txBox="1"/>
          <p:nvPr/>
        </p:nvSpPr>
        <p:spPr>
          <a:xfrm>
            <a:off x="4160520" y="26974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What does the audience know?</a:t>
            </a:r>
            <a:endParaRPr lang="en-US" sz="1350" dirty="0"/>
          </a:p>
        </p:txBody>
      </p:sp>
      <p:sp>
        <p:nvSpPr>
          <p:cNvPr id="22" name="Shape 20"/>
          <p:cNvSpPr/>
          <p:nvPr/>
        </p:nvSpPr>
        <p:spPr>
          <a:xfrm>
            <a:off x="3566160" y="3429000"/>
            <a:ext cx="475488" cy="475488"/>
          </a:xfrm>
          <a:prstGeom prst="ellipse">
            <a:avLst/>
          </a:prstGeom>
          <a:solidFill>
            <a:srgbClr val="FFC63C"/>
          </a:solidFill>
          <a:ln/>
        </p:spPr>
        <p:txBody>
          <a:bodyPr/>
          <a:lstStyle/>
          <a:p>
            <a:endParaRPr lang="en-US"/>
          </a:p>
        </p:txBody>
      </p:sp>
      <p:sp>
        <p:nvSpPr>
          <p:cNvPr id="23" name="Text 21"/>
          <p:cNvSpPr txBox="1"/>
          <p:nvPr/>
        </p:nvSpPr>
        <p:spPr>
          <a:xfrm>
            <a:off x="3566160" y="34290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5</a:t>
            </a:r>
            <a:endParaRPr lang="en-US" sz="1500" dirty="0"/>
          </a:p>
        </p:txBody>
      </p:sp>
      <p:sp>
        <p:nvSpPr>
          <p:cNvPr id="24" name="Text 22"/>
          <p:cNvSpPr txBox="1"/>
          <p:nvPr/>
        </p:nvSpPr>
        <p:spPr>
          <a:xfrm>
            <a:off x="4160520" y="33832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Choose the mood</a:t>
            </a:r>
            <a:endParaRPr lang="en-US" sz="1350" dirty="0"/>
          </a:p>
        </p:txBody>
      </p:sp>
      <p:sp>
        <p:nvSpPr>
          <p:cNvPr id="25" name="Shape 23"/>
          <p:cNvSpPr/>
          <p:nvPr/>
        </p:nvSpPr>
        <p:spPr>
          <a:xfrm>
            <a:off x="3566160" y="4114800"/>
            <a:ext cx="475488" cy="475488"/>
          </a:xfrm>
          <a:prstGeom prst="ellipse">
            <a:avLst/>
          </a:prstGeom>
          <a:solidFill>
            <a:srgbClr val="FFC63C"/>
          </a:solidFill>
          <a:ln/>
        </p:spPr>
        <p:txBody>
          <a:bodyPr/>
          <a:lstStyle/>
          <a:p>
            <a:endParaRPr lang="en-US"/>
          </a:p>
        </p:txBody>
      </p:sp>
      <p:sp>
        <p:nvSpPr>
          <p:cNvPr id="26" name="Text 24"/>
          <p:cNvSpPr txBox="1"/>
          <p:nvPr/>
        </p:nvSpPr>
        <p:spPr>
          <a:xfrm>
            <a:off x="3566160" y="4114800"/>
            <a:ext cx="475488" cy="475488"/>
          </a:xfrm>
          <a:prstGeom prst="rect">
            <a:avLst/>
          </a:prstGeom>
          <a:noFill/>
          <a:ln/>
        </p:spPr>
        <p:txBody>
          <a:bodyPr wrap="square" lIns="0" tIns="0" rIns="0" bIns="0" rtlCol="0" anchor="ctr"/>
          <a:lstStyle/>
          <a:p>
            <a:pPr marL="0" indent="0" algn="ctr">
              <a:buNone/>
            </a:pPr>
            <a:r>
              <a:rPr lang="en-US" sz="1500" b="1" dirty="0">
                <a:solidFill>
                  <a:srgbClr val="3A2A00"/>
                </a:solidFill>
                <a:latin typeface="Century Gothic" pitchFamily="34" charset="0"/>
                <a:ea typeface="Century Gothic" pitchFamily="34" charset="-122"/>
                <a:cs typeface="Century Gothic" pitchFamily="34" charset="-120"/>
              </a:rPr>
              <a:t>6</a:t>
            </a:r>
            <a:endParaRPr lang="en-US" sz="1500" dirty="0"/>
          </a:p>
        </p:txBody>
      </p:sp>
      <p:sp>
        <p:nvSpPr>
          <p:cNvPr id="27" name="Text 25"/>
          <p:cNvSpPr txBox="1"/>
          <p:nvPr/>
        </p:nvSpPr>
        <p:spPr>
          <a:xfrm>
            <a:off x="4160520" y="4069080"/>
            <a:ext cx="2423160" cy="566928"/>
          </a:xfrm>
          <a:prstGeom prst="rect">
            <a:avLst/>
          </a:prstGeom>
          <a:noFill/>
          <a:ln/>
        </p:spPr>
        <p:txBody>
          <a:bodyPr wrap="square" lIns="0" tIns="0" rIns="0" bIns="0" rtlCol="0" anchor="ctr"/>
          <a:lstStyle/>
          <a:p>
            <a:pPr marL="0" indent="0">
              <a:buNone/>
            </a:pPr>
            <a:r>
              <a:rPr lang="en-US" sz="1350" b="1" dirty="0">
                <a:solidFill>
                  <a:srgbClr val="1E2A32"/>
                </a:solidFill>
                <a:latin typeface="Century Gothic" pitchFamily="34" charset="0"/>
                <a:ea typeface="Century Gothic" pitchFamily="34" charset="-122"/>
                <a:cs typeface="Century Gothic" pitchFamily="34" charset="-120"/>
              </a:rPr>
              <a:t>Explain the gap</a:t>
            </a:r>
            <a:endParaRPr lang="en-US" sz="1350" dirty="0"/>
          </a:p>
        </p:txBody>
      </p:sp>
      <p:sp>
        <p:nvSpPr>
          <p:cNvPr id="28" name="Shape 26"/>
          <p:cNvSpPr/>
          <p:nvPr/>
        </p:nvSpPr>
        <p:spPr>
          <a:xfrm>
            <a:off x="6656832" y="2743200"/>
            <a:ext cx="5074920" cy="1965960"/>
          </a:xfrm>
          <a:prstGeom prst="roundRect">
            <a:avLst>
              <a:gd name="adj" fmla="val 8372"/>
            </a:avLst>
          </a:prstGeom>
          <a:solidFill>
            <a:srgbClr val="FFFFFF"/>
          </a:solidFill>
          <a:ln w="25400">
            <a:solidFill>
              <a:srgbClr val="8B6BE8"/>
            </a:solidFill>
            <a:prstDash val="solid"/>
          </a:ln>
        </p:spPr>
        <p:txBody>
          <a:bodyPr/>
          <a:lstStyle/>
          <a:p>
            <a:endParaRPr lang="en-US"/>
          </a:p>
        </p:txBody>
      </p:sp>
      <p:sp>
        <p:nvSpPr>
          <p:cNvPr id="29" name="Text 27"/>
          <p:cNvSpPr txBox="1"/>
          <p:nvPr/>
        </p:nvSpPr>
        <p:spPr>
          <a:xfrm>
            <a:off x="6931152" y="2852928"/>
            <a:ext cx="4572000" cy="274320"/>
          </a:xfrm>
          <a:prstGeom prst="rect">
            <a:avLst/>
          </a:prstGeom>
          <a:noFill/>
          <a:ln/>
        </p:spPr>
        <p:txBody>
          <a:bodyPr wrap="square" lIns="0" tIns="0" rIns="0" bIns="0" rtlCol="0" anchor="t"/>
          <a:lstStyle/>
          <a:p>
            <a:pPr marL="0" indent="0">
              <a:buNone/>
            </a:pPr>
            <a:r>
              <a:rPr lang="en-US" sz="1100" b="1" kern="0" spc="300" dirty="0">
                <a:solidFill>
                  <a:srgbClr val="6746C7"/>
                </a:solidFill>
                <a:latin typeface="Century Gothic" pitchFamily="34" charset="0"/>
                <a:ea typeface="Century Gothic" pitchFamily="34" charset="-122"/>
                <a:cs typeface="Century Gothic" pitchFamily="34" charset="-120"/>
              </a:rPr>
              <a:t>IS ANNE’S TONE…</a:t>
            </a:r>
            <a:endParaRPr lang="en-US" sz="1100" dirty="0"/>
          </a:p>
        </p:txBody>
      </p:sp>
      <p:sp>
        <p:nvSpPr>
          <p:cNvPr id="30" name="Text 28"/>
          <p:cNvSpPr txBox="1"/>
          <p:nvPr/>
        </p:nvSpPr>
        <p:spPr>
          <a:xfrm>
            <a:off x="6931152" y="3154680"/>
            <a:ext cx="4526280" cy="1463040"/>
          </a:xfrm>
          <a:prstGeom prst="rect">
            <a:avLst/>
          </a:prstGeom>
          <a:noFill/>
          <a:ln/>
        </p:spPr>
        <p:txBody>
          <a:bodyPr wrap="square" lIns="0" tIns="0" rIns="0" bIns="0" rtlCol="0" anchor="ctr"/>
          <a:lstStyle/>
          <a:p>
            <a:pPr marL="0" indent="0">
              <a:buNone/>
            </a:pPr>
            <a:r>
              <a:rPr lang="en-US" sz="1800" b="1" dirty="0">
                <a:solidFill>
                  <a:srgbClr val="007A73"/>
                </a:solidFill>
                <a:latin typeface="Century Gothic" pitchFamily="34" charset="0"/>
                <a:ea typeface="Century Gothic" pitchFamily="34" charset="-122"/>
                <a:cs typeface="Century Gothic" pitchFamily="34" charset="-120"/>
              </a:rPr>
              <a:t>hopeful</a:t>
            </a:r>
            <a:r>
              <a:rPr lang="en-US" sz="1800" dirty="0">
                <a:solidFill>
                  <a:srgbClr val="1E2A32"/>
                </a:solidFill>
                <a:latin typeface="Century Gothic" pitchFamily="34" charset="0"/>
                <a:ea typeface="Century Gothic" pitchFamily="34" charset="-122"/>
                <a:cs typeface="Century Gothic" pitchFamily="34" charset="-120"/>
              </a:rPr>
              <a:t>  expects good
</a:t>
            </a:r>
            <a:r>
              <a:rPr lang="en-US" sz="1800" b="1" dirty="0">
                <a:solidFill>
                  <a:srgbClr val="DF442A"/>
                </a:solidFill>
                <a:latin typeface="Century Gothic" pitchFamily="34" charset="0"/>
                <a:ea typeface="Century Gothic" pitchFamily="34" charset="-122"/>
                <a:cs typeface="Century Gothic" pitchFamily="34" charset="-120"/>
              </a:rPr>
              <a:t>defiant</a:t>
            </a:r>
            <a:r>
              <a:rPr lang="en-US" sz="1800" dirty="0">
                <a:solidFill>
                  <a:srgbClr val="1E2A32"/>
                </a:solidFill>
                <a:latin typeface="Century Gothic" pitchFamily="34" charset="0"/>
                <a:ea typeface="Century Gothic" pitchFamily="34" charset="-122"/>
                <a:cs typeface="Century Gothic" pitchFamily="34" charset="-120"/>
              </a:rPr>
              <a:t>  refuses to give in
</a:t>
            </a:r>
            <a:r>
              <a:rPr lang="en-US" sz="1800" b="1" dirty="0">
                <a:solidFill>
                  <a:srgbClr val="2A56B5"/>
                </a:solidFill>
                <a:latin typeface="Century Gothic" pitchFamily="34" charset="0"/>
                <a:ea typeface="Century Gothic" pitchFamily="34" charset="-122"/>
                <a:cs typeface="Century Gothic" pitchFamily="34" charset="-120"/>
              </a:rPr>
              <a:t>naive</a:t>
            </a:r>
            <a:r>
              <a:rPr lang="en-US" sz="1800" dirty="0">
                <a:solidFill>
                  <a:srgbClr val="1E2A32"/>
                </a:solidFill>
                <a:latin typeface="Century Gothic" pitchFamily="34" charset="0"/>
                <a:ea typeface="Century Gothic" pitchFamily="34" charset="-122"/>
                <a:cs typeface="Century Gothic" pitchFamily="34" charset="-120"/>
              </a:rPr>
              <a:t>  doesn’t see how bad it is</a:t>
            </a:r>
            <a:endParaRPr lang="en-US" sz="1800" dirty="0"/>
          </a:p>
        </p:txBody>
      </p:sp>
      <p:sp>
        <p:nvSpPr>
          <p:cNvPr id="31" name="Shape 29"/>
          <p:cNvSpPr/>
          <p:nvPr/>
        </p:nvSpPr>
        <p:spPr>
          <a:xfrm>
            <a:off x="457200" y="4983480"/>
            <a:ext cx="11274552" cy="1234440"/>
          </a:xfrm>
          <a:prstGeom prst="roundRect">
            <a:avLst>
              <a:gd name="adj" fmla="val 13333"/>
            </a:avLst>
          </a:prstGeom>
          <a:solidFill>
            <a:srgbClr val="1E2A32"/>
          </a:solidFill>
          <a:ln/>
        </p:spPr>
        <p:txBody>
          <a:bodyPr/>
          <a:lstStyle/>
          <a:p>
            <a:endParaRPr lang="en-US"/>
          </a:p>
        </p:txBody>
      </p:sp>
      <p:sp>
        <p:nvSpPr>
          <p:cNvPr id="32" name="Text 30"/>
          <p:cNvSpPr txBox="1"/>
          <p:nvPr/>
        </p:nvSpPr>
        <p:spPr>
          <a:xfrm>
            <a:off x="777240" y="4983480"/>
            <a:ext cx="10698480" cy="1234440"/>
          </a:xfrm>
          <a:prstGeom prst="rect">
            <a:avLst/>
          </a:prstGeom>
          <a:noFill/>
          <a:ln/>
        </p:spPr>
        <p:txBody>
          <a:bodyPr wrap="square" lIns="0" tIns="0" rIns="0" bIns="0" rtlCol="0" anchor="ctr"/>
          <a:lstStyle/>
          <a:p>
            <a:pPr marL="0" indent="0">
              <a:buNone/>
            </a:pPr>
            <a:r>
              <a:rPr lang="en-US" sz="2100" b="1" dirty="0">
                <a:solidFill>
                  <a:srgbClr val="FFFFFF"/>
                </a:solidFill>
                <a:latin typeface="Century Gothic" pitchFamily="34" charset="0"/>
                <a:ea typeface="Century Gothic" pitchFamily="34" charset="-122"/>
                <a:cs typeface="Century Gothic" pitchFamily="34" charset="-120"/>
              </a:rPr>
              <a:t>Those words share ground but judge her differently. Choose the word you can defend from her diction.</a:t>
            </a:r>
            <a:endParaRPr lang="en-US" sz="2100" dirty="0"/>
          </a:p>
        </p:txBody>
      </p:sp>
      <p:sp>
        <p:nvSpPr>
          <p:cNvPr id="33"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EFF"/>
        </a:solidFill>
        <a:effectLst/>
      </p:bgPr>
    </p:bg>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6746C7"/>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6746C7"/>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Show Your Thinking</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Same scene, p. 777. Mr. Frank is speaking. Think first. Then say it.</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2 · PURPLE STRIP</a:t>
            </a:r>
            <a:endParaRPr lang="en-US" sz="1100" dirty="0"/>
          </a:p>
        </p:txBody>
      </p:sp>
      <p:sp>
        <p:nvSpPr>
          <p:cNvPr id="8" name="Shape 6"/>
          <p:cNvSpPr/>
          <p:nvPr/>
        </p:nvSpPr>
        <p:spPr>
          <a:xfrm>
            <a:off x="457200" y="1600200"/>
            <a:ext cx="11274552" cy="1600200"/>
          </a:xfrm>
          <a:prstGeom prst="roundRect">
            <a:avLst>
              <a:gd name="adj" fmla="val 10286"/>
            </a:avLst>
          </a:prstGeom>
          <a:solidFill>
            <a:srgbClr val="FFFFFF"/>
          </a:solidFill>
          <a:ln w="31750">
            <a:solidFill>
              <a:srgbClr val="8B6BE8"/>
            </a:solidFill>
            <a:prstDash val="dash"/>
          </a:ln>
        </p:spPr>
        <p:txBody>
          <a:bodyPr/>
          <a:lstStyle/>
          <a:p>
            <a:endParaRPr lang="en-US"/>
          </a:p>
        </p:txBody>
      </p:sp>
      <p:sp>
        <p:nvSpPr>
          <p:cNvPr id="9" name="Text 7"/>
          <p:cNvSpPr txBox="1"/>
          <p:nvPr/>
        </p:nvSpPr>
        <p:spPr>
          <a:xfrm>
            <a:off x="777240" y="1645920"/>
            <a:ext cx="10698480" cy="1508760"/>
          </a:xfrm>
          <a:prstGeom prst="rect">
            <a:avLst/>
          </a:prstGeom>
          <a:noFill/>
          <a:ln/>
        </p:spPr>
        <p:txBody>
          <a:bodyPr wrap="square" lIns="0" tIns="0" rIns="0" bIns="0" rtlCol="0" anchor="ctr"/>
          <a:lstStyle/>
          <a:p>
            <a:pPr marL="0" indent="0">
              <a:buNone/>
            </a:pPr>
            <a:r>
              <a:rPr lang="en-US" sz="1700" dirty="0">
                <a:solidFill>
                  <a:srgbClr val="1E2A32"/>
                </a:solidFill>
                <a:latin typeface="Century Gothic" pitchFamily="34" charset="0"/>
                <a:ea typeface="Century Gothic" pitchFamily="34" charset="-122"/>
                <a:cs typeface="Century Gothic" pitchFamily="34" charset="-120"/>
              </a:rPr>
              <a:t>“It seems strange to say this, that anyone could be happy in a concentration camp. But Anne was happy in the camp in Holland where they first took us. After two years of being shut up in these rooms, she could be out… out in the sunshine and the fresh air that she loved.”</a:t>
            </a:r>
            <a:endParaRPr lang="en-US" sz="1700" dirty="0"/>
          </a:p>
        </p:txBody>
      </p:sp>
      <p:sp>
        <p:nvSpPr>
          <p:cNvPr id="10" name="Shape 8"/>
          <p:cNvSpPr/>
          <p:nvPr/>
        </p:nvSpPr>
        <p:spPr>
          <a:xfrm>
            <a:off x="457200" y="3383280"/>
            <a:ext cx="3840480" cy="347472"/>
          </a:xfrm>
          <a:prstGeom prst="roundRect">
            <a:avLst>
              <a:gd name="adj" fmla="val 50000"/>
            </a:avLst>
          </a:prstGeom>
          <a:solidFill>
            <a:srgbClr val="6746C7"/>
          </a:solidFill>
          <a:ln/>
        </p:spPr>
        <p:txBody>
          <a:bodyPr/>
          <a:lstStyle/>
          <a:p>
            <a:endParaRPr lang="en-US"/>
          </a:p>
        </p:txBody>
      </p:sp>
      <p:sp>
        <p:nvSpPr>
          <p:cNvPr id="11" name="Text 9"/>
          <p:cNvSpPr txBox="1"/>
          <p:nvPr/>
        </p:nvSpPr>
        <p:spPr>
          <a:xfrm>
            <a:off x="457200" y="3383280"/>
            <a:ext cx="38404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THINK SILENTLY · 30–45 SEC</a:t>
            </a:r>
            <a:endParaRPr lang="en-US" sz="1100" dirty="0"/>
          </a:p>
        </p:txBody>
      </p:sp>
      <p:sp>
        <p:nvSpPr>
          <p:cNvPr id="12" name="Shape 10"/>
          <p:cNvSpPr/>
          <p:nvPr/>
        </p:nvSpPr>
        <p:spPr>
          <a:xfrm>
            <a:off x="457200" y="3886200"/>
            <a:ext cx="2651760" cy="960120"/>
          </a:xfrm>
          <a:prstGeom prst="roundRect">
            <a:avLst>
              <a:gd name="adj" fmla="val 17143"/>
            </a:avLst>
          </a:prstGeom>
          <a:solidFill>
            <a:srgbClr val="8B6BE8"/>
          </a:solidFill>
          <a:ln/>
        </p:spPr>
        <p:txBody>
          <a:bodyPr/>
          <a:lstStyle/>
          <a:p>
            <a:endParaRPr lang="en-US"/>
          </a:p>
        </p:txBody>
      </p:sp>
      <p:sp>
        <p:nvSpPr>
          <p:cNvPr id="13" name="Text 11"/>
          <p:cNvSpPr txBox="1"/>
          <p:nvPr/>
        </p:nvSpPr>
        <p:spPr>
          <a:xfrm>
            <a:off x="457200" y="3886200"/>
            <a:ext cx="265176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Gothic" pitchFamily="34" charset="0"/>
                <a:ea typeface="Century Gothic" pitchFamily="34" charset="-122"/>
                <a:cs typeface="Century Gothic" pitchFamily="34" charset="-120"/>
              </a:rPr>
              <a:t>First I…</a:t>
            </a:r>
            <a:endParaRPr lang="en-US" sz="2400" dirty="0"/>
          </a:p>
        </p:txBody>
      </p:sp>
      <p:sp>
        <p:nvSpPr>
          <p:cNvPr id="14" name="Shape 12"/>
          <p:cNvSpPr/>
          <p:nvPr/>
        </p:nvSpPr>
        <p:spPr>
          <a:xfrm>
            <a:off x="3291840" y="3886200"/>
            <a:ext cx="2651760" cy="960120"/>
          </a:xfrm>
          <a:prstGeom prst="roundRect">
            <a:avLst>
              <a:gd name="adj" fmla="val 17143"/>
            </a:avLst>
          </a:prstGeom>
          <a:solidFill>
            <a:srgbClr val="8B6BE8"/>
          </a:solidFill>
          <a:ln/>
        </p:spPr>
        <p:txBody>
          <a:bodyPr/>
          <a:lstStyle/>
          <a:p>
            <a:endParaRPr lang="en-US"/>
          </a:p>
        </p:txBody>
      </p:sp>
      <p:sp>
        <p:nvSpPr>
          <p:cNvPr id="15" name="Text 13"/>
          <p:cNvSpPr txBox="1"/>
          <p:nvPr/>
        </p:nvSpPr>
        <p:spPr>
          <a:xfrm>
            <a:off x="3291840" y="3886200"/>
            <a:ext cx="265176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Gothic" pitchFamily="34" charset="0"/>
                <a:ea typeface="Century Gothic" pitchFamily="34" charset="-122"/>
                <a:cs typeface="Century Gothic" pitchFamily="34" charset="-120"/>
              </a:rPr>
              <a:t>Then I noticed…</a:t>
            </a:r>
            <a:endParaRPr lang="en-US" sz="2400" dirty="0"/>
          </a:p>
        </p:txBody>
      </p:sp>
      <p:sp>
        <p:nvSpPr>
          <p:cNvPr id="16" name="Shape 14"/>
          <p:cNvSpPr/>
          <p:nvPr/>
        </p:nvSpPr>
        <p:spPr>
          <a:xfrm>
            <a:off x="6126480" y="3886200"/>
            <a:ext cx="2651760" cy="960120"/>
          </a:xfrm>
          <a:prstGeom prst="roundRect">
            <a:avLst>
              <a:gd name="adj" fmla="val 17143"/>
            </a:avLst>
          </a:prstGeom>
          <a:solidFill>
            <a:srgbClr val="8B6BE8"/>
          </a:solidFill>
          <a:ln/>
        </p:spPr>
        <p:txBody>
          <a:bodyPr/>
          <a:lstStyle/>
          <a:p>
            <a:endParaRPr lang="en-US"/>
          </a:p>
        </p:txBody>
      </p:sp>
      <p:sp>
        <p:nvSpPr>
          <p:cNvPr id="17" name="Text 15"/>
          <p:cNvSpPr txBox="1"/>
          <p:nvPr/>
        </p:nvSpPr>
        <p:spPr>
          <a:xfrm>
            <a:off x="6126480" y="3886200"/>
            <a:ext cx="265176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Gothic" pitchFamily="34" charset="0"/>
                <a:ea typeface="Century Gothic" pitchFamily="34" charset="-122"/>
                <a:cs typeface="Century Gothic" pitchFamily="34" charset="-120"/>
              </a:rPr>
              <a:t>So I decided…</a:t>
            </a:r>
            <a:endParaRPr lang="en-US" sz="2400" dirty="0"/>
          </a:p>
        </p:txBody>
      </p:sp>
      <p:sp>
        <p:nvSpPr>
          <p:cNvPr id="18" name="Shape 16"/>
          <p:cNvSpPr/>
          <p:nvPr/>
        </p:nvSpPr>
        <p:spPr>
          <a:xfrm>
            <a:off x="8961120" y="3886200"/>
            <a:ext cx="2651760" cy="960120"/>
          </a:xfrm>
          <a:prstGeom prst="roundRect">
            <a:avLst>
              <a:gd name="adj" fmla="val 17143"/>
            </a:avLst>
          </a:prstGeom>
          <a:solidFill>
            <a:srgbClr val="8B6BE8"/>
          </a:solidFill>
          <a:ln/>
        </p:spPr>
        <p:txBody>
          <a:bodyPr/>
          <a:lstStyle/>
          <a:p>
            <a:endParaRPr lang="en-US"/>
          </a:p>
        </p:txBody>
      </p:sp>
      <p:sp>
        <p:nvSpPr>
          <p:cNvPr id="19" name="Text 17"/>
          <p:cNvSpPr txBox="1"/>
          <p:nvPr/>
        </p:nvSpPr>
        <p:spPr>
          <a:xfrm>
            <a:off x="8961120" y="3886200"/>
            <a:ext cx="265176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Gothic" pitchFamily="34" charset="0"/>
                <a:ea typeface="Century Gothic" pitchFamily="34" charset="-122"/>
                <a:cs typeface="Century Gothic" pitchFamily="34" charset="-120"/>
              </a:rPr>
              <a:t>Because…</a:t>
            </a:r>
            <a:endParaRPr lang="en-US" sz="2400" dirty="0"/>
          </a:p>
        </p:txBody>
      </p:sp>
      <p:sp>
        <p:nvSpPr>
          <p:cNvPr id="20" name="Shape 18"/>
          <p:cNvSpPr/>
          <p:nvPr/>
        </p:nvSpPr>
        <p:spPr>
          <a:xfrm>
            <a:off x="457200" y="5074920"/>
            <a:ext cx="11274552" cy="1143000"/>
          </a:xfrm>
          <a:prstGeom prst="roundRect">
            <a:avLst>
              <a:gd name="adj" fmla="val 14400"/>
            </a:avLst>
          </a:prstGeom>
          <a:solidFill>
            <a:srgbClr val="1E2A32"/>
          </a:solidFill>
          <a:ln/>
        </p:spPr>
        <p:txBody>
          <a:bodyPr/>
          <a:lstStyle/>
          <a:p>
            <a:endParaRPr lang="en-US"/>
          </a:p>
        </p:txBody>
      </p:sp>
      <p:sp>
        <p:nvSpPr>
          <p:cNvPr id="21" name="Text 19"/>
          <p:cNvSpPr txBox="1"/>
          <p:nvPr/>
        </p:nvSpPr>
        <p:spPr>
          <a:xfrm>
            <a:off x="777240" y="5074920"/>
            <a:ext cx="10698480" cy="1143000"/>
          </a:xfrm>
          <a:prstGeom prst="rect">
            <a:avLst/>
          </a:prstGeom>
          <a:noFill/>
          <a:ln/>
        </p:spPr>
        <p:txBody>
          <a:bodyPr wrap="square" lIns="0" tIns="0" rIns="0" bIns="0" rtlCol="0" anchor="ctr"/>
          <a:lstStyle/>
          <a:p>
            <a:pPr marL="0" indent="0">
              <a:buNone/>
            </a:pPr>
            <a:r>
              <a:rPr lang="en-US" sz="2000" b="1" kern="0" spc="200" dirty="0">
                <a:solidFill>
                  <a:srgbClr val="FFC63C"/>
                </a:solidFill>
                <a:latin typeface="Century Gothic" pitchFamily="34" charset="0"/>
                <a:ea typeface="Century Gothic" pitchFamily="34" charset="-122"/>
                <a:cs typeface="Century Gothic" pitchFamily="34" charset="-120"/>
              </a:rPr>
              <a:t>BUILD · REVISE · CHALLENGE    </a:t>
            </a:r>
            <a:r>
              <a:rPr lang="en-US" sz="2000" dirty="0">
                <a:solidFill>
                  <a:srgbClr val="FFFFFF"/>
                </a:solidFill>
                <a:latin typeface="Century Gothic" pitchFamily="34" charset="0"/>
                <a:ea typeface="Century Gothic" pitchFamily="34" charset="-122"/>
                <a:cs typeface="Century Gothic" pitchFamily="34" charset="-120"/>
              </a:rPr>
              <a:t>“I agree / would revise that because ______. I noticed ______.”</a:t>
            </a:r>
            <a:endParaRPr lang="en-US" sz="20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6746C7"/>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6746C7"/>
                </a:solidFill>
                <a:latin typeface="Century Gothic" pitchFamily="34" charset="0"/>
                <a:ea typeface="Century Gothic" pitchFamily="34" charset="-122"/>
                <a:cs typeface="Century Gothic" pitchFamily="34" charset="-120"/>
              </a:rPr>
              <a:t>03</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Partner Reading · Map Rows 2–4</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You already know how it ends. That’s your audience knowledge.</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2 · ROWS 2–4</a:t>
            </a:r>
            <a:endParaRPr lang="en-US" sz="1100" dirty="0"/>
          </a:p>
        </p:txBody>
      </p:sp>
      <p:sp>
        <p:nvSpPr>
          <p:cNvPr id="8" name="Shape 6"/>
          <p:cNvSpPr/>
          <p:nvPr/>
        </p:nvSpPr>
        <p:spPr>
          <a:xfrm>
            <a:off x="457200" y="1600200"/>
            <a:ext cx="7040880" cy="1417320"/>
          </a:xfrm>
          <a:prstGeom prst="roundRect">
            <a:avLst>
              <a:gd name="adj" fmla="val 11613"/>
            </a:avLst>
          </a:prstGeom>
          <a:solidFill>
            <a:srgbClr val="C8F1EB"/>
          </a:solidFill>
          <a:ln/>
        </p:spPr>
        <p:txBody>
          <a:bodyPr/>
          <a:lstStyle/>
          <a:p>
            <a:endParaRPr lang="en-US"/>
          </a:p>
        </p:txBody>
      </p:sp>
      <p:sp>
        <p:nvSpPr>
          <p:cNvPr id="9" name="Text 7"/>
          <p:cNvSpPr txBox="1"/>
          <p:nvPr/>
        </p:nvSpPr>
        <p:spPr>
          <a:xfrm>
            <a:off x="731520" y="1691640"/>
            <a:ext cx="6583680" cy="411480"/>
          </a:xfrm>
          <a:prstGeom prst="rect">
            <a:avLst/>
          </a:prstGeom>
          <a:noFill/>
          <a:ln/>
        </p:spPr>
        <p:txBody>
          <a:bodyPr wrap="square" lIns="0" tIns="0" rIns="0" bIns="0" rtlCol="0" anchor="t"/>
          <a:lstStyle/>
          <a:p>
            <a:pPr marL="0" indent="0">
              <a:buNone/>
            </a:pPr>
            <a:r>
              <a:rPr lang="en-US" sz="1700" b="1" dirty="0">
                <a:solidFill>
                  <a:srgbClr val="007A73"/>
                </a:solidFill>
                <a:latin typeface="Century Gothic" pitchFamily="34" charset="0"/>
                <a:ea typeface="Century Gothic" pitchFamily="34" charset="-122"/>
                <a:cs typeface="Century Gothic" pitchFamily="34" charset="-120"/>
              </a:rPr>
              <a:t>CHUNK 1  </a:t>
            </a:r>
            <a:r>
              <a:rPr lang="en-US" sz="1700" b="1" dirty="0">
                <a:solidFill>
                  <a:srgbClr val="1E2A32"/>
                </a:solidFill>
                <a:latin typeface="Century Gothic" pitchFamily="34" charset="0"/>
                <a:ea typeface="Century Gothic" pitchFamily="34" charset="-122"/>
                <a:cs typeface="Century Gothic" pitchFamily="34" charset="-120"/>
              </a:rPr>
              <a:t>NEWS + HOPE</a:t>
            </a:r>
            <a:r>
              <a:rPr lang="en-US" sz="1700" b="1" dirty="0">
                <a:solidFill>
                  <a:srgbClr val="007A73"/>
                </a:solidFill>
                <a:latin typeface="Century Gothic" pitchFamily="34" charset="0"/>
                <a:ea typeface="Century Gothic" pitchFamily="34" charset="-122"/>
                <a:cs typeface="Century Gothic" pitchFamily="34" charset="-120"/>
              </a:rPr>
              <a:t>   pp. 766–772</a:t>
            </a:r>
            <a:endParaRPr lang="en-US" sz="1700" dirty="0"/>
          </a:p>
        </p:txBody>
      </p:sp>
      <p:sp>
        <p:nvSpPr>
          <p:cNvPr id="10" name="Text 8"/>
          <p:cNvSpPr txBox="1"/>
          <p:nvPr/>
        </p:nvSpPr>
        <p:spPr>
          <a:xfrm>
            <a:off x="731520" y="2148840"/>
            <a:ext cx="6583680" cy="777240"/>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Row 2 · p. 772 · Anne’s voice-over after the invasion news</a:t>
            </a:r>
            <a:endParaRPr lang="en-US" sz="1400" dirty="0"/>
          </a:p>
        </p:txBody>
      </p:sp>
      <p:sp>
        <p:nvSpPr>
          <p:cNvPr id="11" name="Shape 9"/>
          <p:cNvSpPr/>
          <p:nvPr/>
        </p:nvSpPr>
        <p:spPr>
          <a:xfrm>
            <a:off x="457200" y="3200400"/>
            <a:ext cx="7040880" cy="1417320"/>
          </a:xfrm>
          <a:prstGeom prst="roundRect">
            <a:avLst>
              <a:gd name="adj" fmla="val 11613"/>
            </a:avLst>
          </a:prstGeom>
          <a:solidFill>
            <a:srgbClr val="FFE1D6"/>
          </a:solidFill>
          <a:ln/>
        </p:spPr>
        <p:txBody>
          <a:bodyPr/>
          <a:lstStyle/>
          <a:p>
            <a:endParaRPr lang="en-US"/>
          </a:p>
        </p:txBody>
      </p:sp>
      <p:sp>
        <p:nvSpPr>
          <p:cNvPr id="12" name="Text 10"/>
          <p:cNvSpPr txBox="1"/>
          <p:nvPr/>
        </p:nvSpPr>
        <p:spPr>
          <a:xfrm>
            <a:off x="731520" y="3291840"/>
            <a:ext cx="6583680" cy="411480"/>
          </a:xfrm>
          <a:prstGeom prst="rect">
            <a:avLst/>
          </a:prstGeom>
          <a:noFill/>
          <a:ln/>
        </p:spPr>
        <p:txBody>
          <a:bodyPr wrap="square" lIns="0" tIns="0" rIns="0" bIns="0" rtlCol="0" anchor="t"/>
          <a:lstStyle/>
          <a:p>
            <a:pPr marL="0" indent="0">
              <a:buNone/>
            </a:pPr>
            <a:r>
              <a:rPr lang="en-US" sz="1700" b="1" dirty="0">
                <a:solidFill>
                  <a:srgbClr val="DF442A"/>
                </a:solidFill>
                <a:latin typeface="Century Gothic" pitchFamily="34" charset="0"/>
                <a:ea typeface="Century Gothic" pitchFamily="34" charset="-122"/>
                <a:cs typeface="Century Gothic" pitchFamily="34" charset="-120"/>
              </a:rPr>
              <a:t>CHUNK 2  </a:t>
            </a:r>
            <a:r>
              <a:rPr lang="en-US" sz="1700" b="1" dirty="0">
                <a:solidFill>
                  <a:srgbClr val="1E2A32"/>
                </a:solidFill>
                <a:latin typeface="Century Gothic" pitchFamily="34" charset="0"/>
                <a:ea typeface="Century Gothic" pitchFamily="34" charset="-122"/>
                <a:cs typeface="Century Gothic" pitchFamily="34" charset="-120"/>
              </a:rPr>
              <a:t>FEAR + THE FINAL MORNING</a:t>
            </a:r>
            <a:r>
              <a:rPr lang="en-US" sz="1700" b="1" dirty="0">
                <a:solidFill>
                  <a:srgbClr val="DF442A"/>
                </a:solidFill>
                <a:latin typeface="Century Gothic" pitchFamily="34" charset="0"/>
                <a:ea typeface="Century Gothic" pitchFamily="34" charset="-122"/>
                <a:cs typeface="Century Gothic" pitchFamily="34" charset="-120"/>
              </a:rPr>
              <a:t>   pp. 772–777</a:t>
            </a:r>
            <a:endParaRPr lang="en-US" sz="1700" dirty="0"/>
          </a:p>
        </p:txBody>
      </p:sp>
      <p:sp>
        <p:nvSpPr>
          <p:cNvPr id="13" name="Text 11"/>
          <p:cNvSpPr txBox="1"/>
          <p:nvPr/>
        </p:nvSpPr>
        <p:spPr>
          <a:xfrm>
            <a:off x="731520" y="3749040"/>
            <a:ext cx="6583680" cy="777240"/>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Row 3 · pp. 774–775 · Anne comforts Peter</a:t>
            </a:r>
            <a:endParaRPr lang="en-US" sz="1400" dirty="0"/>
          </a:p>
          <a:p>
            <a:pPr marL="0" indent="0">
              <a:buNone/>
            </a:pPr>
            <a:r>
              <a:rPr lang="en-US" sz="1400" dirty="0">
                <a:solidFill>
                  <a:srgbClr val="1E2A32"/>
                </a:solidFill>
                <a:latin typeface="Century Gothic" pitchFamily="34" charset="0"/>
                <a:ea typeface="Century Gothic" pitchFamily="34" charset="-122"/>
                <a:cs typeface="Century Gothic" pitchFamily="34" charset="-120"/>
              </a:rPr>
              <a:t>Row 4 · p. 777 · Anne’s voice-over as the door breaks</a:t>
            </a:r>
            <a:endParaRPr lang="en-US" sz="1400" dirty="0"/>
          </a:p>
        </p:txBody>
      </p:sp>
      <p:sp>
        <p:nvSpPr>
          <p:cNvPr id="14" name="Shape 12"/>
          <p:cNvSpPr/>
          <p:nvPr/>
        </p:nvSpPr>
        <p:spPr>
          <a:xfrm>
            <a:off x="457200" y="4846320"/>
            <a:ext cx="7040880" cy="1371600"/>
          </a:xfrm>
          <a:prstGeom prst="roundRect">
            <a:avLst>
              <a:gd name="adj" fmla="val 12000"/>
            </a:avLst>
          </a:prstGeom>
          <a:solidFill>
            <a:srgbClr val="FFFFFF"/>
          </a:solidFill>
          <a:ln w="25400">
            <a:solidFill>
              <a:srgbClr val="8B6BE8"/>
            </a:solidFill>
            <a:prstDash val="solid"/>
          </a:ln>
        </p:spPr>
        <p:txBody>
          <a:bodyPr/>
          <a:lstStyle/>
          <a:p>
            <a:endParaRPr lang="en-US"/>
          </a:p>
        </p:txBody>
      </p:sp>
      <p:sp>
        <p:nvSpPr>
          <p:cNvPr id="15" name="Text 13"/>
          <p:cNvSpPr txBox="1"/>
          <p:nvPr/>
        </p:nvSpPr>
        <p:spPr>
          <a:xfrm>
            <a:off x="731520" y="4892040"/>
            <a:ext cx="6583680" cy="1280160"/>
          </a:xfrm>
          <a:prstGeom prst="rect">
            <a:avLst/>
          </a:prstGeom>
          <a:noFill/>
          <a:ln/>
        </p:spPr>
        <p:txBody>
          <a:bodyPr wrap="square" lIns="0" tIns="0" rIns="0" bIns="0" rtlCol="0" anchor="ctr"/>
          <a:lstStyle/>
          <a:p>
            <a:pPr marL="0" indent="0">
              <a:buNone/>
            </a:pPr>
            <a:r>
              <a:rPr lang="en-US" sz="1500" b="1" dirty="0">
                <a:solidFill>
                  <a:srgbClr val="1E2A32"/>
                </a:solidFill>
                <a:latin typeface="Century Gothic" pitchFamily="34" charset="0"/>
                <a:ea typeface="Century Gothic" pitchFamily="34" charset="-122"/>
                <a:cs typeface="Century Gothic" pitchFamily="34" charset="-120"/>
              </a:rPr>
              <a:t>Talk it out together. Both of you write.
</a:t>
            </a:r>
            <a:r>
              <a:rPr lang="en-US" sz="1500" dirty="0">
                <a:solidFill>
                  <a:srgbClr val="1E2A32"/>
                </a:solidFill>
                <a:latin typeface="Century Gothic" pitchFamily="34" charset="0"/>
                <a:ea typeface="Century Gothic" pitchFamily="34" charset="-122"/>
                <a:cs typeface="Century Gothic" pitchFamily="34" charset="-120"/>
              </a:rPr>
              <a:t>Every tone word needs the diction that proves it. Every mood word needs a reason. Column 4 is the relationship.</a:t>
            </a:r>
            <a:endParaRPr lang="en-US" sz="1500" dirty="0"/>
          </a:p>
        </p:txBody>
      </p:sp>
      <p:sp>
        <p:nvSpPr>
          <p:cNvPr id="16" name="Shape 14"/>
          <p:cNvSpPr/>
          <p:nvPr/>
        </p:nvSpPr>
        <p:spPr>
          <a:xfrm>
            <a:off x="7726680" y="1600200"/>
            <a:ext cx="4005072" cy="4617720"/>
          </a:xfrm>
          <a:prstGeom prst="roundRect">
            <a:avLst>
              <a:gd name="adj" fmla="val 4110"/>
            </a:avLst>
          </a:prstGeom>
          <a:solidFill>
            <a:srgbClr val="FFF1C9"/>
          </a:solidFill>
          <a:ln/>
        </p:spPr>
        <p:txBody>
          <a:bodyPr/>
          <a:lstStyle/>
          <a:p>
            <a:endParaRPr lang="en-US"/>
          </a:p>
        </p:txBody>
      </p:sp>
      <p:sp>
        <p:nvSpPr>
          <p:cNvPr id="17" name="Text 15"/>
          <p:cNvSpPr txBox="1"/>
          <p:nvPr/>
        </p:nvSpPr>
        <p:spPr>
          <a:xfrm>
            <a:off x="8001000" y="1737360"/>
            <a:ext cx="3657600" cy="320040"/>
          </a:xfrm>
          <a:prstGeom prst="rect">
            <a:avLst/>
          </a:prstGeom>
          <a:noFill/>
          <a:ln/>
        </p:spPr>
        <p:txBody>
          <a:bodyPr wrap="square" lIns="0" tIns="0" rIns="0" bIns="0" rtlCol="0" anchor="t"/>
          <a:lstStyle/>
          <a:p>
            <a:pPr marL="0" indent="0">
              <a:buNone/>
            </a:pPr>
            <a:r>
              <a:rPr lang="en-US" sz="1400" b="1" kern="0" spc="300" dirty="0">
                <a:solidFill>
                  <a:srgbClr val="B98100"/>
                </a:solidFill>
                <a:latin typeface="Century Gothic" pitchFamily="34" charset="0"/>
                <a:ea typeface="Century Gothic" pitchFamily="34" charset="-122"/>
                <a:cs typeface="Century Gothic" pitchFamily="34" charset="-120"/>
              </a:rPr>
              <a:t>BRIGGS CHECKS</a:t>
            </a:r>
            <a:endParaRPr lang="en-US" sz="1400" dirty="0"/>
          </a:p>
        </p:txBody>
      </p:sp>
      <p:sp>
        <p:nvSpPr>
          <p:cNvPr id="18" name="Text 16"/>
          <p:cNvSpPr txBox="1"/>
          <p:nvPr/>
        </p:nvSpPr>
        <p:spPr>
          <a:xfrm>
            <a:off x="8001000" y="2148840"/>
            <a:ext cx="3566160" cy="292608"/>
          </a:xfrm>
          <a:prstGeom prst="rect">
            <a:avLst/>
          </a:prstGeom>
          <a:noFill/>
          <a:ln/>
        </p:spPr>
        <p:txBody>
          <a:bodyPr wrap="square" lIns="0" tIns="0" rIns="0" bIns="0" rtlCol="0" anchor="t"/>
          <a:lstStyle/>
          <a:p>
            <a:pPr marL="0" indent="0">
              <a:buNone/>
            </a:pPr>
            <a:r>
              <a:rPr lang="en-US" sz="1250" b="1" dirty="0">
                <a:solidFill>
                  <a:srgbClr val="B98100"/>
                </a:solidFill>
                <a:latin typeface="Century Gothic" pitchFamily="34" charset="0"/>
                <a:ea typeface="Century Gothic" pitchFamily="34" charset="-122"/>
                <a:cs typeface="Century Gothic" pitchFamily="34" charset="-120"/>
              </a:rPr>
              <a:t>1 · TONE</a:t>
            </a:r>
            <a:endParaRPr lang="en-US" sz="1250" dirty="0"/>
          </a:p>
        </p:txBody>
      </p:sp>
      <p:sp>
        <p:nvSpPr>
          <p:cNvPr id="19" name="Text 17"/>
          <p:cNvSpPr txBox="1"/>
          <p:nvPr/>
        </p:nvSpPr>
        <p:spPr>
          <a:xfrm>
            <a:off x="8001000" y="2441448"/>
            <a:ext cx="3566160" cy="658368"/>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“Whose feeling is that?”</a:t>
            </a:r>
            <a:endParaRPr lang="en-US" sz="1400" dirty="0"/>
          </a:p>
        </p:txBody>
      </p:sp>
      <p:sp>
        <p:nvSpPr>
          <p:cNvPr id="20" name="Text 18"/>
          <p:cNvSpPr txBox="1"/>
          <p:nvPr/>
        </p:nvSpPr>
        <p:spPr>
          <a:xfrm>
            <a:off x="8001000" y="3154680"/>
            <a:ext cx="3566160" cy="292608"/>
          </a:xfrm>
          <a:prstGeom prst="rect">
            <a:avLst/>
          </a:prstGeom>
          <a:noFill/>
          <a:ln/>
        </p:spPr>
        <p:txBody>
          <a:bodyPr wrap="square" lIns="0" tIns="0" rIns="0" bIns="0" rtlCol="0" anchor="t"/>
          <a:lstStyle/>
          <a:p>
            <a:pPr marL="0" indent="0">
              <a:buNone/>
            </a:pPr>
            <a:r>
              <a:rPr lang="en-US" sz="1250" b="1" dirty="0">
                <a:solidFill>
                  <a:srgbClr val="B98100"/>
                </a:solidFill>
                <a:latin typeface="Century Gothic" pitchFamily="34" charset="0"/>
                <a:ea typeface="Century Gothic" pitchFamily="34" charset="-122"/>
                <a:cs typeface="Century Gothic" pitchFamily="34" charset="-120"/>
              </a:rPr>
              <a:t>2 · DICTION</a:t>
            </a:r>
            <a:endParaRPr lang="en-US" sz="1250" dirty="0"/>
          </a:p>
        </p:txBody>
      </p:sp>
      <p:sp>
        <p:nvSpPr>
          <p:cNvPr id="21" name="Text 19"/>
          <p:cNvSpPr txBox="1"/>
          <p:nvPr/>
        </p:nvSpPr>
        <p:spPr>
          <a:xfrm>
            <a:off x="8001000" y="3447288"/>
            <a:ext cx="3566160" cy="658368"/>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“What exact word or phrase made you choose that tone?”</a:t>
            </a:r>
            <a:endParaRPr lang="en-US" sz="1400" dirty="0"/>
          </a:p>
        </p:txBody>
      </p:sp>
      <p:sp>
        <p:nvSpPr>
          <p:cNvPr id="22" name="Text 20"/>
          <p:cNvSpPr txBox="1"/>
          <p:nvPr/>
        </p:nvSpPr>
        <p:spPr>
          <a:xfrm>
            <a:off x="8001000" y="4160520"/>
            <a:ext cx="3566160" cy="292608"/>
          </a:xfrm>
          <a:prstGeom prst="rect">
            <a:avLst/>
          </a:prstGeom>
          <a:noFill/>
          <a:ln/>
        </p:spPr>
        <p:txBody>
          <a:bodyPr wrap="square" lIns="0" tIns="0" rIns="0" bIns="0" rtlCol="0" anchor="t"/>
          <a:lstStyle/>
          <a:p>
            <a:pPr marL="0" indent="0">
              <a:buNone/>
            </a:pPr>
            <a:r>
              <a:rPr lang="en-US" sz="1250" b="1" dirty="0">
                <a:solidFill>
                  <a:srgbClr val="B98100"/>
                </a:solidFill>
                <a:latin typeface="Century Gothic" pitchFamily="34" charset="0"/>
                <a:ea typeface="Century Gothic" pitchFamily="34" charset="-122"/>
                <a:cs typeface="Century Gothic" pitchFamily="34" charset="-120"/>
              </a:rPr>
              <a:t>3 · MOOD</a:t>
            </a:r>
            <a:endParaRPr lang="en-US" sz="1250" dirty="0"/>
          </a:p>
        </p:txBody>
      </p:sp>
      <p:sp>
        <p:nvSpPr>
          <p:cNvPr id="23" name="Text 21"/>
          <p:cNvSpPr txBox="1"/>
          <p:nvPr/>
        </p:nvSpPr>
        <p:spPr>
          <a:xfrm>
            <a:off x="8001000" y="4453128"/>
            <a:ext cx="3566160" cy="658368"/>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“What does the audience know or experience here?”</a:t>
            </a:r>
            <a:endParaRPr lang="en-US" sz="1400" dirty="0"/>
          </a:p>
        </p:txBody>
      </p:sp>
      <p:sp>
        <p:nvSpPr>
          <p:cNvPr id="24" name="Text 22"/>
          <p:cNvSpPr txBox="1"/>
          <p:nvPr/>
        </p:nvSpPr>
        <p:spPr>
          <a:xfrm>
            <a:off x="8001000" y="5166360"/>
            <a:ext cx="3566160" cy="292608"/>
          </a:xfrm>
          <a:prstGeom prst="rect">
            <a:avLst/>
          </a:prstGeom>
          <a:noFill/>
          <a:ln/>
        </p:spPr>
        <p:txBody>
          <a:bodyPr wrap="square" lIns="0" tIns="0" rIns="0" bIns="0" rtlCol="0" anchor="t"/>
          <a:lstStyle/>
          <a:p>
            <a:pPr marL="0" indent="0">
              <a:buNone/>
            </a:pPr>
            <a:r>
              <a:rPr lang="en-US" sz="1250" b="1" dirty="0">
                <a:solidFill>
                  <a:srgbClr val="B98100"/>
                </a:solidFill>
                <a:latin typeface="Century Gothic" pitchFamily="34" charset="0"/>
                <a:ea typeface="Century Gothic" pitchFamily="34" charset="-122"/>
                <a:cs typeface="Century Gothic" pitchFamily="34" charset="-120"/>
              </a:rPr>
              <a:t>4 · CONTRAST</a:t>
            </a:r>
            <a:endParaRPr lang="en-US" sz="1250" dirty="0"/>
          </a:p>
        </p:txBody>
      </p:sp>
      <p:sp>
        <p:nvSpPr>
          <p:cNvPr id="25" name="Text 23"/>
          <p:cNvSpPr txBox="1"/>
          <p:nvPr/>
        </p:nvSpPr>
        <p:spPr>
          <a:xfrm>
            <a:off x="8001000" y="5458968"/>
            <a:ext cx="3566160" cy="658368"/>
          </a:xfrm>
          <a:prstGeom prst="rect">
            <a:avLst/>
          </a:prstGeom>
          <a:noFill/>
          <a:ln/>
        </p:spPr>
        <p:txBody>
          <a:bodyPr wrap="square" lIns="0" tIns="0" rIns="0" bIns="0" rtlCol="0" anchor="t"/>
          <a:lstStyle/>
          <a:p>
            <a:pPr marL="0" indent="0">
              <a:buNone/>
            </a:pPr>
            <a:r>
              <a:rPr lang="en-US" sz="1400" dirty="0">
                <a:solidFill>
                  <a:srgbClr val="1E2A32"/>
                </a:solidFill>
                <a:latin typeface="Century Gothic" pitchFamily="34" charset="0"/>
                <a:ea typeface="Century Gothic" pitchFamily="34" charset="-122"/>
                <a:cs typeface="Century Gothic" pitchFamily="34" charset="-120"/>
              </a:rPr>
              <a:t>“Why does that make the gap stronger?”</a:t>
            </a:r>
            <a:endParaRPr lang="en-US" sz="1400" dirty="0"/>
          </a:p>
        </p:txBody>
      </p:sp>
      <p:sp>
        <p:nvSpPr>
          <p:cNvPr id="26"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B98100"/>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Strongest Contrast · Theme Parking Lot</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Compare maps. Agree on ONE scene. Star it.</a:t>
            </a:r>
            <a:endParaRPr lang="en-US" sz="1400" dirty="0"/>
          </a:p>
        </p:txBody>
      </p:sp>
      <p:sp>
        <p:nvSpPr>
          <p:cNvPr id="6" name="Shape 4"/>
          <p:cNvSpPr/>
          <p:nvPr/>
        </p:nvSpPr>
        <p:spPr>
          <a:xfrm>
            <a:off x="8668512" y="566928"/>
            <a:ext cx="3063240" cy="347472"/>
          </a:xfrm>
          <a:prstGeom prst="roundRect">
            <a:avLst>
              <a:gd name="adj" fmla="val 50000"/>
            </a:avLst>
          </a:prstGeom>
          <a:solidFill>
            <a:srgbClr val="B98100"/>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2 · ★ BOX</a:t>
            </a:r>
            <a:endParaRPr lang="en-US" sz="1100" dirty="0"/>
          </a:p>
        </p:txBody>
      </p:sp>
      <p:sp>
        <p:nvSpPr>
          <p:cNvPr id="8" name="Shape 6"/>
          <p:cNvSpPr/>
          <p:nvPr/>
        </p:nvSpPr>
        <p:spPr>
          <a:xfrm>
            <a:off x="457200" y="1600200"/>
            <a:ext cx="6035040" cy="1828800"/>
          </a:xfrm>
          <a:prstGeom prst="roundRect">
            <a:avLst>
              <a:gd name="adj" fmla="val 9000"/>
            </a:avLst>
          </a:prstGeom>
          <a:solidFill>
            <a:srgbClr val="FFF1C9"/>
          </a:solidFill>
          <a:ln/>
        </p:spPr>
        <p:txBody>
          <a:bodyPr/>
          <a:lstStyle/>
          <a:p>
            <a:endParaRPr lang="en-US"/>
          </a:p>
        </p:txBody>
      </p:sp>
      <p:sp>
        <p:nvSpPr>
          <p:cNvPr id="9" name="Text 7"/>
          <p:cNvSpPr txBox="1"/>
          <p:nvPr/>
        </p:nvSpPr>
        <p:spPr>
          <a:xfrm>
            <a:off x="777240" y="1600200"/>
            <a:ext cx="5486400" cy="1828800"/>
          </a:xfrm>
          <a:prstGeom prst="rect">
            <a:avLst/>
          </a:prstGeom>
          <a:noFill/>
          <a:ln/>
        </p:spPr>
        <p:txBody>
          <a:bodyPr wrap="square" lIns="0" tIns="0" rIns="0" bIns="0" rtlCol="0" anchor="ctr"/>
          <a:lstStyle/>
          <a:p>
            <a:pPr marL="0" indent="0">
              <a:buNone/>
            </a:pPr>
            <a:r>
              <a:rPr lang="en-US" sz="2400" b="1" dirty="0">
                <a:solidFill>
                  <a:srgbClr val="1E2A32"/>
                </a:solidFill>
                <a:latin typeface="Century Gothic" pitchFamily="34" charset="0"/>
                <a:ea typeface="Century Gothic" pitchFamily="34" charset="-122"/>
                <a:cs typeface="Century Gothic" pitchFamily="34" charset="-120"/>
              </a:rPr>
              <a:t>“The contrast is strongest here because ______.”</a:t>
            </a:r>
            <a:endParaRPr lang="en-US" sz="2400" dirty="0"/>
          </a:p>
        </p:txBody>
      </p:sp>
      <p:sp>
        <p:nvSpPr>
          <p:cNvPr id="10" name="Shape 8"/>
          <p:cNvSpPr/>
          <p:nvPr/>
        </p:nvSpPr>
        <p:spPr>
          <a:xfrm>
            <a:off x="457200" y="3657600"/>
            <a:ext cx="6035040" cy="2560320"/>
          </a:xfrm>
          <a:prstGeom prst="roundRect">
            <a:avLst>
              <a:gd name="adj" fmla="val 6429"/>
            </a:avLst>
          </a:prstGeom>
          <a:solidFill>
            <a:srgbClr val="FFFFFF"/>
          </a:solidFill>
          <a:ln w="25400">
            <a:solidFill>
              <a:srgbClr val="FF6B4E"/>
            </a:solidFill>
            <a:prstDash val="solid"/>
          </a:ln>
        </p:spPr>
        <p:txBody>
          <a:bodyPr/>
          <a:lstStyle/>
          <a:p>
            <a:endParaRPr lang="en-US"/>
          </a:p>
        </p:txBody>
      </p:sp>
      <p:sp>
        <p:nvSpPr>
          <p:cNvPr id="11" name="Text 9"/>
          <p:cNvSpPr txBox="1"/>
          <p:nvPr/>
        </p:nvSpPr>
        <p:spPr>
          <a:xfrm>
            <a:off x="777240" y="3749040"/>
            <a:ext cx="5486400" cy="2377440"/>
          </a:xfrm>
          <a:prstGeom prst="rect">
            <a:avLst/>
          </a:prstGeom>
          <a:noFill/>
          <a:ln/>
        </p:spPr>
        <p:txBody>
          <a:bodyPr wrap="square" lIns="0" tIns="0" rIns="0" bIns="0" rtlCol="0" anchor="ctr"/>
          <a:lstStyle/>
          <a:p>
            <a:pPr marL="0" indent="0">
              <a:buNone/>
            </a:pPr>
            <a:r>
              <a:rPr lang="en-US" sz="2100" b="1" dirty="0">
                <a:solidFill>
                  <a:srgbClr val="1E2A32"/>
                </a:solidFill>
                <a:latin typeface="Century Gothic" pitchFamily="34" charset="0"/>
                <a:ea typeface="Century Gothic" pitchFamily="34" charset="-122"/>
                <a:cs typeface="Century Gothic" pitchFamily="34" charset="-120"/>
              </a:rPr>
              <a:t>What is this contrast doing to us as an audience?
What might the playwrights want it to build?</a:t>
            </a:r>
            <a:endParaRPr lang="en-US" sz="2100" dirty="0"/>
          </a:p>
        </p:txBody>
      </p:sp>
      <p:sp>
        <p:nvSpPr>
          <p:cNvPr id="12" name="Shape 10"/>
          <p:cNvSpPr/>
          <p:nvPr/>
        </p:nvSpPr>
        <p:spPr>
          <a:xfrm>
            <a:off x="6766560" y="1600200"/>
            <a:ext cx="4965192" cy="4617720"/>
          </a:xfrm>
          <a:prstGeom prst="roundRect">
            <a:avLst>
              <a:gd name="adj" fmla="val 3564"/>
            </a:avLst>
          </a:prstGeom>
          <a:solidFill>
            <a:srgbClr val="1E2A32"/>
          </a:solidFill>
          <a:ln/>
        </p:spPr>
        <p:txBody>
          <a:bodyPr/>
          <a:lstStyle/>
          <a:p>
            <a:endParaRPr lang="en-US"/>
          </a:p>
        </p:txBody>
      </p:sp>
      <p:sp>
        <p:nvSpPr>
          <p:cNvPr id="13" name="Text 11"/>
          <p:cNvSpPr txBox="1"/>
          <p:nvPr/>
        </p:nvSpPr>
        <p:spPr>
          <a:xfrm>
            <a:off x="7040880" y="1783080"/>
            <a:ext cx="4389120" cy="731520"/>
          </a:xfrm>
          <a:prstGeom prst="rect">
            <a:avLst/>
          </a:prstGeom>
          <a:noFill/>
          <a:ln/>
        </p:spPr>
        <p:txBody>
          <a:bodyPr wrap="square" lIns="0" tIns="0" rIns="0" bIns="0" rtlCol="0" anchor="t"/>
          <a:lstStyle/>
          <a:p>
            <a:pPr marL="0" indent="0">
              <a:buNone/>
            </a:pPr>
            <a:r>
              <a:rPr lang="en-US" sz="3800" b="1" kern="0" spc="600" dirty="0">
                <a:solidFill>
                  <a:srgbClr val="FFC63C"/>
                </a:solidFill>
                <a:latin typeface="Century Gothic" pitchFamily="34" charset="0"/>
                <a:ea typeface="Century Gothic" pitchFamily="34" charset="-122"/>
                <a:cs typeface="Century Gothic" pitchFamily="34" charset="-120"/>
              </a:rPr>
              <a:t>THEME</a:t>
            </a:r>
            <a:endParaRPr lang="en-US" sz="3800" dirty="0"/>
          </a:p>
        </p:txBody>
      </p:sp>
      <p:sp>
        <p:nvSpPr>
          <p:cNvPr id="14" name="Text 12"/>
          <p:cNvSpPr txBox="1"/>
          <p:nvPr/>
        </p:nvSpPr>
        <p:spPr>
          <a:xfrm>
            <a:off x="7040880" y="2560320"/>
            <a:ext cx="4389120" cy="822960"/>
          </a:xfrm>
          <a:prstGeom prst="rect">
            <a:avLst/>
          </a:prstGeom>
          <a:noFill/>
          <a:ln/>
        </p:spPr>
        <p:txBody>
          <a:bodyPr wrap="square" lIns="0" tIns="0" rIns="0" bIns="0" rtlCol="0" anchor="t"/>
          <a:lstStyle/>
          <a:p>
            <a:pPr marL="0" indent="0">
              <a:buNone/>
            </a:pPr>
            <a:r>
              <a:rPr lang="en-US" sz="1600" dirty="0">
                <a:solidFill>
                  <a:srgbClr val="C9D4DA"/>
                </a:solidFill>
                <a:latin typeface="Century Gothic" pitchFamily="34" charset="0"/>
                <a:ea typeface="Century Gothic" pitchFamily="34" charset="-122"/>
                <a:cs typeface="Century Gothic" pitchFamily="34" charset="-120"/>
              </a:rPr>
              <a:t>ideas parked here today</a:t>
            </a:r>
            <a:endParaRPr lang="en-US" sz="1600" dirty="0"/>
          </a:p>
          <a:p>
            <a:pPr marL="0" indent="0">
              <a:buNone/>
            </a:pPr>
            <a:r>
              <a:rPr lang="en-US" sz="1600" dirty="0">
                <a:solidFill>
                  <a:srgbClr val="C9D4DA"/>
                </a:solidFill>
                <a:latin typeface="Century Gothic" pitchFamily="34" charset="0"/>
                <a:ea typeface="Century Gothic" pitchFamily="34" charset="-122"/>
                <a:cs typeface="Century Gothic" pitchFamily="34" charset="-120"/>
              </a:rPr>
              <a:t>proved tomorrow</a:t>
            </a:r>
            <a:endParaRPr lang="en-US" sz="1600" dirty="0"/>
          </a:p>
        </p:txBody>
      </p:sp>
      <p:sp>
        <p:nvSpPr>
          <p:cNvPr id="15" name="Text 13"/>
          <p:cNvSpPr txBox="1"/>
          <p:nvPr/>
        </p:nvSpPr>
        <p:spPr>
          <a:xfrm>
            <a:off x="7040880" y="3840480"/>
            <a:ext cx="4389120" cy="2194560"/>
          </a:xfrm>
          <a:prstGeom prst="rect">
            <a:avLst/>
          </a:prstGeom>
          <a:noFill/>
          <a:ln/>
        </p:spPr>
        <p:txBody>
          <a:bodyPr wrap="square" lIns="0" tIns="0" rIns="0" bIns="0" rtlCol="0" anchor="b"/>
          <a:lstStyle/>
          <a:p>
            <a:pPr marL="0" indent="0">
              <a:buNone/>
            </a:pPr>
            <a:r>
              <a:rPr lang="en-US" sz="1800" b="1" dirty="0">
                <a:solidFill>
                  <a:srgbClr val="FFFFFF"/>
                </a:solidFill>
                <a:latin typeface="Century Gothic" pitchFamily="34" charset="0"/>
                <a:ea typeface="Century Gothic" pitchFamily="34" charset="-122"/>
                <a:cs typeface="Century Gothic" pitchFamily="34" charset="-120"/>
              </a:rPr>
              <a:t>Don’t solve theme yet. We’re collecting the evidence first.</a:t>
            </a:r>
            <a:endParaRPr lang="en-US" sz="1800" dirty="0"/>
          </a:p>
          <a:p>
            <a:pPr marL="0" indent="0">
              <a:buNone/>
            </a:pPr>
            <a:endParaRPr lang="en-US" sz="1800" dirty="0"/>
          </a:p>
          <a:p>
            <a:pPr marL="0" indent="0">
              <a:buNone/>
            </a:pPr>
            <a:r>
              <a:rPr lang="en-US" sz="1800" b="1" dirty="0">
                <a:solidFill>
                  <a:srgbClr val="FFFFFF"/>
                </a:solidFill>
                <a:latin typeface="Century Gothic" pitchFamily="34" charset="0"/>
                <a:ea typeface="Century Gothic" pitchFamily="34" charset="-122"/>
                <a:cs typeface="Century Gothic" pitchFamily="34" charset="-120"/>
              </a:rPr>
              <a:t>KEEP PAGE 2. YOU NEED IT TOMORROW.</a:t>
            </a:r>
            <a:endParaRPr lang="en-US" sz="1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007A73"/>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007A73"/>
                </a:solidFill>
                <a:latin typeface="Century Gothic" pitchFamily="34" charset="0"/>
                <a:ea typeface="Century Gothic" pitchFamily="34" charset="-122"/>
                <a:cs typeface="Century Gothic" pitchFamily="34" charset="-120"/>
              </a:rPr>
              <a:t>04</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Transitions Show How Ideas Connect</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Choose it because it tells the reader how the two ideas are connected, not because it sounds academic.</a:t>
            </a:r>
            <a:endParaRPr lang="en-US" sz="1400" dirty="0"/>
          </a:p>
        </p:txBody>
      </p:sp>
      <p:sp>
        <p:nvSpPr>
          <p:cNvPr id="6" name="Shape 4"/>
          <p:cNvSpPr/>
          <p:nvPr/>
        </p:nvSpPr>
        <p:spPr>
          <a:xfrm>
            <a:off x="8668512" y="566928"/>
            <a:ext cx="3063240" cy="347472"/>
          </a:xfrm>
          <a:prstGeom prst="roundRect">
            <a:avLst>
              <a:gd name="adj" fmla="val 50000"/>
            </a:avLst>
          </a:prstGeom>
          <a:solidFill>
            <a:srgbClr val="00A39B"/>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3 · BOX 04</a:t>
            </a:r>
            <a:endParaRPr lang="en-US" sz="1100" dirty="0"/>
          </a:p>
        </p:txBody>
      </p:sp>
      <p:sp>
        <p:nvSpPr>
          <p:cNvPr id="8" name="Shape 6"/>
          <p:cNvSpPr/>
          <p:nvPr/>
        </p:nvSpPr>
        <p:spPr>
          <a:xfrm>
            <a:off x="457200" y="1645920"/>
            <a:ext cx="11274552" cy="1417320"/>
          </a:xfrm>
          <a:prstGeom prst="roundRect">
            <a:avLst>
              <a:gd name="adj" fmla="val 11613"/>
            </a:avLst>
          </a:prstGeom>
          <a:solidFill>
            <a:srgbClr val="FFFFFF"/>
          </a:solidFill>
          <a:ln w="19050">
            <a:solidFill>
              <a:srgbClr val="C9D1D6"/>
            </a:solidFill>
            <a:prstDash val="solid"/>
          </a:ln>
        </p:spPr>
        <p:txBody>
          <a:bodyPr/>
          <a:lstStyle/>
          <a:p>
            <a:endParaRPr lang="en-US"/>
          </a:p>
        </p:txBody>
      </p:sp>
      <p:sp>
        <p:nvSpPr>
          <p:cNvPr id="9" name="Text 7"/>
          <p:cNvSpPr txBox="1"/>
          <p:nvPr/>
        </p:nvSpPr>
        <p:spPr>
          <a:xfrm>
            <a:off x="777240" y="1691640"/>
            <a:ext cx="10698480" cy="1325880"/>
          </a:xfrm>
          <a:prstGeom prst="rect">
            <a:avLst/>
          </a:prstGeom>
          <a:noFill/>
          <a:ln/>
        </p:spPr>
        <p:txBody>
          <a:bodyPr wrap="square" lIns="0" tIns="0" rIns="0" bIns="0" rtlCol="0" anchor="ctr"/>
          <a:lstStyle/>
          <a:p>
            <a:pPr marL="0" indent="0">
              <a:buNone/>
            </a:pPr>
            <a:r>
              <a:rPr lang="en-US" sz="1600" i="1" dirty="0">
                <a:solidFill>
                  <a:srgbClr val="5A6B75"/>
                </a:solidFill>
                <a:latin typeface="Century Gothic" pitchFamily="34" charset="0"/>
                <a:ea typeface="Century Gothic" pitchFamily="34" charset="-122"/>
                <a:cs typeface="Century Gothic" pitchFamily="34" charset="-120"/>
              </a:rPr>
              <a:t>The families hear that the invasion has finally begun. They quietly celebrate in the annex. A thief has heard sounds above the warehouse. Their hiding place may no longer be a secret. Anne keeps writing in her diary. The final morning arrives.</a:t>
            </a:r>
            <a:endParaRPr lang="en-US" sz="1600" dirty="0"/>
          </a:p>
        </p:txBody>
      </p:sp>
      <p:sp>
        <p:nvSpPr>
          <p:cNvPr id="10" name="Shape 8"/>
          <p:cNvSpPr/>
          <p:nvPr/>
        </p:nvSpPr>
        <p:spPr>
          <a:xfrm>
            <a:off x="457200" y="3291840"/>
            <a:ext cx="2679192" cy="1463040"/>
          </a:xfrm>
          <a:prstGeom prst="roundRect">
            <a:avLst>
              <a:gd name="adj" fmla="val 11250"/>
            </a:avLst>
          </a:prstGeom>
          <a:solidFill>
            <a:srgbClr val="C8F1EB"/>
          </a:solidFill>
          <a:ln/>
        </p:spPr>
        <p:txBody>
          <a:bodyPr/>
          <a:lstStyle/>
          <a:p>
            <a:endParaRPr lang="en-US"/>
          </a:p>
        </p:txBody>
      </p:sp>
      <p:sp>
        <p:nvSpPr>
          <p:cNvPr id="11" name="Text 9"/>
          <p:cNvSpPr txBox="1"/>
          <p:nvPr/>
        </p:nvSpPr>
        <p:spPr>
          <a:xfrm>
            <a:off x="685800" y="3429000"/>
            <a:ext cx="2286000" cy="365760"/>
          </a:xfrm>
          <a:prstGeom prst="rect">
            <a:avLst/>
          </a:prstGeom>
          <a:noFill/>
          <a:ln/>
        </p:spPr>
        <p:txBody>
          <a:bodyPr wrap="square" lIns="0" tIns="0" rIns="0" bIns="0" rtlCol="0" anchor="t"/>
          <a:lstStyle/>
          <a:p>
            <a:pPr marL="0" indent="0">
              <a:buNone/>
            </a:pPr>
            <a:r>
              <a:rPr lang="en-US" sz="1500" b="1" kern="0" spc="200" dirty="0">
                <a:solidFill>
                  <a:srgbClr val="007A73"/>
                </a:solidFill>
                <a:latin typeface="Century Gothic" pitchFamily="34" charset="0"/>
                <a:ea typeface="Century Gothic" pitchFamily="34" charset="-122"/>
                <a:cs typeface="Century Gothic" pitchFamily="34" charset="-120"/>
              </a:rPr>
              <a:t>CONTRAST</a:t>
            </a:r>
            <a:endParaRPr lang="en-US" sz="1500" dirty="0"/>
          </a:p>
        </p:txBody>
      </p:sp>
      <p:sp>
        <p:nvSpPr>
          <p:cNvPr id="12" name="Text 10"/>
          <p:cNvSpPr txBox="1"/>
          <p:nvPr/>
        </p:nvSpPr>
        <p:spPr>
          <a:xfrm>
            <a:off x="685800" y="3840480"/>
            <a:ext cx="2286000" cy="777240"/>
          </a:xfrm>
          <a:prstGeom prst="rect">
            <a:avLst/>
          </a:prstGeom>
          <a:noFill/>
          <a:ln/>
        </p:spPr>
        <p:txBody>
          <a:bodyPr wrap="square" lIns="0" tIns="0" rIns="0" bIns="0" rtlCol="0" anchor="t"/>
          <a:lstStyle/>
          <a:p>
            <a:pPr marL="0" indent="0">
              <a:buNone/>
            </a:pPr>
            <a:r>
              <a:rPr lang="en-US" sz="1600" dirty="0">
                <a:solidFill>
                  <a:srgbClr val="1E2A32"/>
                </a:solidFill>
                <a:latin typeface="Century Gothic" pitchFamily="34" charset="0"/>
                <a:ea typeface="Century Gothic" pitchFamily="34" charset="-122"/>
                <a:cs typeface="Century Gothic" pitchFamily="34" charset="-120"/>
              </a:rPr>
              <a:t>however · in contrast · yet</a:t>
            </a:r>
            <a:endParaRPr lang="en-US" sz="1600" dirty="0"/>
          </a:p>
        </p:txBody>
      </p:sp>
      <p:sp>
        <p:nvSpPr>
          <p:cNvPr id="13" name="Shape 11"/>
          <p:cNvSpPr/>
          <p:nvPr/>
        </p:nvSpPr>
        <p:spPr>
          <a:xfrm>
            <a:off x="3319272" y="3291840"/>
            <a:ext cx="2679192" cy="1463040"/>
          </a:xfrm>
          <a:prstGeom prst="roundRect">
            <a:avLst>
              <a:gd name="adj" fmla="val 11250"/>
            </a:avLst>
          </a:prstGeom>
          <a:solidFill>
            <a:srgbClr val="C8F1EB"/>
          </a:solidFill>
          <a:ln/>
        </p:spPr>
        <p:txBody>
          <a:bodyPr/>
          <a:lstStyle/>
          <a:p>
            <a:endParaRPr lang="en-US"/>
          </a:p>
        </p:txBody>
      </p:sp>
      <p:sp>
        <p:nvSpPr>
          <p:cNvPr id="14" name="Text 12"/>
          <p:cNvSpPr txBox="1"/>
          <p:nvPr/>
        </p:nvSpPr>
        <p:spPr>
          <a:xfrm>
            <a:off x="3547872" y="3429000"/>
            <a:ext cx="2286000" cy="365760"/>
          </a:xfrm>
          <a:prstGeom prst="rect">
            <a:avLst/>
          </a:prstGeom>
          <a:noFill/>
          <a:ln/>
        </p:spPr>
        <p:txBody>
          <a:bodyPr wrap="square" lIns="0" tIns="0" rIns="0" bIns="0" rtlCol="0" anchor="t"/>
          <a:lstStyle/>
          <a:p>
            <a:pPr marL="0" indent="0">
              <a:buNone/>
            </a:pPr>
            <a:r>
              <a:rPr lang="en-US" sz="1500" b="1" kern="0" spc="200" dirty="0">
                <a:solidFill>
                  <a:srgbClr val="007A73"/>
                </a:solidFill>
                <a:latin typeface="Century Gothic" pitchFamily="34" charset="0"/>
                <a:ea typeface="Century Gothic" pitchFamily="34" charset="-122"/>
                <a:cs typeface="Century Gothic" pitchFamily="34" charset="-120"/>
              </a:rPr>
              <a:t>CAUSE + EFFECT</a:t>
            </a:r>
            <a:endParaRPr lang="en-US" sz="1500" dirty="0"/>
          </a:p>
        </p:txBody>
      </p:sp>
      <p:sp>
        <p:nvSpPr>
          <p:cNvPr id="15" name="Text 13"/>
          <p:cNvSpPr txBox="1"/>
          <p:nvPr/>
        </p:nvSpPr>
        <p:spPr>
          <a:xfrm>
            <a:off x="3547872" y="3840480"/>
            <a:ext cx="2286000" cy="777240"/>
          </a:xfrm>
          <a:prstGeom prst="rect">
            <a:avLst/>
          </a:prstGeom>
          <a:noFill/>
          <a:ln/>
        </p:spPr>
        <p:txBody>
          <a:bodyPr wrap="square" lIns="0" tIns="0" rIns="0" bIns="0" rtlCol="0" anchor="t"/>
          <a:lstStyle/>
          <a:p>
            <a:pPr marL="0" indent="0">
              <a:buNone/>
            </a:pPr>
            <a:r>
              <a:rPr lang="en-US" sz="1600" dirty="0">
                <a:solidFill>
                  <a:srgbClr val="1E2A32"/>
                </a:solidFill>
                <a:latin typeface="Century Gothic" pitchFamily="34" charset="0"/>
                <a:ea typeface="Century Gothic" pitchFamily="34" charset="-122"/>
                <a:cs typeface="Century Gothic" pitchFamily="34" charset="-120"/>
              </a:rPr>
              <a:t>because of this · as a result</a:t>
            </a:r>
            <a:endParaRPr lang="en-US" sz="1600" dirty="0"/>
          </a:p>
        </p:txBody>
      </p:sp>
      <p:sp>
        <p:nvSpPr>
          <p:cNvPr id="16" name="Shape 14"/>
          <p:cNvSpPr/>
          <p:nvPr/>
        </p:nvSpPr>
        <p:spPr>
          <a:xfrm>
            <a:off x="6181344" y="3291840"/>
            <a:ext cx="2679192" cy="1463040"/>
          </a:xfrm>
          <a:prstGeom prst="roundRect">
            <a:avLst>
              <a:gd name="adj" fmla="val 11250"/>
            </a:avLst>
          </a:prstGeom>
          <a:solidFill>
            <a:srgbClr val="C8F1EB"/>
          </a:solidFill>
          <a:ln/>
        </p:spPr>
        <p:txBody>
          <a:bodyPr/>
          <a:lstStyle/>
          <a:p>
            <a:endParaRPr lang="en-US"/>
          </a:p>
        </p:txBody>
      </p:sp>
      <p:sp>
        <p:nvSpPr>
          <p:cNvPr id="17" name="Text 15"/>
          <p:cNvSpPr txBox="1"/>
          <p:nvPr/>
        </p:nvSpPr>
        <p:spPr>
          <a:xfrm>
            <a:off x="6409944" y="3429000"/>
            <a:ext cx="2286000" cy="365760"/>
          </a:xfrm>
          <a:prstGeom prst="rect">
            <a:avLst/>
          </a:prstGeom>
          <a:noFill/>
          <a:ln/>
        </p:spPr>
        <p:txBody>
          <a:bodyPr wrap="square" lIns="0" tIns="0" rIns="0" bIns="0" rtlCol="0" anchor="t"/>
          <a:lstStyle/>
          <a:p>
            <a:pPr marL="0" indent="0">
              <a:buNone/>
            </a:pPr>
            <a:r>
              <a:rPr lang="en-US" sz="1500" b="1" kern="0" spc="200" dirty="0">
                <a:solidFill>
                  <a:srgbClr val="007A73"/>
                </a:solidFill>
                <a:latin typeface="Century Gothic" pitchFamily="34" charset="0"/>
                <a:ea typeface="Century Gothic" pitchFamily="34" charset="-122"/>
                <a:cs typeface="Century Gothic" pitchFamily="34" charset="-120"/>
              </a:rPr>
              <a:t>ADDITION</a:t>
            </a:r>
            <a:endParaRPr lang="en-US" sz="1500" dirty="0"/>
          </a:p>
        </p:txBody>
      </p:sp>
      <p:sp>
        <p:nvSpPr>
          <p:cNvPr id="18" name="Text 16"/>
          <p:cNvSpPr txBox="1"/>
          <p:nvPr/>
        </p:nvSpPr>
        <p:spPr>
          <a:xfrm>
            <a:off x="6409944" y="3840480"/>
            <a:ext cx="2286000" cy="777240"/>
          </a:xfrm>
          <a:prstGeom prst="rect">
            <a:avLst/>
          </a:prstGeom>
          <a:noFill/>
          <a:ln/>
        </p:spPr>
        <p:txBody>
          <a:bodyPr wrap="square" lIns="0" tIns="0" rIns="0" bIns="0" rtlCol="0" anchor="t"/>
          <a:lstStyle/>
          <a:p>
            <a:pPr marL="0" indent="0">
              <a:buNone/>
            </a:pPr>
            <a:r>
              <a:rPr lang="en-US" sz="1600" dirty="0">
                <a:solidFill>
                  <a:srgbClr val="1E2A32"/>
                </a:solidFill>
                <a:latin typeface="Century Gothic" pitchFamily="34" charset="0"/>
                <a:ea typeface="Century Gothic" pitchFamily="34" charset="-122"/>
                <a:cs typeface="Century Gothic" pitchFamily="34" charset="-120"/>
              </a:rPr>
              <a:t>in addition · furthermore</a:t>
            </a:r>
            <a:endParaRPr lang="en-US" sz="1600" dirty="0"/>
          </a:p>
        </p:txBody>
      </p:sp>
      <p:sp>
        <p:nvSpPr>
          <p:cNvPr id="19" name="Shape 17"/>
          <p:cNvSpPr/>
          <p:nvPr/>
        </p:nvSpPr>
        <p:spPr>
          <a:xfrm>
            <a:off x="9043416" y="3291840"/>
            <a:ext cx="2679192" cy="1463040"/>
          </a:xfrm>
          <a:prstGeom prst="roundRect">
            <a:avLst>
              <a:gd name="adj" fmla="val 11250"/>
            </a:avLst>
          </a:prstGeom>
          <a:solidFill>
            <a:srgbClr val="C8F1EB"/>
          </a:solidFill>
          <a:ln/>
        </p:spPr>
        <p:txBody>
          <a:bodyPr/>
          <a:lstStyle/>
          <a:p>
            <a:endParaRPr lang="en-US"/>
          </a:p>
        </p:txBody>
      </p:sp>
      <p:sp>
        <p:nvSpPr>
          <p:cNvPr id="20" name="Text 18"/>
          <p:cNvSpPr txBox="1"/>
          <p:nvPr/>
        </p:nvSpPr>
        <p:spPr>
          <a:xfrm>
            <a:off x="9272016" y="3429000"/>
            <a:ext cx="2286000" cy="365760"/>
          </a:xfrm>
          <a:prstGeom prst="rect">
            <a:avLst/>
          </a:prstGeom>
          <a:noFill/>
          <a:ln/>
        </p:spPr>
        <p:txBody>
          <a:bodyPr wrap="square" lIns="0" tIns="0" rIns="0" bIns="0" rtlCol="0" anchor="t"/>
          <a:lstStyle/>
          <a:p>
            <a:pPr marL="0" indent="0">
              <a:buNone/>
            </a:pPr>
            <a:r>
              <a:rPr lang="en-US" sz="1500" b="1" kern="0" spc="200" dirty="0">
                <a:solidFill>
                  <a:srgbClr val="007A73"/>
                </a:solidFill>
                <a:latin typeface="Century Gothic" pitchFamily="34" charset="0"/>
                <a:ea typeface="Century Gothic" pitchFamily="34" charset="-122"/>
                <a:cs typeface="Century Gothic" pitchFamily="34" charset="-120"/>
              </a:rPr>
              <a:t>EMPHASIS</a:t>
            </a:r>
            <a:endParaRPr lang="en-US" sz="1500" dirty="0"/>
          </a:p>
        </p:txBody>
      </p:sp>
      <p:sp>
        <p:nvSpPr>
          <p:cNvPr id="21" name="Text 19"/>
          <p:cNvSpPr txBox="1"/>
          <p:nvPr/>
        </p:nvSpPr>
        <p:spPr>
          <a:xfrm>
            <a:off x="9272016" y="3840480"/>
            <a:ext cx="2286000" cy="777240"/>
          </a:xfrm>
          <a:prstGeom prst="rect">
            <a:avLst/>
          </a:prstGeom>
          <a:noFill/>
          <a:ln/>
        </p:spPr>
        <p:txBody>
          <a:bodyPr wrap="square" lIns="0" tIns="0" rIns="0" bIns="0" rtlCol="0" anchor="t"/>
          <a:lstStyle/>
          <a:p>
            <a:pPr marL="0" indent="0">
              <a:buNone/>
            </a:pPr>
            <a:r>
              <a:rPr lang="en-US" sz="1600" dirty="0">
                <a:solidFill>
                  <a:srgbClr val="1E2A32"/>
                </a:solidFill>
                <a:latin typeface="Century Gothic" pitchFamily="34" charset="0"/>
                <a:ea typeface="Century Gothic" pitchFamily="34" charset="-122"/>
                <a:cs typeface="Century Gothic" pitchFamily="34" charset="-120"/>
              </a:rPr>
              <a:t>in fact · most importantly</a:t>
            </a:r>
            <a:endParaRPr lang="en-US" sz="1600" dirty="0"/>
          </a:p>
        </p:txBody>
      </p:sp>
      <p:sp>
        <p:nvSpPr>
          <p:cNvPr id="22" name="Shape 20"/>
          <p:cNvSpPr/>
          <p:nvPr/>
        </p:nvSpPr>
        <p:spPr>
          <a:xfrm>
            <a:off x="457200" y="4983480"/>
            <a:ext cx="11274552" cy="1234440"/>
          </a:xfrm>
          <a:prstGeom prst="roundRect">
            <a:avLst>
              <a:gd name="adj" fmla="val 13333"/>
            </a:avLst>
          </a:prstGeom>
          <a:solidFill>
            <a:srgbClr val="1E2A32"/>
          </a:solidFill>
          <a:ln/>
        </p:spPr>
        <p:txBody>
          <a:bodyPr/>
          <a:lstStyle/>
          <a:p>
            <a:endParaRPr lang="en-US"/>
          </a:p>
        </p:txBody>
      </p:sp>
      <p:sp>
        <p:nvSpPr>
          <p:cNvPr id="23" name="Text 21"/>
          <p:cNvSpPr txBox="1"/>
          <p:nvPr/>
        </p:nvSpPr>
        <p:spPr>
          <a:xfrm>
            <a:off x="777240" y="4983480"/>
            <a:ext cx="10698480" cy="1234440"/>
          </a:xfrm>
          <a:prstGeom prst="rect">
            <a:avLst/>
          </a:prstGeom>
          <a:noFill/>
          <a:ln/>
        </p:spPr>
        <p:txBody>
          <a:bodyPr wrap="square" lIns="0" tIns="0" rIns="0" bIns="0" rtlCol="0" anchor="ctr"/>
          <a:lstStyle/>
          <a:p>
            <a:pPr marL="0" indent="0">
              <a:buNone/>
            </a:pPr>
            <a:r>
              <a:rPr lang="en-US" sz="1900" dirty="0">
                <a:solidFill>
                  <a:srgbClr val="FFFFFF"/>
                </a:solidFill>
                <a:latin typeface="Century Gothic" pitchFamily="34" charset="0"/>
                <a:ea typeface="Century Gothic" pitchFamily="34" charset="-122"/>
                <a:cs typeface="Century Gothic" pitchFamily="34" charset="-120"/>
              </a:rPr>
              <a:t>Comma after a transition that starts a sentence.   </a:t>
            </a:r>
            <a:r>
              <a:rPr lang="en-US" sz="1900" b="1" dirty="0">
                <a:solidFill>
                  <a:srgbClr val="FFC63C"/>
                </a:solidFill>
                <a:latin typeface="Century Gothic" pitchFamily="34" charset="0"/>
                <a:ea typeface="Century Gothic" pitchFamily="34" charset="-122"/>
                <a:cs typeface="Century Gothic" pitchFamily="34" charset="-120"/>
              </a:rPr>
              <a:t>Watch out: </a:t>
            </a:r>
            <a:r>
              <a:rPr lang="en-US" sz="1900" dirty="0">
                <a:solidFill>
                  <a:srgbClr val="FFFFFF"/>
                </a:solidFill>
                <a:latin typeface="Century Gothic" pitchFamily="34" charset="0"/>
                <a:ea typeface="Century Gothic" pitchFamily="34" charset="-122"/>
                <a:cs typeface="Century Gothic" pitchFamily="34" charset="-120"/>
              </a:rPr>
              <a:t>no contrast transition between two ideas that agree.</a:t>
            </a:r>
            <a:endParaRPr lang="en-US" sz="1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DF442A"/>
            </a:solidFill>
            <a:prstDash val="solid"/>
          </a:ln>
        </p:spPr>
        <p:txBody>
          <a:bodyPr/>
          <a:lstStyle/>
          <a:p>
            <a:endParaRPr lang="en-US"/>
          </a:p>
        </p:txBody>
      </p:sp>
      <p:sp>
        <p:nvSpPr>
          <p:cNvPr id="3" name="Text 1"/>
          <p:cNvSpPr txBox="1"/>
          <p:nvPr/>
        </p:nvSpPr>
        <p:spPr>
          <a:xfrm>
            <a:off x="457200" y="566928"/>
            <a:ext cx="566928" cy="566928"/>
          </a:xfrm>
          <a:prstGeom prst="rect">
            <a:avLst/>
          </a:prstGeom>
          <a:noFill/>
          <a:ln/>
        </p:spPr>
        <p:txBody>
          <a:bodyPr wrap="square" lIns="0" tIns="0" rIns="0" bIns="0" rtlCol="0" anchor="ctr"/>
          <a:lstStyle/>
          <a:p>
            <a:pPr marL="0" indent="0" algn="ctr">
              <a:buNone/>
            </a:pPr>
            <a:r>
              <a:rPr lang="en-US" sz="1800" b="1" dirty="0">
                <a:solidFill>
                  <a:srgbClr val="DF442A"/>
                </a:solidFill>
                <a:latin typeface="Century Gothic" pitchFamily="34" charset="0"/>
                <a:ea typeface="Century Gothic" pitchFamily="34" charset="-122"/>
                <a:cs typeface="Century Gothic" pitchFamily="34" charset="-120"/>
              </a:rPr>
              <a:t>05</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marL="0" indent="0">
              <a:buNone/>
            </a:pPr>
            <a:r>
              <a:rPr lang="en-US" sz="2800" b="1" dirty="0">
                <a:solidFill>
                  <a:srgbClr val="1E2A32"/>
                </a:solidFill>
                <a:latin typeface="Century Gothic" pitchFamily="34" charset="0"/>
                <a:ea typeface="Century Gothic" pitchFamily="34" charset="-122"/>
                <a:cs typeface="Century Gothic" pitchFamily="34" charset="-120"/>
              </a:rPr>
              <a:t>Exit Ticket · On Your Own</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marL="0" indent="0">
              <a:buNone/>
            </a:pPr>
            <a:r>
              <a:rPr lang="en-US" sz="1400" dirty="0">
                <a:solidFill>
                  <a:srgbClr val="5A6B75"/>
                </a:solidFill>
                <a:latin typeface="Century Gothic" pitchFamily="34" charset="0"/>
                <a:ea typeface="Century Gothic" pitchFamily="34" charset="-122"/>
                <a:cs typeface="Century Gothic" pitchFamily="34" charset="-120"/>
              </a:rPr>
              <a:t>Silent. Independent. This is how I know you’re ready for tomorrow.</a:t>
            </a:r>
            <a:endParaRPr lang="en-US" sz="1400" dirty="0"/>
          </a:p>
        </p:txBody>
      </p:sp>
      <p:sp>
        <p:nvSpPr>
          <p:cNvPr id="6" name="Shape 4"/>
          <p:cNvSpPr/>
          <p:nvPr/>
        </p:nvSpPr>
        <p:spPr>
          <a:xfrm>
            <a:off x="8668512" y="566928"/>
            <a:ext cx="3063240" cy="347472"/>
          </a:xfrm>
          <a:prstGeom prst="roundRect">
            <a:avLst>
              <a:gd name="adj" fmla="val 50000"/>
            </a:avLst>
          </a:prstGeom>
          <a:solidFill>
            <a:srgbClr val="FF6B4E"/>
          </a:solidFill>
          <a:ln/>
        </p:spPr>
        <p:txBody>
          <a:bodyPr/>
          <a:lstStyle/>
          <a:p>
            <a:endParaRPr lang="en-US"/>
          </a:p>
        </p:txBody>
      </p:sp>
      <p:sp>
        <p:nvSpPr>
          <p:cNvPr id="7" name="Text 5"/>
          <p:cNvSpPr txBox="1"/>
          <p:nvPr/>
        </p:nvSpPr>
        <p:spPr>
          <a:xfrm>
            <a:off x="8668512" y="566928"/>
            <a:ext cx="306324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entury Gothic" pitchFamily="34" charset="0"/>
                <a:ea typeface="Century Gothic" pitchFamily="34" charset="-122"/>
                <a:cs typeface="Century Gothic" pitchFamily="34" charset="-120"/>
              </a:rPr>
              <a:t>PACKET P. 3 · BOX 05</a:t>
            </a:r>
            <a:endParaRPr lang="en-US" sz="1100" dirty="0"/>
          </a:p>
        </p:txBody>
      </p:sp>
      <p:sp>
        <p:nvSpPr>
          <p:cNvPr id="8" name="Shape 6"/>
          <p:cNvSpPr/>
          <p:nvPr/>
        </p:nvSpPr>
        <p:spPr>
          <a:xfrm>
            <a:off x="457200" y="1600200"/>
            <a:ext cx="7498080" cy="4617720"/>
          </a:xfrm>
          <a:prstGeom prst="roundRect">
            <a:avLst>
              <a:gd name="adj" fmla="val 3564"/>
            </a:avLst>
          </a:prstGeom>
          <a:solidFill>
            <a:srgbClr val="FFFFFF"/>
          </a:solidFill>
          <a:ln w="31750">
            <a:solidFill>
              <a:srgbClr val="FF6B4E"/>
            </a:solidFill>
            <a:prstDash val="solid"/>
          </a:ln>
        </p:spPr>
        <p:txBody>
          <a:bodyPr/>
          <a:lstStyle/>
          <a:p>
            <a:endParaRPr lang="en-US"/>
          </a:p>
        </p:txBody>
      </p:sp>
      <p:sp>
        <p:nvSpPr>
          <p:cNvPr id="9" name="Shape 7"/>
          <p:cNvSpPr/>
          <p:nvPr/>
        </p:nvSpPr>
        <p:spPr>
          <a:xfrm>
            <a:off x="731520" y="2011680"/>
            <a:ext cx="502920" cy="502920"/>
          </a:xfrm>
          <a:prstGeom prst="ellipse">
            <a:avLst/>
          </a:prstGeom>
          <a:solidFill>
            <a:srgbClr val="FF6B4E"/>
          </a:solidFill>
          <a:ln/>
        </p:spPr>
        <p:txBody>
          <a:bodyPr/>
          <a:lstStyle/>
          <a:p>
            <a:endParaRPr lang="en-US"/>
          </a:p>
        </p:txBody>
      </p:sp>
      <p:sp>
        <p:nvSpPr>
          <p:cNvPr id="10" name="Text 8"/>
          <p:cNvSpPr txBox="1"/>
          <p:nvPr/>
        </p:nvSpPr>
        <p:spPr>
          <a:xfrm>
            <a:off x="731520" y="20116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Gothic" pitchFamily="34" charset="0"/>
                <a:ea typeface="Century Gothic" pitchFamily="34" charset="-122"/>
                <a:cs typeface="Century Gothic" pitchFamily="34" charset="-120"/>
              </a:rPr>
              <a:t>1</a:t>
            </a:r>
            <a:endParaRPr lang="en-US" sz="1600" dirty="0"/>
          </a:p>
        </p:txBody>
      </p:sp>
      <p:sp>
        <p:nvSpPr>
          <p:cNvPr id="11" name="Text 9"/>
          <p:cNvSpPr txBox="1"/>
          <p:nvPr/>
        </p:nvSpPr>
        <p:spPr>
          <a:xfrm>
            <a:off x="1417320" y="1874520"/>
            <a:ext cx="6309360" cy="822960"/>
          </a:xfrm>
          <a:prstGeom prst="rect">
            <a:avLst/>
          </a:prstGeom>
          <a:noFill/>
          <a:ln/>
        </p:spPr>
        <p:txBody>
          <a:bodyPr wrap="square" lIns="0" tIns="0" rIns="0" bIns="0" rtlCol="0" anchor="ctr"/>
          <a:lstStyle/>
          <a:p>
            <a:pPr marL="0" indent="0">
              <a:buNone/>
            </a:pPr>
            <a:r>
              <a:rPr lang="en-US" sz="1900" dirty="0">
                <a:solidFill>
                  <a:srgbClr val="1E2A32"/>
                </a:solidFill>
                <a:latin typeface="Century Gothic" pitchFamily="34" charset="0"/>
                <a:ea typeface="Century Gothic" pitchFamily="34" charset="-122"/>
                <a:cs typeface="Century Gothic" pitchFamily="34" charset="-120"/>
              </a:rPr>
              <a:t>In her final voice-over, Anne’s tone is ______ because her words ______.</a:t>
            </a:r>
            <a:endParaRPr lang="en-US" sz="1900" dirty="0"/>
          </a:p>
        </p:txBody>
      </p:sp>
      <p:sp>
        <p:nvSpPr>
          <p:cNvPr id="12" name="Shape 10"/>
          <p:cNvSpPr/>
          <p:nvPr/>
        </p:nvSpPr>
        <p:spPr>
          <a:xfrm>
            <a:off x="731520" y="3383280"/>
            <a:ext cx="502920" cy="502920"/>
          </a:xfrm>
          <a:prstGeom prst="ellipse">
            <a:avLst/>
          </a:prstGeom>
          <a:solidFill>
            <a:srgbClr val="FF6B4E"/>
          </a:solidFill>
          <a:ln/>
        </p:spPr>
        <p:txBody>
          <a:bodyPr/>
          <a:lstStyle/>
          <a:p>
            <a:endParaRPr lang="en-US"/>
          </a:p>
        </p:txBody>
      </p:sp>
      <p:sp>
        <p:nvSpPr>
          <p:cNvPr id="13" name="Text 11"/>
          <p:cNvSpPr txBox="1"/>
          <p:nvPr/>
        </p:nvSpPr>
        <p:spPr>
          <a:xfrm>
            <a:off x="731520" y="33832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Gothic" pitchFamily="34" charset="0"/>
                <a:ea typeface="Century Gothic" pitchFamily="34" charset="-122"/>
                <a:cs typeface="Century Gothic" pitchFamily="34" charset="-120"/>
              </a:rPr>
              <a:t>2</a:t>
            </a:r>
            <a:endParaRPr lang="en-US" sz="1600" dirty="0"/>
          </a:p>
        </p:txBody>
      </p:sp>
      <p:sp>
        <p:nvSpPr>
          <p:cNvPr id="14" name="Text 12"/>
          <p:cNvSpPr txBox="1"/>
          <p:nvPr/>
        </p:nvSpPr>
        <p:spPr>
          <a:xfrm>
            <a:off x="1417320" y="3246120"/>
            <a:ext cx="6309360" cy="822960"/>
          </a:xfrm>
          <a:prstGeom prst="rect">
            <a:avLst/>
          </a:prstGeom>
          <a:noFill/>
          <a:ln/>
        </p:spPr>
        <p:txBody>
          <a:bodyPr wrap="square" lIns="0" tIns="0" rIns="0" bIns="0" rtlCol="0" anchor="ctr"/>
          <a:lstStyle/>
          <a:p>
            <a:pPr marL="0" indent="0">
              <a:buNone/>
            </a:pPr>
            <a:r>
              <a:rPr lang="en-US" sz="1900" dirty="0">
                <a:solidFill>
                  <a:srgbClr val="1E2A32"/>
                </a:solidFill>
                <a:latin typeface="Century Gothic" pitchFamily="34" charset="0"/>
                <a:ea typeface="Century Gothic" pitchFamily="34" charset="-122"/>
                <a:cs typeface="Century Gothic" pitchFamily="34" charset="-120"/>
              </a:rPr>
              <a:t>The mood of the scene is ______ because the audience knows ______.</a:t>
            </a:r>
            <a:endParaRPr lang="en-US" sz="1900" dirty="0"/>
          </a:p>
        </p:txBody>
      </p:sp>
      <p:sp>
        <p:nvSpPr>
          <p:cNvPr id="15" name="Shape 13"/>
          <p:cNvSpPr/>
          <p:nvPr/>
        </p:nvSpPr>
        <p:spPr>
          <a:xfrm>
            <a:off x="731520" y="4754880"/>
            <a:ext cx="502920" cy="502920"/>
          </a:xfrm>
          <a:prstGeom prst="ellipse">
            <a:avLst/>
          </a:prstGeom>
          <a:solidFill>
            <a:srgbClr val="FF6B4E"/>
          </a:solidFill>
          <a:ln/>
        </p:spPr>
        <p:txBody>
          <a:bodyPr/>
          <a:lstStyle/>
          <a:p>
            <a:endParaRPr lang="en-US"/>
          </a:p>
        </p:txBody>
      </p:sp>
      <p:sp>
        <p:nvSpPr>
          <p:cNvPr id="16" name="Text 14"/>
          <p:cNvSpPr txBox="1"/>
          <p:nvPr/>
        </p:nvSpPr>
        <p:spPr>
          <a:xfrm>
            <a:off x="731520" y="4754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Gothic" pitchFamily="34" charset="0"/>
                <a:ea typeface="Century Gothic" pitchFamily="34" charset="-122"/>
                <a:cs typeface="Century Gothic" pitchFamily="34" charset="-120"/>
              </a:rPr>
              <a:t>3</a:t>
            </a:r>
            <a:endParaRPr lang="en-US" sz="1600" dirty="0"/>
          </a:p>
        </p:txBody>
      </p:sp>
      <p:sp>
        <p:nvSpPr>
          <p:cNvPr id="17" name="Text 15"/>
          <p:cNvSpPr txBox="1"/>
          <p:nvPr/>
        </p:nvSpPr>
        <p:spPr>
          <a:xfrm>
            <a:off x="1417320" y="4617720"/>
            <a:ext cx="6309360" cy="822960"/>
          </a:xfrm>
          <a:prstGeom prst="rect">
            <a:avLst/>
          </a:prstGeom>
          <a:noFill/>
          <a:ln/>
        </p:spPr>
        <p:txBody>
          <a:bodyPr wrap="square" lIns="0" tIns="0" rIns="0" bIns="0" rtlCol="0" anchor="ctr"/>
          <a:lstStyle/>
          <a:p>
            <a:pPr marL="0" indent="0">
              <a:buNone/>
            </a:pPr>
            <a:r>
              <a:rPr lang="en-US" sz="1900" dirty="0">
                <a:solidFill>
                  <a:srgbClr val="1E2A32"/>
                </a:solidFill>
                <a:latin typeface="Century Gothic" pitchFamily="34" charset="0"/>
                <a:ea typeface="Century Gothic" pitchFamily="34" charset="-122"/>
                <a:cs typeface="Century Gothic" pitchFamily="34" charset="-120"/>
              </a:rPr>
              <a:t>This contrast makes me think the play’s theme might be ______.</a:t>
            </a:r>
            <a:endParaRPr lang="en-US" sz="1900" dirty="0"/>
          </a:p>
        </p:txBody>
      </p:sp>
      <p:sp>
        <p:nvSpPr>
          <p:cNvPr id="18" name="Shape 16"/>
          <p:cNvSpPr/>
          <p:nvPr/>
        </p:nvSpPr>
        <p:spPr>
          <a:xfrm>
            <a:off x="8183880" y="1600200"/>
            <a:ext cx="3547872" cy="4617720"/>
          </a:xfrm>
          <a:prstGeom prst="roundRect">
            <a:avLst>
              <a:gd name="adj" fmla="val 4639"/>
            </a:avLst>
          </a:prstGeom>
          <a:solidFill>
            <a:srgbClr val="DAE7FF"/>
          </a:solidFill>
          <a:ln/>
        </p:spPr>
        <p:txBody>
          <a:bodyPr/>
          <a:lstStyle/>
          <a:p>
            <a:endParaRPr lang="en-US"/>
          </a:p>
        </p:txBody>
      </p:sp>
      <p:sp>
        <p:nvSpPr>
          <p:cNvPr id="19" name="Text 17"/>
          <p:cNvSpPr txBox="1"/>
          <p:nvPr/>
        </p:nvSpPr>
        <p:spPr>
          <a:xfrm>
            <a:off x="8412480" y="1783080"/>
            <a:ext cx="3108960" cy="320040"/>
          </a:xfrm>
          <a:prstGeom prst="rect">
            <a:avLst/>
          </a:prstGeom>
          <a:noFill/>
          <a:ln/>
        </p:spPr>
        <p:txBody>
          <a:bodyPr wrap="square" lIns="0" tIns="0" rIns="0" bIns="0" rtlCol="0" anchor="t"/>
          <a:lstStyle/>
          <a:p>
            <a:pPr marL="0" indent="0">
              <a:buNone/>
            </a:pPr>
            <a:r>
              <a:rPr lang="en-US" sz="1200" b="1" kern="0" spc="200" dirty="0">
                <a:solidFill>
                  <a:srgbClr val="2A56B5"/>
                </a:solidFill>
                <a:latin typeface="Century Gothic" pitchFamily="34" charset="0"/>
                <a:ea typeface="Century Gothic" pitchFamily="34" charset="-122"/>
                <a:cs typeface="Century Gothic" pitchFamily="34" charset="-120"/>
              </a:rPr>
              <a:t>OPTIONAL HOMEWORK</a:t>
            </a:r>
            <a:endParaRPr lang="en-US" sz="1200" dirty="0"/>
          </a:p>
        </p:txBody>
      </p:sp>
      <p:sp>
        <p:nvSpPr>
          <p:cNvPr id="20" name="Text 18"/>
          <p:cNvSpPr txBox="1"/>
          <p:nvPr/>
        </p:nvSpPr>
        <p:spPr>
          <a:xfrm>
            <a:off x="8412480" y="2194560"/>
            <a:ext cx="3108960" cy="3840480"/>
          </a:xfrm>
          <a:prstGeom prst="rect">
            <a:avLst/>
          </a:prstGeom>
          <a:noFill/>
          <a:ln/>
        </p:spPr>
        <p:txBody>
          <a:bodyPr wrap="square" lIns="0" tIns="0" rIns="0" bIns="0" rtlCol="0" anchor="t"/>
          <a:lstStyle/>
          <a:p>
            <a:pPr marL="0" indent="0">
              <a:buNone/>
            </a:pPr>
            <a:r>
              <a:rPr lang="en-US" sz="1550" dirty="0">
                <a:solidFill>
                  <a:srgbClr val="1E2A32"/>
                </a:solidFill>
                <a:latin typeface="Century Gothic" pitchFamily="34" charset="0"/>
                <a:ea typeface="Century Gothic" pitchFamily="34" charset="-122"/>
                <a:cs typeface="Century Gothic" pitchFamily="34" charset="-120"/>
              </a:rPr>
              <a:t>Which word best describes Anne’s final tone: hopeful, defiant, or naive? Defend your choice with one piece of diction from the final scene. Use one logical transition correctly.</a:t>
            </a:r>
            <a:endParaRPr lang="en-US" sz="155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Encountering Evil Week 9 Day 2">
  <a:themeElements>
    <a:clrScheme name="Encountering Evil Week 9 Day 2">
      <a:dk1>
        <a:srgbClr val="1E2A32"/>
      </a:dk1>
      <a:lt1>
        <a:srgbClr val="FFFFFF"/>
      </a:lt1>
      <a:dk2>
        <a:srgbClr val="5A6B75"/>
      </a:dk2>
      <a:lt2>
        <a:srgbClr val="FFFBF4"/>
      </a:lt2>
      <a:accent1>
        <a:srgbClr val="00A39B"/>
      </a:accent1>
      <a:accent2>
        <a:srgbClr val="3B74E8"/>
      </a:accent2>
      <a:accent3>
        <a:srgbClr val="FF6B4E"/>
      </a:accent3>
      <a:accent4>
        <a:srgbClr val="FFC63C"/>
      </a:accent4>
      <a:accent5>
        <a:srgbClr val="8B6BE8"/>
      </a:accent5>
      <a:accent6>
        <a:srgbClr val="C2185B"/>
      </a:accent6>
      <a:hlink>
        <a:srgbClr val="2A56B5"/>
      </a:hlink>
      <a:folHlink>
        <a:srgbClr val="6746C7"/>
      </a:folHlink>
    </a:clrScheme>
    <a:fontScheme name="Encountering Evil Week 9 Day 2">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2132</Words>
  <Application>Microsoft Office PowerPoint</Application>
  <PresentationFormat>Widescreen</PresentationFormat>
  <Paragraphs>179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Encountering Evil Week 9 Day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Day 2 · In Spite of Everything: Tone, Mood, and the End of the Play</dc:title>
  <dc:subject>PptxGenJS Presentation</dc:subject>
  <dc:creator>Ms. Briggs</dc:creator>
  <cp:lastModifiedBy>Danyelle Briggs</cp:lastModifiedBy>
  <cp:revision>1</cp:revision>
  <dcterms:created xsi:type="dcterms:W3CDTF">2026-10-08T17:28:41Z</dcterms:created>
  <dcterms:modified xsi:type="dcterms:W3CDTF">2026-10-08T17:31:00Z</dcterms:modified>
</cp:coreProperties>
</file>