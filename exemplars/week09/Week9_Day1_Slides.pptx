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149d3d5-e9d2-dbe7-8698-0cc8b8ebe873}">
          <p14:sldIdLst>
            <p14:sldId id="256"/>
            <p14:sldId id="257"/>
            <p14:sldId id="258"/>
          </p14:sldIdLst>
        </p14:section>
        <p14:section name="STEAL Repair + Baseline" id="{b175d0db-8cca-6f30-7644-b065d303e710}">
          <p14:sldIdLst>
            <p14:sldId id="259"/>
            <p14:sldId id="260"/>
          </p14:sldIdLst>
        </p14:section>
        <p14:section name="Read + Model" id="{c5ff31d0-c303-e899-1483-ef01efa6c5c1}">
          <p14:sldIdLst>
            <p14:sldId id="261"/>
            <p14:sldId id="262"/>
          </p14:sldIdLst>
        </p14:section>
        <p14:section name="Show Your Thinking" id="{f0dc4772-4345-b046-e34a-436305401d54}">
          <p14:sldIdLst>
            <p14:sldId id="263"/>
          </p14:sldIdLst>
        </p14:section>
        <p14:section name="Partner Reading" id="{9d920b24-fc0e-410f-3274-03c0b177bfd5}">
          <p14:sldIdLst>
            <p14:sldId id="264"/>
          </p14:sldIdLst>
        </p14:section>
        <p14:section name="Diary Comparison" id="{96972c3b-eb8d-0c5c-3bcb-e2887bf66429}">
          <p14:sldIdLst>
            <p14:sldId id="265"/>
          </p14:sldIdLst>
        </p14:section>
        <p14:section name="Independent Writing" id="{608803fd-17f8-0e3f-a189-ac8e77e41885}">
          <p14:sldIdLst>
            <p14:sldId id="266"/>
          </p14:sldIdLst>
        </p14:section>
        <p14:section name="Exit Ticket" id="{b18ff23e-dc1c-af03-da73-d36295fe4119}">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 as scholars walk in, then click to the Do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Alright, look here. Box 01. This one is private. You do not have to share personal details out loud. Three minutes. Go.
AT 2:30 (volunteers only): You don't have to tell me the story. Just tell me: what was the BEFORE, and what was the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Hold onto that because we're about to use it. A change only counts if you can name a BEFORE and an AFTER, and say what caused it. That's exactly what we're measuring in Anne today. But to measure her after, we need her before. So we're grabbing a tool you missed while I was out. Box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A play has no narrator, so almost everything we learn about Anne is indirect. Thoughts = Anne's diary voice talking to the audience. Looks = stage directions.
CHORAL: Read the black bar with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Diary voice means it's what's in her head, so STEAL is T, Thoughts. If I stop there, I only told you where it came from. What does it reveal? She feels like the adults don't take her seriously, and she resents it. Put that on your paper.
YOU TRY answer: S, Speech (A, Actions is fine if they cite throwing his clothes / tripping him on p. 715). She sees Peter as an annoying enemy and reacts fast and loud.
IF they say only 'Speech': That tells me where the evidence came from. What does it reveal?
CLASS BASELINE: ...feel misunderstood and treated like a kid, so she fights back, even with Peter. She has no one her age she trusts.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We're jumping to Act II. It's New Year's Day, 1944. They've been hiding for a year and a half. Food is short, tempers are short. And the last time we saw Anne and Peter, she called him the most intolerable, insufferable boy she'd ever met.
READ ALOUD: p. 749 (stop at 'A change in myself'). Summarize pp. 751-755 in one breath. Read p. 756 through 'I said it, didn't I?' at the top of p. 759.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think-aloud to about 3 minutes. First I find a short line. Then I ask: event or change? Peter saying 'come into my room' is an event. Anne having somewhere to be understood is a change. Before: no one to really talk to (same page, she never discusses anything serious with her mother). After: someone she can talk to and be understood by. Finally I check: does the quoted line actually prove the change, or just describe a scene?
TRANSITION: That was my thinking. Now I want to hear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LEAF ACTION STEP. 1) Read the three lines together. 2) Don't write. Don't talk. Thumb on your chest when you've got your 'First I...'. Wait the full 30-45 seconds. 3) [Name], talk us through how you figured this out. Start with 'First I...'. Press only: What did you notice? / Where's your BEFORE? / How do you know this is change, not event? 4) Who can build on, revise, or challenge that reasoning? 5) RELEASE: Good. That is the process I want running in your head while you work: evidence first, identify the change, then 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Pace calls: 36 min 'Row 2 should be done.' 43 'You should be on Row 4.' 48 'Finish your sentence.'
KEY: Row 2 'I think more seriously about life now. I want to be a journalist... I love to write.' Row 3 'I thought you were a nothing, just the way you thought about me.' Row 4 'it does make life more bearable to have someone with whom you can exchange views'.
When stuck: Talk me through how you got there. What did you notice first? What part are you sure about? What does the evidence tell you?
48-50 share: How did you decide this was your strongest evidence? Class test: Does the quoted line actually prove the change, or just describe a scene? Behind? Cut the share, never the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entry aloud. ASK the question on the slide. Listen for: Anne starts imagining people reading her diary after the war; her audience grows from herself (and Peter) to the world. If incomplete: Who is Anne talking to in the Peter scenes? Who is she imagining talking to here?
Partners fill both diary boxes, 2 minutes.
TRANSITION: Look at page 2. That is your evidence bank. No new searching. Turn to page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Morehouse first: 1 minute oral rehearsal with a partner using the stems on p. 3, then silence.
SAY: This is silent and it's yours. Fifteen minutes. Claim, evidence, reasoning. Your claim names HOW Anne changes. Two lines from your tracker with page numbers. After each one, reasoning: what does that line prove? Last sentence connects the March 29 diary.
Whisper only: What are you proving about Anne? / You told me what the line says. What does it 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Protected and independent. If behind, cut the share-out, never the exit ticket.
IF TIME (75-80): Cold call two: Is Peter a catalyst, a confidant, or both? Defend with one detail.
PREVIEW DAY 2: Tomorrow we read the final pages of the play. Anne's hope and history's reality are about to collide, and your job will be to track the difference between tone and mood as they do.
Collect whole packets.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BF4"/>
        </a:solidFill>
      </p:bgPr>
    </p:bg>
    <p:spTree>
      <p:nvGrpSpPr>
        <p:cNvPr id="1" name=""/>
        <p:cNvGrpSpPr/>
        <p:nvPr/>
      </p:nvGrpSpPr>
      <p:grpSpPr>
        <a:xfrm>
          <a:off x="0" y="0"/>
          <a:ext cx="0" cy="0"/>
          <a:chOff x="0" y="0"/>
          <a:chExt cx="0" cy="0"/>
        </a:xfrm>
      </p:grpSpPr>
      <p:sp>
        <p:nvSpPr>
          <p:cNvPr id="2" name="Text 0"/>
          <p:cNvSpPr/>
          <p:nvPr/>
        </p:nvSpPr>
        <p:spPr>
          <a:xfrm>
            <a:off x="457200" y="201168"/>
            <a:ext cx="7315200" cy="274320"/>
          </a:xfrm>
          <a:prstGeom prst="rect">
            <a:avLst/>
          </a:prstGeom>
          <a:noFill/>
          <a:ln/>
        </p:spPr>
        <p:txBody>
          <a:bodyPr wrap="square" lIns="0" tIns="0" rIns="0" bIns="0" rtlCol="0" anchor="ctr"/>
          <a:lstStyle/>
          <a:p>
            <a:pPr indent="0" marL="0">
              <a:buNone/>
            </a:pPr>
            <a:r>
              <a:rPr lang="en-US" sz="900" b="1" spc="300" kern="0" dirty="0">
                <a:solidFill>
                  <a:srgbClr val="8FA0AA"/>
                </a:solidFill>
                <a:latin typeface="Century Gothic" pitchFamily="34" charset="0"/>
                <a:ea typeface="Century Gothic" pitchFamily="34" charset="-122"/>
                <a:cs typeface="Century Gothic" pitchFamily="34" charset="-120"/>
              </a:rPr>
              <a:t>WEEK 9 · DAY 1 · ENCOUNTERING EVIL · THE DIARY OF ANNE FRANK</a:t>
            </a:r>
            <a:endParaRPr lang="en-US" sz="9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32"/>
        </a:solidFill>
      </p:bgPr>
    </p:bg>
    <p:spTree>
      <p:nvGrpSpPr>
        <p:cNvPr id="1" name=""/>
        <p:cNvGrpSpPr/>
        <p:nvPr/>
      </p:nvGrpSpPr>
      <p:grpSpPr>
        <a:xfrm>
          <a:off x="0" y="0"/>
          <a:ext cx="0" cy="0"/>
          <a:chOff x="0" y="0"/>
          <a:chExt cx="0" cy="0"/>
        </a:xfrm>
      </p:grpSpPr>
      <p:sp>
        <p:nvSpPr>
          <p:cNvPr id="2" name="Shape 0"/>
          <p:cNvSpPr/>
          <p:nvPr/>
        </p:nvSpPr>
        <p:spPr>
          <a:xfrm>
            <a:off x="640080" y="685800"/>
            <a:ext cx="310896" cy="310896"/>
          </a:xfrm>
          <a:prstGeom prst="ellipse">
            <a:avLst/>
          </a:prstGeom>
          <a:solidFill>
            <a:srgbClr val="00A39B"/>
          </a:solidFill>
          <a:ln/>
        </p:spPr>
      </p:sp>
      <p:sp>
        <p:nvSpPr>
          <p:cNvPr id="3" name="Shape 1"/>
          <p:cNvSpPr/>
          <p:nvPr/>
        </p:nvSpPr>
        <p:spPr>
          <a:xfrm>
            <a:off x="1097280" y="685800"/>
            <a:ext cx="310896" cy="310896"/>
          </a:xfrm>
          <a:prstGeom prst="ellipse">
            <a:avLst/>
          </a:prstGeom>
          <a:solidFill>
            <a:srgbClr val="3B74E8"/>
          </a:solidFill>
          <a:ln/>
        </p:spPr>
      </p:sp>
      <p:sp>
        <p:nvSpPr>
          <p:cNvPr id="4" name="Shape 2"/>
          <p:cNvSpPr/>
          <p:nvPr/>
        </p:nvSpPr>
        <p:spPr>
          <a:xfrm>
            <a:off x="1554480" y="685800"/>
            <a:ext cx="310896" cy="310896"/>
          </a:xfrm>
          <a:prstGeom prst="ellipse">
            <a:avLst/>
          </a:prstGeom>
          <a:solidFill>
            <a:srgbClr val="FF6B4E"/>
          </a:solidFill>
          <a:ln/>
        </p:spPr>
      </p:sp>
      <p:sp>
        <p:nvSpPr>
          <p:cNvPr id="5" name="Shape 3"/>
          <p:cNvSpPr/>
          <p:nvPr/>
        </p:nvSpPr>
        <p:spPr>
          <a:xfrm>
            <a:off x="2011680" y="685800"/>
            <a:ext cx="310896" cy="310896"/>
          </a:xfrm>
          <a:prstGeom prst="ellipse">
            <a:avLst/>
          </a:prstGeom>
          <a:solidFill>
            <a:srgbClr val="FFC63C"/>
          </a:solidFill>
          <a:ln/>
        </p:spPr>
      </p:sp>
      <p:sp>
        <p:nvSpPr>
          <p:cNvPr id="6" name="Shape 4"/>
          <p:cNvSpPr/>
          <p:nvPr/>
        </p:nvSpPr>
        <p:spPr>
          <a:xfrm>
            <a:off x="2468880" y="685800"/>
            <a:ext cx="310896" cy="310896"/>
          </a:xfrm>
          <a:prstGeom prst="ellipse">
            <a:avLst/>
          </a:prstGeom>
          <a:solidFill>
            <a:srgbClr val="8B6BE8"/>
          </a:solidFill>
          <a:ln/>
        </p:spPr>
      </p:sp>
      <p:sp>
        <p:nvSpPr>
          <p:cNvPr id="7" name="Text 5"/>
          <p:cNvSpPr txBox="1"/>
          <p:nvPr/>
        </p:nvSpPr>
        <p:spPr>
          <a:xfrm>
            <a:off x="640080" y="1234440"/>
            <a:ext cx="8229600" cy="320040"/>
          </a:xfrm>
          <a:prstGeom prst="rect">
            <a:avLst/>
          </a:prstGeom>
          <a:noFill/>
          <a:ln/>
        </p:spPr>
        <p:txBody>
          <a:bodyPr wrap="square" lIns="0" tIns="0" rIns="0" bIns="0" rtlCol="0" anchor="t"/>
          <a:lstStyle/>
          <a:p>
            <a:pPr indent="0" marL="0">
              <a:buNone/>
            </a:pPr>
            <a:r>
              <a:rPr lang="en-US" sz="1300" b="1" spc="400" kern="0" dirty="0">
                <a:solidFill>
                  <a:srgbClr val="9FB3BD"/>
                </a:solidFill>
                <a:latin typeface="Century Gothic" pitchFamily="34" charset="0"/>
                <a:ea typeface="Century Gothic" pitchFamily="34" charset="-122"/>
                <a:cs typeface="Century Gothic" pitchFamily="34" charset="-120"/>
              </a:rPr>
              <a:t>WEEK 9 · DAY 1 · ENCOUNTERING EVIL</a:t>
            </a:r>
            <a:endParaRPr lang="en-US" sz="1300" dirty="0"/>
          </a:p>
        </p:txBody>
      </p:sp>
      <p:sp>
        <p:nvSpPr>
          <p:cNvPr id="8" name="Text 6"/>
          <p:cNvSpPr txBox="1"/>
          <p:nvPr/>
        </p:nvSpPr>
        <p:spPr>
          <a:xfrm>
            <a:off x="640080" y="1645920"/>
            <a:ext cx="10515600" cy="1737360"/>
          </a:xfrm>
          <a:prstGeom prst="rect">
            <a:avLst/>
          </a:prstGeom>
          <a:noFill/>
          <a:ln/>
        </p:spPr>
        <p:txBody>
          <a:bodyPr wrap="square" lIns="0" tIns="0" rIns="0" bIns="0" rtlCol="0" anchor="t"/>
          <a:lstStyle/>
          <a:p>
            <a:pPr indent="0" marL="0">
              <a:buNone/>
            </a:pPr>
            <a:r>
              <a:rPr lang="en-US" sz="4800" b="1" dirty="0">
                <a:solidFill>
                  <a:srgbClr val="FFFFFF"/>
                </a:solidFill>
                <a:latin typeface="Century Gothic" pitchFamily="34" charset="0"/>
                <a:ea typeface="Century Gothic" pitchFamily="34" charset="-122"/>
                <a:cs typeface="Century Gothic" pitchFamily="34" charset="-120"/>
              </a:rPr>
              <a:t>Anne and Peter:</a:t>
            </a:r>
            <a:endParaRPr lang="en-US" sz="4800" dirty="0"/>
          </a:p>
          <a:p>
            <a:pPr indent="0" marL="0">
              <a:buNone/>
            </a:pPr>
            <a:r>
              <a:rPr lang="en-US" sz="4800" b="1" dirty="0">
                <a:solidFill>
                  <a:srgbClr val="FFFFFF"/>
                </a:solidFill>
                <a:latin typeface="Century Gothic" pitchFamily="34" charset="0"/>
                <a:ea typeface="Century Gothic" pitchFamily="34" charset="-122"/>
                <a:cs typeface="Century Gothic" pitchFamily="34" charset="-120"/>
              </a:rPr>
              <a:t>A Changed Perspective</a:t>
            </a:r>
            <a:endParaRPr lang="en-US" sz="4800" dirty="0"/>
          </a:p>
        </p:txBody>
      </p:sp>
      <p:sp>
        <p:nvSpPr>
          <p:cNvPr id="9" name="Text 7"/>
          <p:cNvSpPr txBox="1"/>
          <p:nvPr/>
        </p:nvSpPr>
        <p:spPr>
          <a:xfrm>
            <a:off x="640080" y="3429000"/>
            <a:ext cx="10789920" cy="365760"/>
          </a:xfrm>
          <a:prstGeom prst="rect">
            <a:avLst/>
          </a:prstGeom>
          <a:noFill/>
          <a:ln/>
        </p:spPr>
        <p:txBody>
          <a:bodyPr wrap="square" lIns="0" tIns="0" rIns="0" bIns="0" rtlCol="0" anchor="t"/>
          <a:lstStyle/>
          <a:p>
            <a:pPr indent="0" marL="0">
              <a:buNone/>
            </a:pPr>
            <a:r>
              <a:rPr lang="en-US" sz="1500" dirty="0">
                <a:solidFill>
                  <a:srgbClr val="C9D4DA"/>
                </a:solidFill>
                <a:latin typeface="Century Gothic" pitchFamily="34" charset="0"/>
                <a:ea typeface="Century Gothic" pitchFamily="34" charset="-122"/>
                <a:cs typeface="Century Gothic" pitchFamily="34" charset="-120"/>
              </a:rPr>
              <a:t>The Diary of Anne Frank · Act II, Scenes 1–2 · pp. 749–766 · plus Anne’s real diary, 29 March 1944</a:t>
            </a:r>
            <a:endParaRPr lang="en-US" sz="1500" dirty="0"/>
          </a:p>
        </p:txBody>
      </p:sp>
      <p:sp>
        <p:nvSpPr>
          <p:cNvPr id="10" name="Shape 8"/>
          <p:cNvSpPr/>
          <p:nvPr/>
        </p:nvSpPr>
        <p:spPr>
          <a:xfrm>
            <a:off x="640080" y="4114800"/>
            <a:ext cx="5303520" cy="2103120"/>
          </a:xfrm>
          <a:prstGeom prst="roundRect">
            <a:avLst>
              <a:gd name="adj" fmla="val 7826"/>
            </a:avLst>
          </a:prstGeom>
          <a:solidFill>
            <a:srgbClr val="00A39B"/>
          </a:solidFill>
          <a:ln/>
        </p:spPr>
      </p:sp>
      <p:sp>
        <p:nvSpPr>
          <p:cNvPr id="11" name="Text 9"/>
          <p:cNvSpPr txBox="1"/>
          <p:nvPr/>
        </p:nvSpPr>
        <p:spPr>
          <a:xfrm>
            <a:off x="914400" y="4297680"/>
            <a:ext cx="4754880" cy="274320"/>
          </a:xfrm>
          <a:prstGeom prst="rect">
            <a:avLst/>
          </a:prstGeom>
          <a:noFill/>
          <a:ln/>
        </p:spPr>
        <p:txBody>
          <a:bodyPr wrap="square" lIns="0" tIns="0" rIns="0" bIns="0" rtlCol="0" anchor="t"/>
          <a:lstStyle/>
          <a:p>
            <a:pPr indent="0" marL="0">
              <a:buNone/>
            </a:pPr>
            <a:r>
              <a:rPr lang="en-US" sz="1100" b="1" spc="300" kern="0" dirty="0">
                <a:solidFill>
                  <a:srgbClr val="FFFFFF"/>
                </a:solidFill>
                <a:latin typeface="Century Gothic" pitchFamily="34" charset="0"/>
                <a:ea typeface="Century Gothic" pitchFamily="34" charset="-122"/>
                <a:cs typeface="Century Gothic" pitchFamily="34" charset="-120"/>
              </a:rPr>
              <a:t>ESSENTIAL QUESTION</a:t>
            </a:r>
            <a:endParaRPr lang="en-US" sz="1100" dirty="0"/>
          </a:p>
        </p:txBody>
      </p:sp>
      <p:sp>
        <p:nvSpPr>
          <p:cNvPr id="12" name="Text 10"/>
          <p:cNvSpPr txBox="1"/>
          <p:nvPr/>
        </p:nvSpPr>
        <p:spPr>
          <a:xfrm>
            <a:off x="914400" y="4617720"/>
            <a:ext cx="4754880" cy="1463040"/>
          </a:xfrm>
          <a:prstGeom prst="rect">
            <a:avLst/>
          </a:prstGeom>
          <a:noFill/>
          <a:ln/>
        </p:spPr>
        <p:txBody>
          <a:bodyPr wrap="square" lIns="0" tIns="0" rIns="0" bIns="0" rtlCol="0" anchor="t"/>
          <a:lstStyle/>
          <a:p>
            <a:pPr indent="0" marL="0">
              <a:buNone/>
            </a:pPr>
            <a:r>
              <a:rPr lang="en-US" sz="1700" dirty="0">
                <a:solidFill>
                  <a:srgbClr val="FFFFFF"/>
                </a:solidFill>
                <a:latin typeface="Century Gothic" pitchFamily="34" charset="0"/>
                <a:ea typeface="Century Gothic" pitchFamily="34" charset="-122"/>
                <a:cs typeface="Century Gothic" pitchFamily="34" charset="-120"/>
              </a:rPr>
              <a:t>How does Anne’s new relationship with Peter change her perspective, and what specific lines of text reveal that change?</a:t>
            </a:r>
            <a:endParaRPr lang="en-US" sz="1700" dirty="0"/>
          </a:p>
        </p:txBody>
      </p:sp>
      <p:sp>
        <p:nvSpPr>
          <p:cNvPr id="13" name="Shape 11"/>
          <p:cNvSpPr/>
          <p:nvPr/>
        </p:nvSpPr>
        <p:spPr>
          <a:xfrm>
            <a:off x="6217920" y="4114800"/>
            <a:ext cx="5303520" cy="2103120"/>
          </a:xfrm>
          <a:prstGeom prst="roundRect">
            <a:avLst>
              <a:gd name="adj" fmla="val 7826"/>
            </a:avLst>
          </a:prstGeom>
          <a:solidFill>
            <a:srgbClr val="FFC63C"/>
          </a:solidFill>
          <a:ln/>
        </p:spPr>
      </p:sp>
      <p:sp>
        <p:nvSpPr>
          <p:cNvPr id="14" name="Text 12"/>
          <p:cNvSpPr txBox="1"/>
          <p:nvPr/>
        </p:nvSpPr>
        <p:spPr>
          <a:xfrm>
            <a:off x="6492240" y="4297680"/>
            <a:ext cx="4754880" cy="274320"/>
          </a:xfrm>
          <a:prstGeom prst="rect">
            <a:avLst/>
          </a:prstGeom>
          <a:noFill/>
          <a:ln/>
        </p:spPr>
        <p:txBody>
          <a:bodyPr wrap="square" lIns="0" tIns="0" rIns="0" bIns="0" rtlCol="0" anchor="t"/>
          <a:lstStyle/>
          <a:p>
            <a:pPr indent="0" marL="0">
              <a:buNone/>
            </a:pPr>
            <a:r>
              <a:rPr lang="en-US" sz="1100" b="1" spc="300" kern="0" dirty="0">
                <a:solidFill>
                  <a:srgbClr val="3A2A00"/>
                </a:solidFill>
                <a:latin typeface="Century Gothic" pitchFamily="34" charset="0"/>
                <a:ea typeface="Century Gothic" pitchFamily="34" charset="-122"/>
                <a:cs typeface="Century Gothic" pitchFamily="34" charset="-120"/>
              </a:rPr>
              <a:t>LEARNING TARGET</a:t>
            </a:r>
            <a:endParaRPr lang="en-US" sz="1100" dirty="0"/>
          </a:p>
        </p:txBody>
      </p:sp>
      <p:sp>
        <p:nvSpPr>
          <p:cNvPr id="15" name="Text 13"/>
          <p:cNvSpPr txBox="1"/>
          <p:nvPr/>
        </p:nvSpPr>
        <p:spPr>
          <a:xfrm>
            <a:off x="6492240" y="4617720"/>
            <a:ext cx="4754880" cy="1554480"/>
          </a:xfrm>
          <a:prstGeom prst="rect">
            <a:avLst/>
          </a:prstGeom>
          <a:noFill/>
          <a:ln/>
        </p:spPr>
        <p:txBody>
          <a:bodyPr wrap="square" lIns="0" tIns="0" rIns="0" bIns="0" rtlCol="0" anchor="t"/>
          <a:lstStyle/>
          <a:p>
            <a:pPr indent="0" marL="0">
              <a:buNone/>
            </a:pPr>
            <a:r>
              <a:rPr lang="en-US" sz="1450" dirty="0">
                <a:solidFill>
                  <a:srgbClr val="3A2A00"/>
                </a:solidFill>
                <a:latin typeface="Century Gothic" pitchFamily="34" charset="0"/>
                <a:ea typeface="Century Gothic" pitchFamily="34" charset="-122"/>
                <a:cs typeface="Century Gothic" pitchFamily="34" charset="-120"/>
              </a:rPr>
              <a:t>I can analyze how Anne’s relationship with Peter changes her perspective, use specific lines from the play as evidence, and compare the play’s portrayal of Anne with her March 29, 1944 diary entry.</a:t>
            </a:r>
            <a:endParaRPr lang="en-US" sz="145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B98100"/>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B98100"/>
                </a:solidFill>
                <a:latin typeface="Century Gothic" pitchFamily="34" charset="0"/>
                <a:ea typeface="Century Gothic" pitchFamily="34" charset="-122"/>
                <a:cs typeface="Century Gothic" pitchFamily="34" charset="-120"/>
              </a:rPr>
              <a:t>01</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Do Now</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Write privately for 2–3 minutes. You do not have to share personal details aloud.</a:t>
            </a:r>
            <a:endParaRPr lang="en-US" sz="1400" dirty="0"/>
          </a:p>
        </p:txBody>
      </p:sp>
      <p:sp>
        <p:nvSpPr>
          <p:cNvPr id="6" name="Shape 4"/>
          <p:cNvSpPr/>
          <p:nvPr/>
        </p:nvSpPr>
        <p:spPr>
          <a:xfrm>
            <a:off x="8668512" y="566928"/>
            <a:ext cx="3063240" cy="347472"/>
          </a:xfrm>
          <a:prstGeom prst="roundRect">
            <a:avLst>
              <a:gd name="adj" fmla="val 50000"/>
            </a:avLst>
          </a:prstGeom>
          <a:solidFill>
            <a:srgbClr val="B98100"/>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1 · BOX 01</a:t>
            </a:r>
            <a:endParaRPr lang="en-US" sz="1100" dirty="0"/>
          </a:p>
        </p:txBody>
      </p:sp>
      <p:sp>
        <p:nvSpPr>
          <p:cNvPr id="8" name="Shape 6"/>
          <p:cNvSpPr/>
          <p:nvPr/>
        </p:nvSpPr>
        <p:spPr>
          <a:xfrm>
            <a:off x="457200" y="1691640"/>
            <a:ext cx="11274552" cy="3291840"/>
          </a:xfrm>
          <a:prstGeom prst="roundRect">
            <a:avLst>
              <a:gd name="adj" fmla="val 5000"/>
            </a:avLst>
          </a:prstGeom>
          <a:solidFill>
            <a:srgbClr val="FFF1C9"/>
          </a:solidFill>
          <a:ln/>
        </p:spPr>
      </p:sp>
      <p:sp>
        <p:nvSpPr>
          <p:cNvPr id="9" name="Text 7"/>
          <p:cNvSpPr txBox="1"/>
          <p:nvPr/>
        </p:nvSpPr>
        <p:spPr>
          <a:xfrm>
            <a:off x="914400" y="2057400"/>
            <a:ext cx="10332720" cy="1371600"/>
          </a:xfrm>
          <a:prstGeom prst="rect">
            <a:avLst/>
          </a:prstGeom>
          <a:noFill/>
          <a:ln/>
        </p:spPr>
        <p:txBody>
          <a:bodyPr wrap="square" lIns="0" tIns="0" rIns="0" bIns="0" rtlCol="0" anchor="t"/>
          <a:lstStyle/>
          <a:p>
            <a:pPr indent="0" marL="0">
              <a:buNone/>
            </a:pPr>
            <a:r>
              <a:rPr lang="en-US" sz="3400" b="1" dirty="0">
                <a:solidFill>
                  <a:srgbClr val="1E2A32"/>
                </a:solidFill>
                <a:latin typeface="Century Gothic" pitchFamily="34" charset="0"/>
                <a:ea typeface="Century Gothic" pitchFamily="34" charset="-122"/>
                <a:cs typeface="Century Gothic" pitchFamily="34" charset="-120"/>
              </a:rPr>
              <a:t>Think of a time a new friendship changed how you saw a problem, a place, or yourself.</a:t>
            </a:r>
            <a:endParaRPr lang="en-US" sz="3400" dirty="0"/>
          </a:p>
        </p:txBody>
      </p:sp>
      <p:sp>
        <p:nvSpPr>
          <p:cNvPr id="10" name="Text 8"/>
          <p:cNvSpPr txBox="1"/>
          <p:nvPr/>
        </p:nvSpPr>
        <p:spPr>
          <a:xfrm>
            <a:off x="914400" y="3611880"/>
            <a:ext cx="10332720" cy="822960"/>
          </a:xfrm>
          <a:prstGeom prst="rect">
            <a:avLst/>
          </a:prstGeom>
          <a:noFill/>
          <a:ln/>
        </p:spPr>
        <p:txBody>
          <a:bodyPr wrap="square" lIns="0" tIns="0" rIns="0" bIns="0" rtlCol="0" anchor="t"/>
          <a:lstStyle/>
          <a:p>
            <a:pPr indent="0" marL="0">
              <a:buNone/>
            </a:pPr>
            <a:r>
              <a:rPr lang="en-US" sz="3400" b="1" dirty="0">
                <a:solidFill>
                  <a:srgbClr val="B98100"/>
                </a:solidFill>
                <a:latin typeface="Century Gothic" pitchFamily="34" charset="0"/>
                <a:ea typeface="Century Gothic" pitchFamily="34" charset="-122"/>
                <a:cs typeface="Century Gothic" pitchFamily="34" charset="-120"/>
              </a:rPr>
              <a:t>What changed, and what caused it?</a:t>
            </a:r>
            <a:endParaRPr lang="en-US" sz="3400" dirty="0"/>
          </a:p>
        </p:txBody>
      </p:sp>
      <p:sp>
        <p:nvSpPr>
          <p:cNvPr id="11" name="Shape 9"/>
          <p:cNvSpPr/>
          <p:nvPr/>
        </p:nvSpPr>
        <p:spPr>
          <a:xfrm>
            <a:off x="457200" y="5349240"/>
            <a:ext cx="2011680" cy="347472"/>
          </a:xfrm>
          <a:prstGeom prst="roundRect">
            <a:avLst>
              <a:gd name="adj" fmla="val 50000"/>
            </a:avLst>
          </a:prstGeom>
          <a:solidFill>
            <a:srgbClr val="FFC63C"/>
          </a:solidFill>
          <a:ln/>
        </p:spPr>
      </p:sp>
      <p:sp>
        <p:nvSpPr>
          <p:cNvPr id="12" name="Text 10"/>
          <p:cNvSpPr txBox="1"/>
          <p:nvPr/>
        </p:nvSpPr>
        <p:spPr>
          <a:xfrm>
            <a:off x="457200" y="5349240"/>
            <a:ext cx="2011680" cy="347472"/>
          </a:xfrm>
          <a:prstGeom prst="rect">
            <a:avLst/>
          </a:prstGeom>
          <a:noFill/>
          <a:ln/>
        </p:spPr>
        <p:txBody>
          <a:bodyPr wrap="square" lIns="0" tIns="0" rIns="0" bIns="0" rtlCol="0" anchor="ctr"/>
          <a:lstStyle/>
          <a:p>
            <a:pPr algn="ctr" indent="0" marL="0">
              <a:buNone/>
            </a:pPr>
            <a:r>
              <a:rPr lang="en-US" sz="1100" b="1" spc="200" kern="0" dirty="0">
                <a:solidFill>
                  <a:srgbClr val="3A2A00"/>
                </a:solidFill>
                <a:latin typeface="Century Gothic" pitchFamily="34" charset="0"/>
                <a:ea typeface="Century Gothic" pitchFamily="34" charset="-122"/>
                <a:cs typeface="Century Gothic" pitchFamily="34" charset="-120"/>
              </a:rPr>
              <a:t>3 MINUTES</a:t>
            </a:r>
            <a:endParaRPr lang="en-US" sz="1100" dirty="0"/>
          </a:p>
        </p:txBody>
      </p:sp>
      <p:sp>
        <p:nvSpPr>
          <p:cNvPr id="13" name="Text 11"/>
          <p:cNvSpPr txBox="1"/>
          <p:nvPr/>
        </p:nvSpPr>
        <p:spPr>
          <a:xfrm>
            <a:off x="2697480" y="5349240"/>
            <a:ext cx="5486400" cy="347472"/>
          </a:xfrm>
          <a:prstGeom prst="rect">
            <a:avLst/>
          </a:prstGeom>
          <a:noFill/>
          <a:ln/>
        </p:spPr>
        <p:txBody>
          <a:bodyPr wrap="square" lIns="0" tIns="0" rIns="0" bIns="0" rtlCol="0" anchor="ctr"/>
          <a:lstStyle/>
          <a:p>
            <a:pPr indent="0" marL="0">
              <a:buNone/>
            </a:pPr>
            <a:r>
              <a:rPr lang="en-US" sz="1600" dirty="0">
                <a:solidFill>
                  <a:srgbClr val="5A6B75"/>
                </a:solidFill>
                <a:latin typeface="Century Gothic" pitchFamily="34" charset="0"/>
                <a:ea typeface="Century Gothic" pitchFamily="34" charset="-122"/>
                <a:cs typeface="Century Gothic" pitchFamily="34" charset="-120"/>
              </a:rPr>
              <a:t>Private first. Volunteers only.</a:t>
            </a:r>
            <a:endParaRPr lang="en-US" sz="16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DF442A"/>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DF442A"/>
                </a:solidFill>
                <a:latin typeface="Century Gothic" pitchFamily="34" charset="0"/>
                <a:ea typeface="Century Gothic" pitchFamily="34" charset="-122"/>
                <a:cs typeface="Century Gothic" pitchFamily="34" charset="-120"/>
              </a:rPr>
              <a:t>→</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A change needs a BEFORE and an AFTER</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Hold onto your Do Now. We’re about to measure this exact thing in Anne.</a:t>
            </a:r>
            <a:endParaRPr lang="en-US" sz="1400" dirty="0"/>
          </a:p>
        </p:txBody>
      </p:sp>
      <p:sp>
        <p:nvSpPr>
          <p:cNvPr id="6" name="Shape 4"/>
          <p:cNvSpPr/>
          <p:nvPr/>
        </p:nvSpPr>
        <p:spPr>
          <a:xfrm>
            <a:off x="457200" y="1828800"/>
            <a:ext cx="3429000" cy="2377440"/>
          </a:xfrm>
          <a:prstGeom prst="roundRect">
            <a:avLst>
              <a:gd name="adj" fmla="val 6923"/>
            </a:avLst>
          </a:prstGeom>
          <a:solidFill>
            <a:srgbClr val="DAE7FF"/>
          </a:solidFill>
          <a:ln/>
        </p:spPr>
      </p:sp>
      <p:sp>
        <p:nvSpPr>
          <p:cNvPr id="7" name="Text 5"/>
          <p:cNvSpPr txBox="1"/>
          <p:nvPr/>
        </p:nvSpPr>
        <p:spPr>
          <a:xfrm>
            <a:off x="731520" y="2148840"/>
            <a:ext cx="2926080" cy="731520"/>
          </a:xfrm>
          <a:prstGeom prst="rect">
            <a:avLst/>
          </a:prstGeom>
          <a:noFill/>
          <a:ln/>
        </p:spPr>
        <p:txBody>
          <a:bodyPr wrap="square" lIns="0" tIns="0" rIns="0" bIns="0" rtlCol="0" anchor="t"/>
          <a:lstStyle/>
          <a:p>
            <a:pPr indent="0" marL="0">
              <a:buNone/>
            </a:pPr>
            <a:r>
              <a:rPr lang="en-US" sz="3600" b="1" dirty="0">
                <a:solidFill>
                  <a:srgbClr val="2A56B5"/>
                </a:solidFill>
                <a:latin typeface="Century Gothic" pitchFamily="34" charset="0"/>
                <a:ea typeface="Century Gothic" pitchFamily="34" charset="-122"/>
                <a:cs typeface="Century Gothic" pitchFamily="34" charset="-120"/>
              </a:rPr>
              <a:t>BEFORE</a:t>
            </a:r>
            <a:endParaRPr lang="en-US" sz="3600" dirty="0"/>
          </a:p>
        </p:txBody>
      </p:sp>
      <p:sp>
        <p:nvSpPr>
          <p:cNvPr id="8" name="Text 6"/>
          <p:cNvSpPr txBox="1"/>
          <p:nvPr/>
        </p:nvSpPr>
        <p:spPr>
          <a:xfrm>
            <a:off x="731520" y="3017520"/>
            <a:ext cx="2926080" cy="914400"/>
          </a:xfrm>
          <a:prstGeom prst="rect">
            <a:avLst/>
          </a:prstGeom>
          <a:noFill/>
          <a:ln/>
        </p:spPr>
        <p:txBody>
          <a:bodyPr wrap="square" lIns="0" tIns="0" rIns="0" bIns="0" rtlCol="0" anchor="t"/>
          <a:lstStyle/>
          <a:p>
            <a:pPr indent="0" marL="0">
              <a:buNone/>
            </a:pPr>
            <a:r>
              <a:rPr lang="en-US" sz="2000" dirty="0">
                <a:solidFill>
                  <a:srgbClr val="1E2A32"/>
                </a:solidFill>
                <a:latin typeface="Century Gothic" pitchFamily="34" charset="0"/>
                <a:ea typeface="Century Gothic" pitchFamily="34" charset="-122"/>
                <a:cs typeface="Century Gothic" pitchFamily="34" charset="-120"/>
              </a:rPr>
              <a:t>how you used to see it</a:t>
            </a:r>
            <a:endParaRPr lang="en-US" sz="2000" dirty="0"/>
          </a:p>
        </p:txBody>
      </p:sp>
      <p:sp>
        <p:nvSpPr>
          <p:cNvPr id="9" name="Text 7"/>
          <p:cNvSpPr txBox="1"/>
          <p:nvPr/>
        </p:nvSpPr>
        <p:spPr>
          <a:xfrm>
            <a:off x="3913632" y="2606040"/>
            <a:ext cx="411480" cy="731520"/>
          </a:xfrm>
          <a:prstGeom prst="rect">
            <a:avLst/>
          </a:prstGeom>
          <a:noFill/>
          <a:ln/>
        </p:spPr>
        <p:txBody>
          <a:bodyPr wrap="square" lIns="0" tIns="0" rIns="0" bIns="0" rtlCol="0" anchor="t"/>
          <a:lstStyle/>
          <a:p>
            <a:pPr algn="ctr" indent="0" marL="0">
              <a:buNone/>
            </a:pPr>
            <a:r>
              <a:rPr lang="en-US" sz="3600" b="1" dirty="0">
                <a:solidFill>
                  <a:srgbClr val="5A6B75"/>
                </a:solidFill>
                <a:latin typeface="Century Gothic" pitchFamily="34" charset="0"/>
                <a:ea typeface="Century Gothic" pitchFamily="34" charset="-122"/>
                <a:cs typeface="Century Gothic" pitchFamily="34" charset="-120"/>
              </a:rPr>
              <a:t>→</a:t>
            </a:r>
            <a:endParaRPr lang="en-US" sz="3600" dirty="0"/>
          </a:p>
        </p:txBody>
      </p:sp>
      <p:sp>
        <p:nvSpPr>
          <p:cNvPr id="10" name="Shape 8"/>
          <p:cNvSpPr/>
          <p:nvPr/>
        </p:nvSpPr>
        <p:spPr>
          <a:xfrm>
            <a:off x="4343400" y="1828800"/>
            <a:ext cx="3429000" cy="2377440"/>
          </a:xfrm>
          <a:prstGeom prst="roundRect">
            <a:avLst>
              <a:gd name="adj" fmla="val 6923"/>
            </a:avLst>
          </a:prstGeom>
          <a:solidFill>
            <a:srgbClr val="FFE1D6"/>
          </a:solidFill>
          <a:ln/>
        </p:spPr>
      </p:sp>
      <p:sp>
        <p:nvSpPr>
          <p:cNvPr id="11" name="Text 9"/>
          <p:cNvSpPr txBox="1"/>
          <p:nvPr/>
        </p:nvSpPr>
        <p:spPr>
          <a:xfrm>
            <a:off x="4617720" y="2148840"/>
            <a:ext cx="2926080" cy="731520"/>
          </a:xfrm>
          <a:prstGeom prst="rect">
            <a:avLst/>
          </a:prstGeom>
          <a:noFill/>
          <a:ln/>
        </p:spPr>
        <p:txBody>
          <a:bodyPr wrap="square" lIns="0" tIns="0" rIns="0" bIns="0" rtlCol="0" anchor="t"/>
          <a:lstStyle/>
          <a:p>
            <a:pPr indent="0" marL="0">
              <a:buNone/>
            </a:pPr>
            <a:r>
              <a:rPr lang="en-US" sz="3600" b="1" dirty="0">
                <a:solidFill>
                  <a:srgbClr val="DF442A"/>
                </a:solidFill>
                <a:latin typeface="Century Gothic" pitchFamily="34" charset="0"/>
                <a:ea typeface="Century Gothic" pitchFamily="34" charset="-122"/>
                <a:cs typeface="Century Gothic" pitchFamily="34" charset="-120"/>
              </a:rPr>
              <a:t>CAUSE</a:t>
            </a:r>
            <a:endParaRPr lang="en-US" sz="3600" dirty="0"/>
          </a:p>
        </p:txBody>
      </p:sp>
      <p:sp>
        <p:nvSpPr>
          <p:cNvPr id="12" name="Text 10"/>
          <p:cNvSpPr txBox="1"/>
          <p:nvPr/>
        </p:nvSpPr>
        <p:spPr>
          <a:xfrm>
            <a:off x="4617720" y="3017520"/>
            <a:ext cx="2926080" cy="914400"/>
          </a:xfrm>
          <a:prstGeom prst="rect">
            <a:avLst/>
          </a:prstGeom>
          <a:noFill/>
          <a:ln/>
        </p:spPr>
        <p:txBody>
          <a:bodyPr wrap="square" lIns="0" tIns="0" rIns="0" bIns="0" rtlCol="0" anchor="t"/>
          <a:lstStyle/>
          <a:p>
            <a:pPr indent="0" marL="0">
              <a:buNone/>
            </a:pPr>
            <a:r>
              <a:rPr lang="en-US" sz="2000" dirty="0">
                <a:solidFill>
                  <a:srgbClr val="1E2A32"/>
                </a:solidFill>
                <a:latin typeface="Century Gothic" pitchFamily="34" charset="0"/>
                <a:ea typeface="Century Gothic" pitchFamily="34" charset="-122"/>
                <a:cs typeface="Century Gothic" pitchFamily="34" charset="-120"/>
              </a:rPr>
              <a:t>the new friendship</a:t>
            </a:r>
            <a:endParaRPr lang="en-US" sz="2000" dirty="0"/>
          </a:p>
        </p:txBody>
      </p:sp>
      <p:sp>
        <p:nvSpPr>
          <p:cNvPr id="13" name="Text 11"/>
          <p:cNvSpPr txBox="1"/>
          <p:nvPr/>
        </p:nvSpPr>
        <p:spPr>
          <a:xfrm>
            <a:off x="7799832" y="2606040"/>
            <a:ext cx="411480" cy="731520"/>
          </a:xfrm>
          <a:prstGeom prst="rect">
            <a:avLst/>
          </a:prstGeom>
          <a:noFill/>
          <a:ln/>
        </p:spPr>
        <p:txBody>
          <a:bodyPr wrap="square" lIns="0" tIns="0" rIns="0" bIns="0" rtlCol="0" anchor="t"/>
          <a:lstStyle/>
          <a:p>
            <a:pPr algn="ctr" indent="0" marL="0">
              <a:buNone/>
            </a:pPr>
            <a:r>
              <a:rPr lang="en-US" sz="3600" b="1" dirty="0">
                <a:solidFill>
                  <a:srgbClr val="5A6B75"/>
                </a:solidFill>
                <a:latin typeface="Century Gothic" pitchFamily="34" charset="0"/>
                <a:ea typeface="Century Gothic" pitchFamily="34" charset="-122"/>
                <a:cs typeface="Century Gothic" pitchFamily="34" charset="-120"/>
              </a:rPr>
              <a:t>→</a:t>
            </a:r>
            <a:endParaRPr lang="en-US" sz="3600" dirty="0"/>
          </a:p>
        </p:txBody>
      </p:sp>
      <p:sp>
        <p:nvSpPr>
          <p:cNvPr id="14" name="Shape 12"/>
          <p:cNvSpPr/>
          <p:nvPr/>
        </p:nvSpPr>
        <p:spPr>
          <a:xfrm>
            <a:off x="8229600" y="1828800"/>
            <a:ext cx="3429000" cy="2377440"/>
          </a:xfrm>
          <a:prstGeom prst="roundRect">
            <a:avLst>
              <a:gd name="adj" fmla="val 6923"/>
            </a:avLst>
          </a:prstGeom>
          <a:solidFill>
            <a:srgbClr val="C8F1EB"/>
          </a:solidFill>
          <a:ln/>
        </p:spPr>
      </p:sp>
      <p:sp>
        <p:nvSpPr>
          <p:cNvPr id="15" name="Text 13"/>
          <p:cNvSpPr txBox="1"/>
          <p:nvPr/>
        </p:nvSpPr>
        <p:spPr>
          <a:xfrm>
            <a:off x="8503920" y="2148840"/>
            <a:ext cx="2926080" cy="731520"/>
          </a:xfrm>
          <a:prstGeom prst="rect">
            <a:avLst/>
          </a:prstGeom>
          <a:noFill/>
          <a:ln/>
        </p:spPr>
        <p:txBody>
          <a:bodyPr wrap="square" lIns="0" tIns="0" rIns="0" bIns="0" rtlCol="0" anchor="t"/>
          <a:lstStyle/>
          <a:p>
            <a:pPr indent="0" marL="0">
              <a:buNone/>
            </a:pPr>
            <a:r>
              <a:rPr lang="en-US" sz="3600" b="1" dirty="0">
                <a:solidFill>
                  <a:srgbClr val="007A73"/>
                </a:solidFill>
                <a:latin typeface="Century Gothic" pitchFamily="34" charset="0"/>
                <a:ea typeface="Century Gothic" pitchFamily="34" charset="-122"/>
                <a:cs typeface="Century Gothic" pitchFamily="34" charset="-120"/>
              </a:rPr>
              <a:t>AFTER</a:t>
            </a:r>
            <a:endParaRPr lang="en-US" sz="3600" dirty="0"/>
          </a:p>
        </p:txBody>
      </p:sp>
      <p:sp>
        <p:nvSpPr>
          <p:cNvPr id="16" name="Text 14"/>
          <p:cNvSpPr txBox="1"/>
          <p:nvPr/>
        </p:nvSpPr>
        <p:spPr>
          <a:xfrm>
            <a:off x="8503920" y="3017520"/>
            <a:ext cx="2926080" cy="914400"/>
          </a:xfrm>
          <a:prstGeom prst="rect">
            <a:avLst/>
          </a:prstGeom>
          <a:noFill/>
          <a:ln/>
        </p:spPr>
        <p:txBody>
          <a:bodyPr wrap="square" lIns="0" tIns="0" rIns="0" bIns="0" rtlCol="0" anchor="t"/>
          <a:lstStyle/>
          <a:p>
            <a:pPr indent="0" marL="0">
              <a:buNone/>
            </a:pPr>
            <a:r>
              <a:rPr lang="en-US" sz="2000" dirty="0">
                <a:solidFill>
                  <a:srgbClr val="1E2A32"/>
                </a:solidFill>
                <a:latin typeface="Century Gothic" pitchFamily="34" charset="0"/>
                <a:ea typeface="Century Gothic" pitchFamily="34" charset="-122"/>
                <a:cs typeface="Century Gothic" pitchFamily="34" charset="-120"/>
              </a:rPr>
              <a:t>how you see it now</a:t>
            </a:r>
            <a:endParaRPr lang="en-US" sz="2000" dirty="0"/>
          </a:p>
        </p:txBody>
      </p:sp>
      <p:sp>
        <p:nvSpPr>
          <p:cNvPr id="17" name="Shape 15"/>
          <p:cNvSpPr/>
          <p:nvPr/>
        </p:nvSpPr>
        <p:spPr>
          <a:xfrm>
            <a:off x="457200" y="4617720"/>
            <a:ext cx="11274552" cy="1234440"/>
          </a:xfrm>
          <a:prstGeom prst="roundRect">
            <a:avLst>
              <a:gd name="adj" fmla="val 13333"/>
            </a:avLst>
          </a:prstGeom>
          <a:solidFill>
            <a:srgbClr val="1E2A32"/>
          </a:solidFill>
          <a:ln/>
        </p:spPr>
      </p:sp>
      <p:sp>
        <p:nvSpPr>
          <p:cNvPr id="18" name="Text 16"/>
          <p:cNvSpPr txBox="1"/>
          <p:nvPr/>
        </p:nvSpPr>
        <p:spPr>
          <a:xfrm>
            <a:off x="822960" y="4754880"/>
            <a:ext cx="10607040" cy="960120"/>
          </a:xfrm>
          <a:prstGeom prst="rect">
            <a:avLst/>
          </a:prstGeom>
          <a:noFill/>
          <a:ln/>
        </p:spPr>
        <p:txBody>
          <a:bodyPr wrap="square" lIns="0" tIns="0" rIns="0" bIns="0" rtlCol="0" anchor="ctr"/>
          <a:lstStyle/>
          <a:p>
            <a:pPr indent="0" marL="0">
              <a:buNone/>
            </a:pPr>
            <a:r>
              <a:rPr lang="en-US" sz="2000" b="1" dirty="0">
                <a:solidFill>
                  <a:srgbClr val="FFC63C"/>
                </a:solidFill>
                <a:latin typeface="Century Gothic" pitchFamily="34" charset="0"/>
                <a:ea typeface="Century Gothic" pitchFamily="34" charset="-122"/>
                <a:cs typeface="Century Gothic" pitchFamily="34" charset="-120"/>
              </a:rPr>
              <a:t>Today: </a:t>
            </a:r>
            <a:pPr indent="0" marL="0">
              <a:buNone/>
            </a:pPr>
            <a:r>
              <a:rPr lang="en-US" sz="2000" dirty="0">
                <a:solidFill>
                  <a:srgbClr val="FFFFFF"/>
                </a:solidFill>
                <a:latin typeface="Century Gothic" pitchFamily="34" charset="0"/>
                <a:ea typeface="Century Gothic" pitchFamily="34" charset="-122"/>
                <a:cs typeface="Century Gothic" pitchFamily="34" charset="-120"/>
              </a:rPr>
              <a:t>What changes in Anne once she gains a confidant her own age? To measure her AFTER, we need her BEFORE first.</a:t>
            </a:r>
            <a:endParaRPr lang="en-US" sz="20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2A56B5"/>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2A56B5"/>
                </a:solidFill>
                <a:latin typeface="Century Gothic" pitchFamily="34" charset="0"/>
                <a:ea typeface="Century Gothic" pitchFamily="34" charset="-122"/>
                <a:cs typeface="Century Gothic" pitchFamily="34" charset="-120"/>
              </a:rPr>
              <a:t>02</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Characterization Quick Tool</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Characterization = how a writer reveals who a character is.</a:t>
            </a:r>
            <a:endParaRPr lang="en-US" sz="1400" dirty="0"/>
          </a:p>
        </p:txBody>
      </p:sp>
      <p:sp>
        <p:nvSpPr>
          <p:cNvPr id="6" name="Shape 4"/>
          <p:cNvSpPr/>
          <p:nvPr/>
        </p:nvSpPr>
        <p:spPr>
          <a:xfrm>
            <a:off x="8668512" y="566928"/>
            <a:ext cx="3063240" cy="347472"/>
          </a:xfrm>
          <a:prstGeom prst="roundRect">
            <a:avLst>
              <a:gd name="adj" fmla="val 50000"/>
            </a:avLst>
          </a:prstGeom>
          <a:solidFill>
            <a:srgbClr val="3B74E8"/>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1 · BOX 02</a:t>
            </a:r>
            <a:endParaRPr lang="en-US" sz="1100" dirty="0"/>
          </a:p>
        </p:txBody>
      </p:sp>
      <p:sp>
        <p:nvSpPr>
          <p:cNvPr id="8" name="Shape 6"/>
          <p:cNvSpPr/>
          <p:nvPr/>
        </p:nvSpPr>
        <p:spPr>
          <a:xfrm>
            <a:off x="457200" y="1600200"/>
            <a:ext cx="5486400" cy="1005840"/>
          </a:xfrm>
          <a:prstGeom prst="roundRect">
            <a:avLst>
              <a:gd name="adj" fmla="val 16364"/>
            </a:avLst>
          </a:prstGeom>
          <a:solidFill>
            <a:srgbClr val="DAE7FF"/>
          </a:solidFill>
          <a:ln/>
        </p:spPr>
      </p:sp>
      <p:sp>
        <p:nvSpPr>
          <p:cNvPr id="9" name="Text 7"/>
          <p:cNvSpPr txBox="1"/>
          <p:nvPr/>
        </p:nvSpPr>
        <p:spPr>
          <a:xfrm>
            <a:off x="731520" y="1600200"/>
            <a:ext cx="5029200" cy="1005840"/>
          </a:xfrm>
          <a:prstGeom prst="rect">
            <a:avLst/>
          </a:prstGeom>
          <a:noFill/>
          <a:ln/>
        </p:spPr>
        <p:txBody>
          <a:bodyPr wrap="square" lIns="0" tIns="0" rIns="0" bIns="0" rtlCol="0" anchor="ctr"/>
          <a:lstStyle/>
          <a:p>
            <a:pPr indent="0" marL="0">
              <a:buNone/>
            </a:pPr>
            <a:r>
              <a:rPr lang="en-US" sz="2000" b="1" dirty="0">
                <a:solidFill>
                  <a:srgbClr val="2A56B5"/>
                </a:solidFill>
                <a:latin typeface="Century Gothic" pitchFamily="34" charset="0"/>
                <a:ea typeface="Century Gothic" pitchFamily="34" charset="-122"/>
                <a:cs typeface="Century Gothic" pitchFamily="34" charset="-120"/>
              </a:rPr>
              <a:t>DIRECT  </a:t>
            </a:r>
            <a:pPr indent="0" marL="0">
              <a:buNone/>
            </a:pPr>
            <a:r>
              <a:rPr lang="en-US" sz="2000" dirty="0">
                <a:solidFill>
                  <a:srgbClr val="1E2A32"/>
                </a:solidFill>
                <a:latin typeface="Century Gothic" pitchFamily="34" charset="0"/>
                <a:ea typeface="Century Gothic" pitchFamily="34" charset="-122"/>
                <a:cs typeface="Century Gothic" pitchFamily="34" charset="-120"/>
              </a:rPr>
              <a:t>the text </a:t>
            </a:r>
            <a:pPr indent="0" marL="0">
              <a:buNone/>
            </a:pPr>
            <a:r>
              <a:rPr lang="en-US" sz="2000" b="1" dirty="0">
                <a:solidFill>
                  <a:srgbClr val="1E2A32"/>
                </a:solidFill>
                <a:latin typeface="Century Gothic" pitchFamily="34" charset="0"/>
                <a:ea typeface="Century Gothic" pitchFamily="34" charset="-122"/>
                <a:cs typeface="Century Gothic" pitchFamily="34" charset="-120"/>
              </a:rPr>
              <a:t>tells</a:t>
            </a:r>
            <a:pPr indent="0" marL="0">
              <a:buNone/>
            </a:pPr>
            <a:r>
              <a:rPr lang="en-US" sz="2000" dirty="0">
                <a:solidFill>
                  <a:srgbClr val="1E2A32"/>
                </a:solidFill>
                <a:latin typeface="Century Gothic" pitchFamily="34" charset="0"/>
                <a:ea typeface="Century Gothic" pitchFamily="34" charset="-122"/>
                <a:cs typeface="Century Gothic" pitchFamily="34" charset="-120"/>
              </a:rPr>
              <a:t> us</a:t>
            </a:r>
            <a:endParaRPr lang="en-US" sz="2000" dirty="0"/>
          </a:p>
        </p:txBody>
      </p:sp>
      <p:sp>
        <p:nvSpPr>
          <p:cNvPr id="10" name="Shape 8"/>
          <p:cNvSpPr/>
          <p:nvPr/>
        </p:nvSpPr>
        <p:spPr>
          <a:xfrm>
            <a:off x="6245352" y="1600200"/>
            <a:ext cx="5486400" cy="1005840"/>
          </a:xfrm>
          <a:prstGeom prst="roundRect">
            <a:avLst>
              <a:gd name="adj" fmla="val 16364"/>
            </a:avLst>
          </a:prstGeom>
          <a:solidFill>
            <a:srgbClr val="DAE7FF"/>
          </a:solidFill>
          <a:ln/>
        </p:spPr>
      </p:sp>
      <p:sp>
        <p:nvSpPr>
          <p:cNvPr id="11" name="Text 9"/>
          <p:cNvSpPr txBox="1"/>
          <p:nvPr/>
        </p:nvSpPr>
        <p:spPr>
          <a:xfrm>
            <a:off x="6519672" y="1600200"/>
            <a:ext cx="5029200" cy="1005840"/>
          </a:xfrm>
          <a:prstGeom prst="rect">
            <a:avLst/>
          </a:prstGeom>
          <a:noFill/>
          <a:ln/>
        </p:spPr>
        <p:txBody>
          <a:bodyPr wrap="square" lIns="0" tIns="0" rIns="0" bIns="0" rtlCol="0" anchor="ctr"/>
          <a:lstStyle/>
          <a:p>
            <a:pPr indent="0" marL="0">
              <a:buNone/>
            </a:pPr>
            <a:r>
              <a:rPr lang="en-US" sz="2000" b="1" dirty="0">
                <a:solidFill>
                  <a:srgbClr val="2A56B5"/>
                </a:solidFill>
                <a:latin typeface="Century Gothic" pitchFamily="34" charset="0"/>
                <a:ea typeface="Century Gothic" pitchFamily="34" charset="-122"/>
                <a:cs typeface="Century Gothic" pitchFamily="34" charset="-120"/>
              </a:rPr>
              <a:t>INDIRECT  </a:t>
            </a:r>
            <a:pPr indent="0" marL="0">
              <a:buNone/>
            </a:pPr>
            <a:r>
              <a:rPr lang="en-US" sz="2000" dirty="0">
                <a:solidFill>
                  <a:srgbClr val="1E2A32"/>
                </a:solidFill>
                <a:latin typeface="Century Gothic" pitchFamily="34" charset="0"/>
                <a:ea typeface="Century Gothic" pitchFamily="34" charset="-122"/>
                <a:cs typeface="Century Gothic" pitchFamily="34" charset="-120"/>
              </a:rPr>
              <a:t>the text </a:t>
            </a:r>
            <a:pPr indent="0" marL="0">
              <a:buNone/>
            </a:pPr>
            <a:r>
              <a:rPr lang="en-US" sz="2000" b="1" dirty="0">
                <a:solidFill>
                  <a:srgbClr val="1E2A32"/>
                </a:solidFill>
                <a:latin typeface="Century Gothic" pitchFamily="34" charset="0"/>
                <a:ea typeface="Century Gothic" pitchFamily="34" charset="-122"/>
                <a:cs typeface="Century Gothic" pitchFamily="34" charset="-120"/>
              </a:rPr>
              <a:t>shows</a:t>
            </a:r>
            <a:pPr indent="0" marL="0">
              <a:buNone/>
            </a:pPr>
            <a:r>
              <a:rPr lang="en-US" sz="2000" dirty="0">
                <a:solidFill>
                  <a:srgbClr val="1E2A32"/>
                </a:solidFill>
                <a:latin typeface="Century Gothic" pitchFamily="34" charset="0"/>
                <a:ea typeface="Century Gothic" pitchFamily="34" charset="-122"/>
                <a:cs typeface="Century Gothic" pitchFamily="34" charset="-120"/>
              </a:rPr>
              <a:t> evidence; the reader infers</a:t>
            </a:r>
            <a:endParaRPr lang="en-US" sz="2000" dirty="0"/>
          </a:p>
        </p:txBody>
      </p:sp>
      <p:sp>
        <p:nvSpPr>
          <p:cNvPr id="12" name="Shape 10"/>
          <p:cNvSpPr/>
          <p:nvPr/>
        </p:nvSpPr>
        <p:spPr>
          <a:xfrm>
            <a:off x="457200" y="2834640"/>
            <a:ext cx="2130552" cy="2331720"/>
          </a:xfrm>
          <a:prstGeom prst="roundRect">
            <a:avLst>
              <a:gd name="adj" fmla="val 7725"/>
            </a:avLst>
          </a:prstGeom>
          <a:solidFill>
            <a:srgbClr val="FFFFFF"/>
          </a:solidFill>
          <a:ln w="25400">
            <a:solidFill>
              <a:srgbClr val="3B74E8"/>
            </a:solidFill>
            <a:prstDash val="solid"/>
          </a:ln>
        </p:spPr>
      </p:sp>
      <p:sp>
        <p:nvSpPr>
          <p:cNvPr id="13" name="Shape 11"/>
          <p:cNvSpPr/>
          <p:nvPr/>
        </p:nvSpPr>
        <p:spPr>
          <a:xfrm>
            <a:off x="640080" y="3017520"/>
            <a:ext cx="658368" cy="658368"/>
          </a:xfrm>
          <a:prstGeom prst="ellipse">
            <a:avLst/>
          </a:prstGeom>
          <a:solidFill>
            <a:srgbClr val="3B74E8"/>
          </a:solidFill>
          <a:ln/>
        </p:spPr>
      </p:sp>
      <p:sp>
        <p:nvSpPr>
          <p:cNvPr id="14" name="Text 12"/>
          <p:cNvSpPr txBox="1"/>
          <p:nvPr/>
        </p:nvSpPr>
        <p:spPr>
          <a:xfrm>
            <a:off x="640080" y="301752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S</a:t>
            </a:r>
            <a:endParaRPr lang="en-US" sz="2600" dirty="0"/>
          </a:p>
        </p:txBody>
      </p:sp>
      <p:sp>
        <p:nvSpPr>
          <p:cNvPr id="15" name="Text 13"/>
          <p:cNvSpPr txBox="1"/>
          <p:nvPr/>
        </p:nvSpPr>
        <p:spPr>
          <a:xfrm>
            <a:off x="640080" y="3767328"/>
            <a:ext cx="1828800" cy="411480"/>
          </a:xfrm>
          <a:prstGeom prst="rect">
            <a:avLst/>
          </a:prstGeom>
          <a:noFill/>
          <a:ln/>
        </p:spPr>
        <p:txBody>
          <a:bodyPr wrap="square" lIns="0" tIns="0" rIns="0" bIns="0" rtlCol="0" anchor="t"/>
          <a:lstStyle/>
          <a:p>
            <a:pPr indent="0" marL="0">
              <a:buNone/>
            </a:pPr>
            <a:r>
              <a:rPr lang="en-US" sz="1350" b="1" dirty="0">
                <a:solidFill>
                  <a:srgbClr val="1E2A32"/>
                </a:solidFill>
                <a:latin typeface="Century Gothic" pitchFamily="34" charset="0"/>
                <a:ea typeface="Century Gothic" pitchFamily="34" charset="-122"/>
                <a:cs typeface="Century Gothic" pitchFamily="34" charset="-120"/>
              </a:rPr>
              <a:t>SPEECH</a:t>
            </a:r>
            <a:endParaRPr lang="en-US" sz="1350" dirty="0"/>
          </a:p>
        </p:txBody>
      </p:sp>
      <p:sp>
        <p:nvSpPr>
          <p:cNvPr id="16" name="Text 14"/>
          <p:cNvSpPr txBox="1"/>
          <p:nvPr/>
        </p:nvSpPr>
        <p:spPr>
          <a:xfrm>
            <a:off x="640080" y="4160520"/>
            <a:ext cx="1810512" cy="960120"/>
          </a:xfrm>
          <a:prstGeom prst="rect">
            <a:avLst/>
          </a:prstGeom>
          <a:noFill/>
          <a:ln/>
        </p:spPr>
        <p:txBody>
          <a:bodyPr wrap="square" lIns="0" tIns="0" rIns="0" bIns="0" rtlCol="0" anchor="t"/>
          <a:lstStyle/>
          <a:p>
            <a:pPr indent="0" marL="0">
              <a:buNone/>
            </a:pPr>
            <a:r>
              <a:rPr lang="en-US" sz="1300" dirty="0">
                <a:solidFill>
                  <a:srgbClr val="5A6B75"/>
                </a:solidFill>
                <a:latin typeface="Century Gothic" pitchFamily="34" charset="0"/>
                <a:ea typeface="Century Gothic" pitchFamily="34" charset="-122"/>
                <a:cs typeface="Century Gothic" pitchFamily="34" charset="-120"/>
              </a:rPr>
              <a:t>what they say + how they say it</a:t>
            </a:r>
            <a:endParaRPr lang="en-US" sz="1300" dirty="0"/>
          </a:p>
        </p:txBody>
      </p:sp>
      <p:sp>
        <p:nvSpPr>
          <p:cNvPr id="17" name="Shape 15"/>
          <p:cNvSpPr/>
          <p:nvPr/>
        </p:nvSpPr>
        <p:spPr>
          <a:xfrm>
            <a:off x="2743200" y="2834640"/>
            <a:ext cx="2130552" cy="2331720"/>
          </a:xfrm>
          <a:prstGeom prst="roundRect">
            <a:avLst>
              <a:gd name="adj" fmla="val 7725"/>
            </a:avLst>
          </a:prstGeom>
          <a:solidFill>
            <a:srgbClr val="FFFFFF"/>
          </a:solidFill>
          <a:ln w="25400">
            <a:solidFill>
              <a:srgbClr val="3B74E8"/>
            </a:solidFill>
            <a:prstDash val="solid"/>
          </a:ln>
        </p:spPr>
      </p:sp>
      <p:sp>
        <p:nvSpPr>
          <p:cNvPr id="18" name="Shape 16"/>
          <p:cNvSpPr/>
          <p:nvPr/>
        </p:nvSpPr>
        <p:spPr>
          <a:xfrm>
            <a:off x="2926080" y="3017520"/>
            <a:ext cx="658368" cy="658368"/>
          </a:xfrm>
          <a:prstGeom prst="ellipse">
            <a:avLst/>
          </a:prstGeom>
          <a:solidFill>
            <a:srgbClr val="3B74E8"/>
          </a:solidFill>
          <a:ln/>
        </p:spPr>
      </p:sp>
      <p:sp>
        <p:nvSpPr>
          <p:cNvPr id="19" name="Text 17"/>
          <p:cNvSpPr txBox="1"/>
          <p:nvPr/>
        </p:nvSpPr>
        <p:spPr>
          <a:xfrm>
            <a:off x="2926080" y="301752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T</a:t>
            </a:r>
            <a:endParaRPr lang="en-US" sz="2600" dirty="0"/>
          </a:p>
        </p:txBody>
      </p:sp>
      <p:sp>
        <p:nvSpPr>
          <p:cNvPr id="20" name="Text 18"/>
          <p:cNvSpPr txBox="1"/>
          <p:nvPr/>
        </p:nvSpPr>
        <p:spPr>
          <a:xfrm>
            <a:off x="2926080" y="3767328"/>
            <a:ext cx="1828800" cy="411480"/>
          </a:xfrm>
          <a:prstGeom prst="rect">
            <a:avLst/>
          </a:prstGeom>
          <a:noFill/>
          <a:ln/>
        </p:spPr>
        <p:txBody>
          <a:bodyPr wrap="square" lIns="0" tIns="0" rIns="0" bIns="0" rtlCol="0" anchor="t"/>
          <a:lstStyle/>
          <a:p>
            <a:pPr indent="0" marL="0">
              <a:buNone/>
            </a:pPr>
            <a:r>
              <a:rPr lang="en-US" sz="1350" b="1" dirty="0">
                <a:solidFill>
                  <a:srgbClr val="1E2A32"/>
                </a:solidFill>
                <a:latin typeface="Century Gothic" pitchFamily="34" charset="0"/>
                <a:ea typeface="Century Gothic" pitchFamily="34" charset="-122"/>
                <a:cs typeface="Century Gothic" pitchFamily="34" charset="-120"/>
              </a:rPr>
              <a:t>THOUGHTS</a:t>
            </a:r>
            <a:endParaRPr lang="en-US" sz="1350" dirty="0"/>
          </a:p>
        </p:txBody>
      </p:sp>
      <p:sp>
        <p:nvSpPr>
          <p:cNvPr id="21" name="Text 19"/>
          <p:cNvSpPr txBox="1"/>
          <p:nvPr/>
        </p:nvSpPr>
        <p:spPr>
          <a:xfrm>
            <a:off x="2926080" y="4160520"/>
            <a:ext cx="1810512" cy="960120"/>
          </a:xfrm>
          <a:prstGeom prst="rect">
            <a:avLst/>
          </a:prstGeom>
          <a:noFill/>
          <a:ln/>
        </p:spPr>
        <p:txBody>
          <a:bodyPr wrap="square" lIns="0" tIns="0" rIns="0" bIns="0" rtlCol="0" anchor="t"/>
          <a:lstStyle/>
          <a:p>
            <a:pPr indent="0" marL="0">
              <a:buNone/>
            </a:pPr>
            <a:r>
              <a:rPr lang="en-US" sz="1300" dirty="0">
                <a:solidFill>
                  <a:srgbClr val="5A6B75"/>
                </a:solidFill>
                <a:latin typeface="Century Gothic" pitchFamily="34" charset="0"/>
                <a:ea typeface="Century Gothic" pitchFamily="34" charset="-122"/>
                <a:cs typeface="Century Gothic" pitchFamily="34" charset="-120"/>
              </a:rPr>
              <a:t>what they think, believe, fear, want (Anne’s diary voice)</a:t>
            </a:r>
            <a:endParaRPr lang="en-US" sz="1300" dirty="0"/>
          </a:p>
        </p:txBody>
      </p:sp>
      <p:sp>
        <p:nvSpPr>
          <p:cNvPr id="22" name="Shape 20"/>
          <p:cNvSpPr/>
          <p:nvPr/>
        </p:nvSpPr>
        <p:spPr>
          <a:xfrm>
            <a:off x="5029200" y="2834640"/>
            <a:ext cx="2130552" cy="2331720"/>
          </a:xfrm>
          <a:prstGeom prst="roundRect">
            <a:avLst>
              <a:gd name="adj" fmla="val 7725"/>
            </a:avLst>
          </a:prstGeom>
          <a:solidFill>
            <a:srgbClr val="FFFFFF"/>
          </a:solidFill>
          <a:ln w="25400">
            <a:solidFill>
              <a:srgbClr val="3B74E8"/>
            </a:solidFill>
            <a:prstDash val="solid"/>
          </a:ln>
        </p:spPr>
      </p:sp>
      <p:sp>
        <p:nvSpPr>
          <p:cNvPr id="23" name="Shape 21"/>
          <p:cNvSpPr/>
          <p:nvPr/>
        </p:nvSpPr>
        <p:spPr>
          <a:xfrm>
            <a:off x="5212080" y="3017520"/>
            <a:ext cx="658368" cy="658368"/>
          </a:xfrm>
          <a:prstGeom prst="ellipse">
            <a:avLst/>
          </a:prstGeom>
          <a:solidFill>
            <a:srgbClr val="3B74E8"/>
          </a:solidFill>
          <a:ln/>
        </p:spPr>
      </p:sp>
      <p:sp>
        <p:nvSpPr>
          <p:cNvPr id="24" name="Text 22"/>
          <p:cNvSpPr txBox="1"/>
          <p:nvPr/>
        </p:nvSpPr>
        <p:spPr>
          <a:xfrm>
            <a:off x="5212080" y="301752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E</a:t>
            </a:r>
            <a:endParaRPr lang="en-US" sz="2600" dirty="0"/>
          </a:p>
        </p:txBody>
      </p:sp>
      <p:sp>
        <p:nvSpPr>
          <p:cNvPr id="25" name="Text 23"/>
          <p:cNvSpPr txBox="1"/>
          <p:nvPr/>
        </p:nvSpPr>
        <p:spPr>
          <a:xfrm>
            <a:off x="5212080" y="3767328"/>
            <a:ext cx="1828800" cy="411480"/>
          </a:xfrm>
          <a:prstGeom prst="rect">
            <a:avLst/>
          </a:prstGeom>
          <a:noFill/>
          <a:ln/>
        </p:spPr>
        <p:txBody>
          <a:bodyPr wrap="square" lIns="0" tIns="0" rIns="0" bIns="0" rtlCol="0" anchor="t"/>
          <a:lstStyle/>
          <a:p>
            <a:pPr indent="0" marL="0">
              <a:buNone/>
            </a:pPr>
            <a:r>
              <a:rPr lang="en-US" sz="1350" b="1" dirty="0">
                <a:solidFill>
                  <a:srgbClr val="1E2A32"/>
                </a:solidFill>
                <a:latin typeface="Century Gothic" pitchFamily="34" charset="0"/>
                <a:ea typeface="Century Gothic" pitchFamily="34" charset="-122"/>
                <a:cs typeface="Century Gothic" pitchFamily="34" charset="-120"/>
              </a:rPr>
              <a:t>EFFECT ON OTHERS</a:t>
            </a:r>
            <a:endParaRPr lang="en-US" sz="1350" dirty="0"/>
          </a:p>
        </p:txBody>
      </p:sp>
      <p:sp>
        <p:nvSpPr>
          <p:cNvPr id="26" name="Text 24"/>
          <p:cNvSpPr txBox="1"/>
          <p:nvPr/>
        </p:nvSpPr>
        <p:spPr>
          <a:xfrm>
            <a:off x="5212080" y="4160520"/>
            <a:ext cx="1810512" cy="960120"/>
          </a:xfrm>
          <a:prstGeom prst="rect">
            <a:avLst/>
          </a:prstGeom>
          <a:noFill/>
          <a:ln/>
        </p:spPr>
        <p:txBody>
          <a:bodyPr wrap="square" lIns="0" tIns="0" rIns="0" bIns="0" rtlCol="0" anchor="t"/>
          <a:lstStyle/>
          <a:p>
            <a:pPr indent="0" marL="0">
              <a:buNone/>
            </a:pPr>
            <a:r>
              <a:rPr lang="en-US" sz="1300" dirty="0">
                <a:solidFill>
                  <a:srgbClr val="5A6B75"/>
                </a:solidFill>
                <a:latin typeface="Century Gothic" pitchFamily="34" charset="0"/>
                <a:ea typeface="Century Gothic" pitchFamily="34" charset="-122"/>
                <a:cs typeface="Century Gothic" pitchFamily="34" charset="-120"/>
              </a:rPr>
              <a:t>how other characters react to them</a:t>
            </a:r>
            <a:endParaRPr lang="en-US" sz="1300" dirty="0"/>
          </a:p>
        </p:txBody>
      </p:sp>
      <p:sp>
        <p:nvSpPr>
          <p:cNvPr id="27" name="Shape 25"/>
          <p:cNvSpPr/>
          <p:nvPr/>
        </p:nvSpPr>
        <p:spPr>
          <a:xfrm>
            <a:off x="7315200" y="2834640"/>
            <a:ext cx="2130552" cy="2331720"/>
          </a:xfrm>
          <a:prstGeom prst="roundRect">
            <a:avLst>
              <a:gd name="adj" fmla="val 7725"/>
            </a:avLst>
          </a:prstGeom>
          <a:solidFill>
            <a:srgbClr val="FFFFFF"/>
          </a:solidFill>
          <a:ln w="25400">
            <a:solidFill>
              <a:srgbClr val="3B74E8"/>
            </a:solidFill>
            <a:prstDash val="solid"/>
          </a:ln>
        </p:spPr>
      </p:sp>
      <p:sp>
        <p:nvSpPr>
          <p:cNvPr id="28" name="Shape 26"/>
          <p:cNvSpPr/>
          <p:nvPr/>
        </p:nvSpPr>
        <p:spPr>
          <a:xfrm>
            <a:off x="7498080" y="3017520"/>
            <a:ext cx="658368" cy="658368"/>
          </a:xfrm>
          <a:prstGeom prst="ellipse">
            <a:avLst/>
          </a:prstGeom>
          <a:solidFill>
            <a:srgbClr val="3B74E8"/>
          </a:solidFill>
          <a:ln/>
        </p:spPr>
      </p:sp>
      <p:sp>
        <p:nvSpPr>
          <p:cNvPr id="29" name="Text 27"/>
          <p:cNvSpPr txBox="1"/>
          <p:nvPr/>
        </p:nvSpPr>
        <p:spPr>
          <a:xfrm>
            <a:off x="7498080" y="301752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A</a:t>
            </a:r>
            <a:endParaRPr lang="en-US" sz="2600" dirty="0"/>
          </a:p>
        </p:txBody>
      </p:sp>
      <p:sp>
        <p:nvSpPr>
          <p:cNvPr id="30" name="Text 28"/>
          <p:cNvSpPr txBox="1"/>
          <p:nvPr/>
        </p:nvSpPr>
        <p:spPr>
          <a:xfrm>
            <a:off x="7498080" y="3767328"/>
            <a:ext cx="1828800" cy="411480"/>
          </a:xfrm>
          <a:prstGeom prst="rect">
            <a:avLst/>
          </a:prstGeom>
          <a:noFill/>
          <a:ln/>
        </p:spPr>
        <p:txBody>
          <a:bodyPr wrap="square" lIns="0" tIns="0" rIns="0" bIns="0" rtlCol="0" anchor="t"/>
          <a:lstStyle/>
          <a:p>
            <a:pPr indent="0" marL="0">
              <a:buNone/>
            </a:pPr>
            <a:r>
              <a:rPr lang="en-US" sz="1350" b="1" dirty="0">
                <a:solidFill>
                  <a:srgbClr val="1E2A32"/>
                </a:solidFill>
                <a:latin typeface="Century Gothic" pitchFamily="34" charset="0"/>
                <a:ea typeface="Century Gothic" pitchFamily="34" charset="-122"/>
                <a:cs typeface="Century Gothic" pitchFamily="34" charset="-120"/>
              </a:rPr>
              <a:t>ACTIONS</a:t>
            </a:r>
            <a:endParaRPr lang="en-US" sz="1350" dirty="0"/>
          </a:p>
        </p:txBody>
      </p:sp>
      <p:sp>
        <p:nvSpPr>
          <p:cNvPr id="31" name="Text 29"/>
          <p:cNvSpPr txBox="1"/>
          <p:nvPr/>
        </p:nvSpPr>
        <p:spPr>
          <a:xfrm>
            <a:off x="7498080" y="4160520"/>
            <a:ext cx="1810512" cy="960120"/>
          </a:xfrm>
          <a:prstGeom prst="rect">
            <a:avLst/>
          </a:prstGeom>
          <a:noFill/>
          <a:ln/>
        </p:spPr>
        <p:txBody>
          <a:bodyPr wrap="square" lIns="0" tIns="0" rIns="0" bIns="0" rtlCol="0" anchor="t"/>
          <a:lstStyle/>
          <a:p>
            <a:pPr indent="0" marL="0">
              <a:buNone/>
            </a:pPr>
            <a:r>
              <a:rPr lang="en-US" sz="1300" dirty="0">
                <a:solidFill>
                  <a:srgbClr val="5A6B75"/>
                </a:solidFill>
                <a:latin typeface="Century Gothic" pitchFamily="34" charset="0"/>
                <a:ea typeface="Century Gothic" pitchFamily="34" charset="-122"/>
                <a:cs typeface="Century Gothic" pitchFamily="34" charset="-120"/>
              </a:rPr>
              <a:t>what they do</a:t>
            </a:r>
            <a:endParaRPr lang="en-US" sz="1300" dirty="0"/>
          </a:p>
        </p:txBody>
      </p:sp>
      <p:sp>
        <p:nvSpPr>
          <p:cNvPr id="32" name="Shape 30"/>
          <p:cNvSpPr/>
          <p:nvPr/>
        </p:nvSpPr>
        <p:spPr>
          <a:xfrm>
            <a:off x="9601200" y="2834640"/>
            <a:ext cx="2130552" cy="2331720"/>
          </a:xfrm>
          <a:prstGeom prst="roundRect">
            <a:avLst>
              <a:gd name="adj" fmla="val 7725"/>
            </a:avLst>
          </a:prstGeom>
          <a:solidFill>
            <a:srgbClr val="FFFFFF"/>
          </a:solidFill>
          <a:ln w="25400">
            <a:solidFill>
              <a:srgbClr val="3B74E8"/>
            </a:solidFill>
            <a:prstDash val="solid"/>
          </a:ln>
        </p:spPr>
      </p:sp>
      <p:sp>
        <p:nvSpPr>
          <p:cNvPr id="33" name="Shape 31"/>
          <p:cNvSpPr/>
          <p:nvPr/>
        </p:nvSpPr>
        <p:spPr>
          <a:xfrm>
            <a:off x="9784080" y="3017520"/>
            <a:ext cx="658368" cy="658368"/>
          </a:xfrm>
          <a:prstGeom prst="ellipse">
            <a:avLst/>
          </a:prstGeom>
          <a:solidFill>
            <a:srgbClr val="3B74E8"/>
          </a:solidFill>
          <a:ln/>
        </p:spPr>
      </p:sp>
      <p:sp>
        <p:nvSpPr>
          <p:cNvPr id="34" name="Text 32"/>
          <p:cNvSpPr txBox="1"/>
          <p:nvPr/>
        </p:nvSpPr>
        <p:spPr>
          <a:xfrm>
            <a:off x="9784080" y="3017520"/>
            <a:ext cx="658368" cy="658368"/>
          </a:xfrm>
          <a:prstGeom prst="rect">
            <a:avLst/>
          </a:prstGeom>
          <a:noFill/>
          <a:ln/>
        </p:spPr>
        <p:txBody>
          <a:bodyPr wrap="square" lIns="0" tIns="0" rIns="0" bIns="0" rtlCol="0" anchor="ctr"/>
          <a:lstStyle/>
          <a:p>
            <a:pPr algn="ctr" indent="0" marL="0">
              <a:buNone/>
            </a:pPr>
            <a:r>
              <a:rPr lang="en-US" sz="2600" b="1" dirty="0">
                <a:solidFill>
                  <a:srgbClr val="FFFFFF"/>
                </a:solidFill>
                <a:latin typeface="Century Gothic" pitchFamily="34" charset="0"/>
                <a:ea typeface="Century Gothic" pitchFamily="34" charset="-122"/>
                <a:cs typeface="Century Gothic" pitchFamily="34" charset="-120"/>
              </a:rPr>
              <a:t>L</a:t>
            </a:r>
            <a:endParaRPr lang="en-US" sz="2600" dirty="0"/>
          </a:p>
        </p:txBody>
      </p:sp>
      <p:sp>
        <p:nvSpPr>
          <p:cNvPr id="35" name="Text 33"/>
          <p:cNvSpPr txBox="1"/>
          <p:nvPr/>
        </p:nvSpPr>
        <p:spPr>
          <a:xfrm>
            <a:off x="9784080" y="3767328"/>
            <a:ext cx="1828800" cy="411480"/>
          </a:xfrm>
          <a:prstGeom prst="rect">
            <a:avLst/>
          </a:prstGeom>
          <a:noFill/>
          <a:ln/>
        </p:spPr>
        <p:txBody>
          <a:bodyPr wrap="square" lIns="0" tIns="0" rIns="0" bIns="0" rtlCol="0" anchor="t"/>
          <a:lstStyle/>
          <a:p>
            <a:pPr indent="0" marL="0">
              <a:buNone/>
            </a:pPr>
            <a:r>
              <a:rPr lang="en-US" sz="1350" b="1" dirty="0">
                <a:solidFill>
                  <a:srgbClr val="1E2A32"/>
                </a:solidFill>
                <a:latin typeface="Century Gothic" pitchFamily="34" charset="0"/>
                <a:ea typeface="Century Gothic" pitchFamily="34" charset="-122"/>
                <a:cs typeface="Century Gothic" pitchFamily="34" charset="-120"/>
              </a:rPr>
              <a:t>LOOKS</a:t>
            </a:r>
            <a:endParaRPr lang="en-US" sz="1350" dirty="0"/>
          </a:p>
        </p:txBody>
      </p:sp>
      <p:sp>
        <p:nvSpPr>
          <p:cNvPr id="36" name="Text 34"/>
          <p:cNvSpPr txBox="1"/>
          <p:nvPr/>
        </p:nvSpPr>
        <p:spPr>
          <a:xfrm>
            <a:off x="9784080" y="4160520"/>
            <a:ext cx="1810512" cy="960120"/>
          </a:xfrm>
          <a:prstGeom prst="rect">
            <a:avLst/>
          </a:prstGeom>
          <a:noFill/>
          <a:ln/>
        </p:spPr>
        <p:txBody>
          <a:bodyPr wrap="square" lIns="0" tIns="0" rIns="0" bIns="0" rtlCol="0" anchor="t"/>
          <a:lstStyle/>
          <a:p>
            <a:pPr indent="0" marL="0">
              <a:buNone/>
            </a:pPr>
            <a:r>
              <a:rPr lang="en-US" sz="1300" dirty="0">
                <a:solidFill>
                  <a:srgbClr val="5A6B75"/>
                </a:solidFill>
                <a:latin typeface="Century Gothic" pitchFamily="34" charset="0"/>
                <a:ea typeface="Century Gothic" pitchFamily="34" charset="-122"/>
                <a:cs typeface="Century Gothic" pitchFamily="34" charset="-120"/>
              </a:rPr>
              <a:t>what appearance + stage directions reveal</a:t>
            </a:r>
            <a:endParaRPr lang="en-US" sz="1300" dirty="0"/>
          </a:p>
        </p:txBody>
      </p:sp>
      <p:sp>
        <p:nvSpPr>
          <p:cNvPr id="37" name="Shape 35"/>
          <p:cNvSpPr/>
          <p:nvPr/>
        </p:nvSpPr>
        <p:spPr>
          <a:xfrm>
            <a:off x="457200" y="5440680"/>
            <a:ext cx="11274552" cy="777240"/>
          </a:xfrm>
          <a:prstGeom prst="roundRect">
            <a:avLst>
              <a:gd name="adj" fmla="val 21176"/>
            </a:avLst>
          </a:prstGeom>
          <a:solidFill>
            <a:srgbClr val="1E2A32"/>
          </a:solidFill>
          <a:ln/>
        </p:spPr>
      </p:sp>
      <p:sp>
        <p:nvSpPr>
          <p:cNvPr id="38" name="Text 36"/>
          <p:cNvSpPr txBox="1"/>
          <p:nvPr/>
        </p:nvSpPr>
        <p:spPr>
          <a:xfrm>
            <a:off x="731520" y="5440680"/>
            <a:ext cx="10698480" cy="777240"/>
          </a:xfrm>
          <a:prstGeom prst="rect">
            <a:avLst/>
          </a:prstGeom>
          <a:noFill/>
          <a:ln/>
        </p:spPr>
        <p:txBody>
          <a:bodyPr wrap="square" lIns="0" tIns="0" rIns="0" bIns="0" rtlCol="0" anchor="ctr"/>
          <a:lstStyle/>
          <a:p>
            <a:pPr algn="ctr" indent="0" marL="0">
              <a:buNone/>
            </a:pPr>
            <a:r>
              <a:rPr lang="en-US" sz="2100" dirty="0">
                <a:solidFill>
                  <a:srgbClr val="FFFFFF"/>
                </a:solidFill>
                <a:latin typeface="Century Gothic" pitchFamily="34" charset="0"/>
                <a:ea typeface="Century Gothic" pitchFamily="34" charset="-122"/>
                <a:cs typeface="Century Gothic" pitchFamily="34" charset="-120"/>
              </a:rPr>
              <a:t>STEAL tells you </a:t>
            </a:r>
            <a:pPr algn="ctr" indent="0" marL="0">
              <a:buNone/>
            </a:pPr>
            <a:r>
              <a:rPr lang="en-US" sz="2100" b="1" dirty="0">
                <a:solidFill>
                  <a:srgbClr val="FFC63C"/>
                </a:solidFill>
                <a:latin typeface="Century Gothic" pitchFamily="34" charset="0"/>
                <a:ea typeface="Century Gothic" pitchFamily="34" charset="-122"/>
                <a:cs typeface="Century Gothic" pitchFamily="34" charset="-120"/>
              </a:rPr>
              <a:t>WHERE</a:t>
            </a:r>
            <a:pPr algn="ctr" indent="0" marL="0">
              <a:buNone/>
            </a:pPr>
            <a:r>
              <a:rPr lang="en-US" sz="2100" dirty="0">
                <a:solidFill>
                  <a:srgbClr val="FFFFFF"/>
                </a:solidFill>
                <a:latin typeface="Century Gothic" pitchFamily="34" charset="0"/>
                <a:ea typeface="Century Gothic" pitchFamily="34" charset="-122"/>
                <a:cs typeface="Century Gothic" pitchFamily="34" charset="-120"/>
              </a:rPr>
              <a:t> the evidence comes from. Analysis tells you </a:t>
            </a:r>
            <a:pPr algn="ctr" indent="0" marL="0">
              <a:buNone/>
            </a:pPr>
            <a:r>
              <a:rPr lang="en-US" sz="2100" b="1" dirty="0">
                <a:solidFill>
                  <a:srgbClr val="FFC63C"/>
                </a:solidFill>
                <a:latin typeface="Century Gothic" pitchFamily="34" charset="0"/>
                <a:ea typeface="Century Gothic" pitchFamily="34" charset="-122"/>
                <a:cs typeface="Century Gothic" pitchFamily="34" charset="-120"/>
              </a:rPr>
              <a:t>WHAT</a:t>
            </a:r>
            <a:pPr algn="ctr" indent="0" marL="0">
              <a:buNone/>
            </a:pPr>
            <a:r>
              <a:rPr lang="en-US" sz="2100" dirty="0">
                <a:solidFill>
                  <a:srgbClr val="FFFFFF"/>
                </a:solidFill>
                <a:latin typeface="Century Gothic" pitchFamily="34" charset="0"/>
                <a:ea typeface="Century Gothic" pitchFamily="34" charset="-122"/>
                <a:cs typeface="Century Gothic" pitchFamily="34" charset="-120"/>
              </a:rPr>
              <a:t> the evidence reveals.</a:t>
            </a:r>
            <a:endParaRPr lang="en-US" sz="21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6746C7"/>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6746C7"/>
                </a:solidFill>
                <a:latin typeface="Century Gothic" pitchFamily="34" charset="0"/>
                <a:ea typeface="Century Gothic" pitchFamily="34" charset="-122"/>
                <a:cs typeface="Century Gothic" pitchFamily="34" charset="-120"/>
              </a:rPr>
              <a:t>03</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Anne: Act I Baseline</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The first months of hiding, 1942. Anne is 13; Peter is 16.</a:t>
            </a:r>
            <a:endParaRPr lang="en-US" sz="1400" dirty="0"/>
          </a:p>
        </p:txBody>
      </p:sp>
      <p:sp>
        <p:nvSpPr>
          <p:cNvPr id="6" name="Shape 4"/>
          <p:cNvSpPr/>
          <p:nvPr/>
        </p:nvSpPr>
        <p:spPr>
          <a:xfrm>
            <a:off x="8668512" y="566928"/>
            <a:ext cx="3063240" cy="347472"/>
          </a:xfrm>
          <a:prstGeom prst="roundRect">
            <a:avLst>
              <a:gd name="adj" fmla="val 50000"/>
            </a:avLst>
          </a:prstGeom>
          <a:solidFill>
            <a:srgbClr val="8B6BE8"/>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1 · BOX 03</a:t>
            </a:r>
            <a:endParaRPr lang="en-US" sz="1100" dirty="0"/>
          </a:p>
        </p:txBody>
      </p:sp>
      <p:sp>
        <p:nvSpPr>
          <p:cNvPr id="8" name="Shape 6"/>
          <p:cNvSpPr/>
          <p:nvPr/>
        </p:nvSpPr>
        <p:spPr>
          <a:xfrm>
            <a:off x="457200" y="1600200"/>
            <a:ext cx="5486400" cy="3246120"/>
          </a:xfrm>
          <a:prstGeom prst="roundRect">
            <a:avLst>
              <a:gd name="adj" fmla="val 5070"/>
            </a:avLst>
          </a:prstGeom>
          <a:solidFill>
            <a:srgbClr val="E8DEFF"/>
          </a:solidFill>
          <a:ln/>
        </p:spPr>
      </p:sp>
      <p:sp>
        <p:nvSpPr>
          <p:cNvPr id="9" name="Text 7"/>
          <p:cNvSpPr txBox="1"/>
          <p:nvPr/>
        </p:nvSpPr>
        <p:spPr>
          <a:xfrm>
            <a:off x="731520" y="1783080"/>
            <a:ext cx="4937760" cy="274320"/>
          </a:xfrm>
          <a:prstGeom prst="rect">
            <a:avLst/>
          </a:prstGeom>
          <a:noFill/>
          <a:ln/>
        </p:spPr>
        <p:txBody>
          <a:bodyPr wrap="square" lIns="0" tIns="0" rIns="0" bIns="0" rtlCol="0" anchor="t"/>
          <a:lstStyle/>
          <a:p>
            <a:pPr indent="0" marL="0">
              <a:buNone/>
            </a:pPr>
            <a:r>
              <a:rPr lang="en-US" sz="1200" b="1" spc="300" kern="0" dirty="0">
                <a:solidFill>
                  <a:srgbClr val="6746C7"/>
                </a:solidFill>
                <a:latin typeface="Century Gothic" pitchFamily="34" charset="0"/>
                <a:ea typeface="Century Gothic" pitchFamily="34" charset="-122"/>
                <a:cs typeface="Century Gothic" pitchFamily="34" charset="-120"/>
              </a:rPr>
              <a:t>MODEL</a:t>
            </a:r>
            <a:endParaRPr lang="en-US" sz="1200" dirty="0"/>
          </a:p>
        </p:txBody>
      </p:sp>
      <p:sp>
        <p:nvSpPr>
          <p:cNvPr id="10" name="Text 8"/>
          <p:cNvSpPr txBox="1"/>
          <p:nvPr/>
        </p:nvSpPr>
        <p:spPr>
          <a:xfrm>
            <a:off x="731520" y="2103120"/>
            <a:ext cx="4937760" cy="548640"/>
          </a:xfrm>
          <a:prstGeom prst="rect">
            <a:avLst/>
          </a:prstGeom>
          <a:noFill/>
          <a:ln/>
        </p:spPr>
        <p:txBody>
          <a:bodyPr wrap="square" lIns="0" tIns="0" rIns="0" bIns="0" rtlCol="0" anchor="t"/>
          <a:lstStyle/>
          <a:p>
            <a:pPr indent="0" marL="0">
              <a:buNone/>
            </a:pPr>
            <a:r>
              <a:rPr lang="en-US" sz="1350" dirty="0">
                <a:solidFill>
                  <a:srgbClr val="5A6B75"/>
                </a:solidFill>
                <a:latin typeface="Century Gothic" pitchFamily="34" charset="0"/>
                <a:ea typeface="Century Gothic" pitchFamily="34" charset="-122"/>
                <a:cs typeface="Century Gothic" pitchFamily="34" charset="-120"/>
              </a:rPr>
              <a:t>Anne writes in her diary about her mother:</a:t>
            </a:r>
            <a:endParaRPr lang="en-US" sz="1350" dirty="0"/>
          </a:p>
        </p:txBody>
      </p:sp>
      <p:sp>
        <p:nvSpPr>
          <p:cNvPr id="11" name="Text 9"/>
          <p:cNvSpPr txBox="1"/>
          <p:nvPr/>
        </p:nvSpPr>
        <p:spPr>
          <a:xfrm>
            <a:off x="731520" y="2651760"/>
            <a:ext cx="4937760" cy="1143000"/>
          </a:xfrm>
          <a:prstGeom prst="rect">
            <a:avLst/>
          </a:prstGeom>
          <a:noFill/>
          <a:ln/>
        </p:spPr>
        <p:txBody>
          <a:bodyPr wrap="square" lIns="0" tIns="0" rIns="0" bIns="0" rtlCol="0" anchor="t"/>
          <a:lstStyle/>
          <a:p>
            <a:pPr indent="0" marL="0">
              <a:buNone/>
            </a:pPr>
            <a:r>
              <a:rPr lang="en-US" sz="2100" b="1" dirty="0">
                <a:solidFill>
                  <a:srgbClr val="1E2A32"/>
                </a:solidFill>
                <a:latin typeface="Century Gothic" pitchFamily="34" charset="0"/>
                <a:ea typeface="Century Gothic" pitchFamily="34" charset="-122"/>
                <a:cs typeface="Century Gothic" pitchFamily="34" charset="-120"/>
              </a:rPr>
              <a:t>“Mother is unbearable. She insists on treating me like a baby, which I loathe.”</a:t>
            </a:r>
            <a:pPr indent="0" marL="0">
              <a:buNone/>
            </a:pPr>
            <a:r>
              <a:rPr lang="en-US" sz="1500" b="1" dirty="0">
                <a:solidFill>
                  <a:srgbClr val="5A6B75"/>
                </a:solidFill>
                <a:latin typeface="Century Gothic" pitchFamily="34" charset="0"/>
                <a:ea typeface="Century Gothic" pitchFamily="34" charset="-122"/>
                <a:cs typeface="Century Gothic" pitchFamily="34" charset="-120"/>
              </a:rPr>
              <a:t>  (p. 712)</a:t>
            </a:r>
            <a:endParaRPr lang="en-US" sz="2100" dirty="0"/>
          </a:p>
        </p:txBody>
      </p:sp>
      <p:sp>
        <p:nvSpPr>
          <p:cNvPr id="12" name="Text 10"/>
          <p:cNvSpPr txBox="1"/>
          <p:nvPr/>
        </p:nvSpPr>
        <p:spPr>
          <a:xfrm>
            <a:off x="731520" y="4114800"/>
            <a:ext cx="4937760" cy="548640"/>
          </a:xfrm>
          <a:prstGeom prst="rect">
            <a:avLst/>
          </a:prstGeom>
          <a:noFill/>
          <a:ln/>
        </p:spPr>
        <p:txBody>
          <a:bodyPr wrap="square" lIns="0" tIns="0" rIns="0" bIns="0" rtlCol="0" anchor="t"/>
          <a:lstStyle/>
          <a:p>
            <a:pPr indent="0" marL="0">
              <a:buNone/>
            </a:pPr>
            <a:r>
              <a:rPr lang="en-US" sz="1350" b="1" dirty="0">
                <a:solidFill>
                  <a:srgbClr val="6746C7"/>
                </a:solidFill>
                <a:latin typeface="Century Gothic" pitchFamily="34" charset="0"/>
                <a:ea typeface="Century Gothic" pitchFamily="34" charset="-122"/>
                <a:cs typeface="Century Gothic" pitchFamily="34" charset="-120"/>
              </a:rPr>
              <a:t>STEAL: ______     What does it reveal about Anne? ______</a:t>
            </a:r>
            <a:endParaRPr lang="en-US" sz="1350" dirty="0"/>
          </a:p>
        </p:txBody>
      </p:sp>
      <p:sp>
        <p:nvSpPr>
          <p:cNvPr id="13" name="Shape 11"/>
          <p:cNvSpPr/>
          <p:nvPr/>
        </p:nvSpPr>
        <p:spPr>
          <a:xfrm>
            <a:off x="6245352" y="1600200"/>
            <a:ext cx="5486400" cy="3246120"/>
          </a:xfrm>
          <a:prstGeom prst="roundRect">
            <a:avLst>
              <a:gd name="adj" fmla="val 5070"/>
            </a:avLst>
          </a:prstGeom>
          <a:solidFill>
            <a:srgbClr val="FFE1D6"/>
          </a:solidFill>
          <a:ln/>
        </p:spPr>
      </p:sp>
      <p:sp>
        <p:nvSpPr>
          <p:cNvPr id="14" name="Text 12"/>
          <p:cNvSpPr txBox="1"/>
          <p:nvPr/>
        </p:nvSpPr>
        <p:spPr>
          <a:xfrm>
            <a:off x="6519672" y="1783080"/>
            <a:ext cx="4937760" cy="274320"/>
          </a:xfrm>
          <a:prstGeom prst="rect">
            <a:avLst/>
          </a:prstGeom>
          <a:noFill/>
          <a:ln/>
        </p:spPr>
        <p:txBody>
          <a:bodyPr wrap="square" lIns="0" tIns="0" rIns="0" bIns="0" rtlCol="0" anchor="t"/>
          <a:lstStyle/>
          <a:p>
            <a:pPr indent="0" marL="0">
              <a:buNone/>
            </a:pPr>
            <a:r>
              <a:rPr lang="en-US" sz="1200" b="1" spc="300" kern="0" dirty="0">
                <a:solidFill>
                  <a:srgbClr val="DF442A"/>
                </a:solidFill>
                <a:latin typeface="Century Gothic" pitchFamily="34" charset="0"/>
                <a:ea typeface="Century Gothic" pitchFamily="34" charset="-122"/>
                <a:cs typeface="Century Gothic" pitchFamily="34" charset="-120"/>
              </a:rPr>
              <a:t>YOU TRY · 90 SECONDS</a:t>
            </a:r>
            <a:endParaRPr lang="en-US" sz="1200" dirty="0"/>
          </a:p>
        </p:txBody>
      </p:sp>
      <p:sp>
        <p:nvSpPr>
          <p:cNvPr id="15" name="Text 13"/>
          <p:cNvSpPr txBox="1"/>
          <p:nvPr/>
        </p:nvSpPr>
        <p:spPr>
          <a:xfrm>
            <a:off x="6519672" y="2103120"/>
            <a:ext cx="4937760" cy="548640"/>
          </a:xfrm>
          <a:prstGeom prst="rect">
            <a:avLst/>
          </a:prstGeom>
          <a:noFill/>
          <a:ln/>
        </p:spPr>
        <p:txBody>
          <a:bodyPr wrap="square" lIns="0" tIns="0" rIns="0" bIns="0" rtlCol="0" anchor="t"/>
          <a:lstStyle/>
          <a:p>
            <a:pPr indent="0" marL="0">
              <a:buNone/>
            </a:pPr>
            <a:r>
              <a:rPr lang="en-US" sz="1350" dirty="0">
                <a:solidFill>
                  <a:srgbClr val="5A6B75"/>
                </a:solidFill>
                <a:latin typeface="Century Gothic" pitchFamily="34" charset="0"/>
                <a:ea typeface="Century Gothic" pitchFamily="34" charset="-122"/>
                <a:cs typeface="Century Gothic" pitchFamily="34" charset="-120"/>
              </a:rPr>
              <a:t>Peter teases Anne with her old school nickname, “Mrs. Quack Quack.” Anne snaps back:</a:t>
            </a:r>
            <a:endParaRPr lang="en-US" sz="1350" dirty="0"/>
          </a:p>
        </p:txBody>
      </p:sp>
      <p:sp>
        <p:nvSpPr>
          <p:cNvPr id="16" name="Text 14"/>
          <p:cNvSpPr txBox="1"/>
          <p:nvPr/>
        </p:nvSpPr>
        <p:spPr>
          <a:xfrm>
            <a:off x="6519672" y="2651760"/>
            <a:ext cx="4937760" cy="1143000"/>
          </a:xfrm>
          <a:prstGeom prst="rect">
            <a:avLst/>
          </a:prstGeom>
          <a:noFill/>
          <a:ln/>
        </p:spPr>
        <p:txBody>
          <a:bodyPr wrap="square" lIns="0" tIns="0" rIns="0" bIns="0" rtlCol="0" anchor="t"/>
          <a:lstStyle/>
          <a:p>
            <a:pPr indent="0" marL="0">
              <a:buNone/>
            </a:pPr>
            <a:r>
              <a:rPr lang="en-US" sz="2100" b="1" dirty="0">
                <a:solidFill>
                  <a:srgbClr val="1E2A32"/>
                </a:solidFill>
                <a:latin typeface="Century Gothic" pitchFamily="34" charset="0"/>
                <a:ea typeface="Century Gothic" pitchFamily="34" charset="-122"/>
                <a:cs typeface="Century Gothic" pitchFamily="34" charset="-120"/>
              </a:rPr>
              <a:t>“You are the most intolerable, insufferable boy I’ve ever met!”</a:t>
            </a:r>
            <a:pPr indent="0" marL="0">
              <a:buNone/>
            </a:pPr>
            <a:r>
              <a:rPr lang="en-US" sz="1500" b="1" dirty="0">
                <a:solidFill>
                  <a:srgbClr val="5A6B75"/>
                </a:solidFill>
                <a:latin typeface="Century Gothic" pitchFamily="34" charset="0"/>
                <a:ea typeface="Century Gothic" pitchFamily="34" charset="-122"/>
                <a:cs typeface="Century Gothic" pitchFamily="34" charset="-120"/>
              </a:rPr>
              <a:t>  (p. 715)</a:t>
            </a:r>
            <a:endParaRPr lang="en-US" sz="2100" dirty="0"/>
          </a:p>
        </p:txBody>
      </p:sp>
      <p:sp>
        <p:nvSpPr>
          <p:cNvPr id="17" name="Text 15"/>
          <p:cNvSpPr txBox="1"/>
          <p:nvPr/>
        </p:nvSpPr>
        <p:spPr>
          <a:xfrm>
            <a:off x="6519672" y="4114800"/>
            <a:ext cx="4937760" cy="548640"/>
          </a:xfrm>
          <a:prstGeom prst="rect">
            <a:avLst/>
          </a:prstGeom>
          <a:noFill/>
          <a:ln/>
        </p:spPr>
        <p:txBody>
          <a:bodyPr wrap="square" lIns="0" tIns="0" rIns="0" bIns="0" rtlCol="0" anchor="t"/>
          <a:lstStyle/>
          <a:p>
            <a:pPr indent="0" marL="0">
              <a:buNone/>
            </a:pPr>
            <a:r>
              <a:rPr lang="en-US" sz="1350" b="1" dirty="0">
                <a:solidFill>
                  <a:srgbClr val="DF442A"/>
                </a:solidFill>
                <a:latin typeface="Century Gothic" pitchFamily="34" charset="0"/>
                <a:ea typeface="Century Gothic" pitchFamily="34" charset="-122"/>
                <a:cs typeface="Century Gothic" pitchFamily="34" charset="-120"/>
              </a:rPr>
              <a:t>STEAL: ______     What does it reveal about Anne? ______</a:t>
            </a:r>
            <a:endParaRPr lang="en-US" sz="1350" dirty="0"/>
          </a:p>
        </p:txBody>
      </p:sp>
      <p:sp>
        <p:nvSpPr>
          <p:cNvPr id="18" name="Shape 16"/>
          <p:cNvSpPr/>
          <p:nvPr/>
        </p:nvSpPr>
        <p:spPr>
          <a:xfrm>
            <a:off x="457200" y="5074920"/>
            <a:ext cx="11274552" cy="1143000"/>
          </a:xfrm>
          <a:prstGeom prst="roundRect">
            <a:avLst>
              <a:gd name="adj" fmla="val 14400"/>
            </a:avLst>
          </a:prstGeom>
          <a:solidFill>
            <a:srgbClr val="FFFFFF"/>
          </a:solidFill>
          <a:ln w="25400">
            <a:solidFill>
              <a:srgbClr val="8B6BE8"/>
            </a:solidFill>
            <a:prstDash val="solid"/>
          </a:ln>
        </p:spPr>
      </p:sp>
      <p:sp>
        <p:nvSpPr>
          <p:cNvPr id="19" name="Text 17"/>
          <p:cNvSpPr txBox="1"/>
          <p:nvPr/>
        </p:nvSpPr>
        <p:spPr>
          <a:xfrm>
            <a:off x="777240" y="5120640"/>
            <a:ext cx="10698480" cy="1051560"/>
          </a:xfrm>
          <a:prstGeom prst="rect">
            <a:avLst/>
          </a:prstGeom>
          <a:noFill/>
          <a:ln/>
        </p:spPr>
        <p:txBody>
          <a:bodyPr wrap="square" lIns="0" tIns="0" rIns="0" bIns="0" rtlCol="0" anchor="ctr"/>
          <a:lstStyle/>
          <a:p>
            <a:pPr indent="0" marL="0">
              <a:buNone/>
            </a:pPr>
            <a:r>
              <a:rPr lang="en-US" sz="1900" b="1" dirty="0">
                <a:solidFill>
                  <a:srgbClr val="6746C7"/>
                </a:solidFill>
                <a:latin typeface="Century Gothic" pitchFamily="34" charset="0"/>
                <a:ea typeface="Century Gothic" pitchFamily="34" charset="-122"/>
                <a:cs typeface="Century Gothic" pitchFamily="34" charset="-120"/>
              </a:rPr>
              <a:t>Who was her confidant then? Who took her seriously?
</a:t>
            </a:r>
            <a:pPr indent="0" marL="0">
              <a:buNone/>
            </a:pPr>
            <a:r>
              <a:rPr lang="en-US" sz="1900" dirty="0">
                <a:solidFill>
                  <a:srgbClr val="1E2A32"/>
                </a:solidFill>
                <a:latin typeface="Century Gothic" pitchFamily="34" charset="0"/>
                <a:ea typeface="Century Gothic" pitchFamily="34" charset="-122"/>
                <a:cs typeface="Century Gothic" pitchFamily="34" charset="-120"/>
              </a:rPr>
              <a:t>Before Peter becomes someone Anne trusts, Anne tends to _______________________.</a:t>
            </a:r>
            <a:endParaRPr lang="en-US" sz="19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007A73"/>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007A73"/>
                </a:solidFill>
                <a:latin typeface="Century Gothic" pitchFamily="34" charset="0"/>
                <a:ea typeface="Century Gothic" pitchFamily="34" charset="-122"/>
                <a:cs typeface="Century Gothic" pitchFamily="34" charset="-120"/>
              </a:rPr>
              <a:t>04</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From STEAL to Perspective Change</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Act II · New Year’s Day, 1944 · a year and a half in hiding</a:t>
            </a:r>
            <a:endParaRPr lang="en-US" sz="1400" dirty="0"/>
          </a:p>
        </p:txBody>
      </p:sp>
      <p:sp>
        <p:nvSpPr>
          <p:cNvPr id="6" name="Shape 4"/>
          <p:cNvSpPr/>
          <p:nvPr/>
        </p:nvSpPr>
        <p:spPr>
          <a:xfrm>
            <a:off x="8668512" y="566928"/>
            <a:ext cx="3063240" cy="347472"/>
          </a:xfrm>
          <a:prstGeom prst="roundRect">
            <a:avLst>
              <a:gd name="adj" fmla="val 50000"/>
            </a:avLst>
          </a:prstGeom>
          <a:solidFill>
            <a:srgbClr val="00A39B"/>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2</a:t>
            </a:r>
            <a:endParaRPr lang="en-US" sz="1100" dirty="0"/>
          </a:p>
        </p:txBody>
      </p:sp>
      <p:sp>
        <p:nvSpPr>
          <p:cNvPr id="8" name="Shape 6"/>
          <p:cNvSpPr/>
          <p:nvPr/>
        </p:nvSpPr>
        <p:spPr>
          <a:xfrm>
            <a:off x="457200" y="1600200"/>
            <a:ext cx="11274552" cy="1417320"/>
          </a:xfrm>
          <a:prstGeom prst="roundRect">
            <a:avLst>
              <a:gd name="adj" fmla="val 11613"/>
            </a:avLst>
          </a:prstGeom>
          <a:solidFill>
            <a:srgbClr val="00A39B"/>
          </a:solidFill>
          <a:ln/>
        </p:spPr>
      </p:sp>
      <p:sp>
        <p:nvSpPr>
          <p:cNvPr id="9" name="Text 7"/>
          <p:cNvSpPr txBox="1"/>
          <p:nvPr/>
        </p:nvSpPr>
        <p:spPr>
          <a:xfrm>
            <a:off x="822960" y="1691640"/>
            <a:ext cx="10607040" cy="1234440"/>
          </a:xfrm>
          <a:prstGeom prst="rect">
            <a:avLst/>
          </a:prstGeom>
          <a:noFill/>
          <a:ln/>
        </p:spPr>
        <p:txBody>
          <a:bodyPr wrap="square" lIns="0" tIns="0" rIns="0" bIns="0" rtlCol="0" anchor="ctr"/>
          <a:lstStyle/>
          <a:p>
            <a:pPr indent="0" marL="0">
              <a:buNone/>
            </a:pPr>
            <a:r>
              <a:rPr lang="en-US" sz="2000" b="1" dirty="0">
                <a:solidFill>
                  <a:srgbClr val="FFFFFF"/>
                </a:solidFill>
                <a:latin typeface="Century Gothic" pitchFamily="34" charset="0"/>
                <a:ea typeface="Century Gothic" pitchFamily="34" charset="-122"/>
                <a:cs typeface="Century Gothic" pitchFamily="34" charset="-120"/>
              </a:rPr>
              <a:t>In today’s pages Anne gains something she has never had in the annex: a confidant her own age. Your job is to track exactly what changes in her, with lines of text as proof.</a:t>
            </a:r>
            <a:endParaRPr lang="en-US" sz="2000" dirty="0"/>
          </a:p>
        </p:txBody>
      </p:sp>
      <p:sp>
        <p:nvSpPr>
          <p:cNvPr id="10" name="Shape 8"/>
          <p:cNvSpPr/>
          <p:nvPr/>
        </p:nvSpPr>
        <p:spPr>
          <a:xfrm>
            <a:off x="457200" y="3246120"/>
            <a:ext cx="3611880" cy="1325880"/>
          </a:xfrm>
          <a:prstGeom prst="roundRect">
            <a:avLst>
              <a:gd name="adj" fmla="val 12414"/>
            </a:avLst>
          </a:prstGeom>
          <a:solidFill>
            <a:srgbClr val="DAE7FF"/>
          </a:solidFill>
          <a:ln/>
        </p:spPr>
      </p:sp>
      <p:sp>
        <p:nvSpPr>
          <p:cNvPr id="11" name="Text 9"/>
          <p:cNvSpPr txBox="1"/>
          <p:nvPr/>
        </p:nvSpPr>
        <p:spPr>
          <a:xfrm>
            <a:off x="685800" y="3383280"/>
            <a:ext cx="3200400" cy="365760"/>
          </a:xfrm>
          <a:prstGeom prst="rect">
            <a:avLst/>
          </a:prstGeom>
          <a:noFill/>
          <a:ln/>
        </p:spPr>
        <p:txBody>
          <a:bodyPr wrap="square" lIns="0" tIns="0" rIns="0" bIns="0" rtlCol="0" anchor="t"/>
          <a:lstStyle/>
          <a:p>
            <a:pPr indent="0" marL="0">
              <a:buNone/>
            </a:pPr>
            <a:r>
              <a:rPr lang="en-US" sz="1500" b="1" spc="200" kern="0" dirty="0">
                <a:solidFill>
                  <a:srgbClr val="2A56B5"/>
                </a:solidFill>
                <a:latin typeface="Century Gothic" pitchFamily="34" charset="0"/>
                <a:ea typeface="Century Gothic" pitchFamily="34" charset="-122"/>
                <a:cs typeface="Century Gothic" pitchFamily="34" charset="-120"/>
              </a:rPr>
              <a:t>CONFIDANT</a:t>
            </a:r>
            <a:endParaRPr lang="en-US" sz="1500" dirty="0"/>
          </a:p>
        </p:txBody>
      </p:sp>
      <p:sp>
        <p:nvSpPr>
          <p:cNvPr id="12" name="Text 10"/>
          <p:cNvSpPr txBox="1"/>
          <p:nvPr/>
        </p:nvSpPr>
        <p:spPr>
          <a:xfrm>
            <a:off x="685800" y="3767328"/>
            <a:ext cx="3200400" cy="731520"/>
          </a:xfrm>
          <a:prstGeom prst="rect">
            <a:avLst/>
          </a:prstGeom>
          <a:noFill/>
          <a:ln/>
        </p:spPr>
        <p:txBody>
          <a:bodyPr wrap="square" lIns="0" tIns="0" rIns="0" bIns="0" rtlCol="0" anchor="t"/>
          <a:lstStyle/>
          <a:p>
            <a:pPr indent="0" marL="0">
              <a:buNone/>
            </a:pPr>
            <a:r>
              <a:rPr lang="en-US" sz="1500" dirty="0">
                <a:solidFill>
                  <a:srgbClr val="1E2A32"/>
                </a:solidFill>
                <a:latin typeface="Century Gothic" pitchFamily="34" charset="0"/>
                <a:ea typeface="Century Gothic" pitchFamily="34" charset="-122"/>
                <a:cs typeface="Century Gothic" pitchFamily="34" charset="-120"/>
              </a:rPr>
              <a:t>a person trusted with private thoughts and feelings</a:t>
            </a:r>
            <a:endParaRPr lang="en-US" sz="1500" dirty="0"/>
          </a:p>
        </p:txBody>
      </p:sp>
      <p:sp>
        <p:nvSpPr>
          <p:cNvPr id="13" name="Shape 11"/>
          <p:cNvSpPr/>
          <p:nvPr/>
        </p:nvSpPr>
        <p:spPr>
          <a:xfrm>
            <a:off x="4270248" y="3246120"/>
            <a:ext cx="3611880" cy="1325880"/>
          </a:xfrm>
          <a:prstGeom prst="roundRect">
            <a:avLst>
              <a:gd name="adj" fmla="val 12414"/>
            </a:avLst>
          </a:prstGeom>
          <a:solidFill>
            <a:srgbClr val="FFE1D6"/>
          </a:solidFill>
          <a:ln/>
        </p:spPr>
      </p:sp>
      <p:sp>
        <p:nvSpPr>
          <p:cNvPr id="14" name="Text 12"/>
          <p:cNvSpPr txBox="1"/>
          <p:nvPr/>
        </p:nvSpPr>
        <p:spPr>
          <a:xfrm>
            <a:off x="4498848" y="3383280"/>
            <a:ext cx="3200400" cy="365760"/>
          </a:xfrm>
          <a:prstGeom prst="rect">
            <a:avLst/>
          </a:prstGeom>
          <a:noFill/>
          <a:ln/>
        </p:spPr>
        <p:txBody>
          <a:bodyPr wrap="square" lIns="0" tIns="0" rIns="0" bIns="0" rtlCol="0" anchor="t"/>
          <a:lstStyle/>
          <a:p>
            <a:pPr indent="0" marL="0">
              <a:buNone/>
            </a:pPr>
            <a:r>
              <a:rPr lang="en-US" sz="1500" b="1" spc="200" kern="0" dirty="0">
                <a:solidFill>
                  <a:srgbClr val="DF442A"/>
                </a:solidFill>
                <a:latin typeface="Century Gothic" pitchFamily="34" charset="0"/>
                <a:ea typeface="Century Gothic" pitchFamily="34" charset="-122"/>
                <a:cs typeface="Century Gothic" pitchFamily="34" charset="-120"/>
              </a:rPr>
              <a:t>CATALYST</a:t>
            </a:r>
            <a:endParaRPr lang="en-US" sz="1500" dirty="0"/>
          </a:p>
        </p:txBody>
      </p:sp>
      <p:sp>
        <p:nvSpPr>
          <p:cNvPr id="15" name="Text 13"/>
          <p:cNvSpPr txBox="1"/>
          <p:nvPr/>
        </p:nvSpPr>
        <p:spPr>
          <a:xfrm>
            <a:off x="4498848" y="3767328"/>
            <a:ext cx="3200400" cy="731520"/>
          </a:xfrm>
          <a:prstGeom prst="rect">
            <a:avLst/>
          </a:prstGeom>
          <a:noFill/>
          <a:ln/>
        </p:spPr>
        <p:txBody>
          <a:bodyPr wrap="square" lIns="0" tIns="0" rIns="0" bIns="0" rtlCol="0" anchor="t"/>
          <a:lstStyle/>
          <a:p>
            <a:pPr indent="0" marL="0">
              <a:buNone/>
            </a:pPr>
            <a:r>
              <a:rPr lang="en-US" sz="1500" dirty="0">
                <a:solidFill>
                  <a:srgbClr val="1E2A32"/>
                </a:solidFill>
                <a:latin typeface="Century Gothic" pitchFamily="34" charset="0"/>
                <a:ea typeface="Century Gothic" pitchFamily="34" charset="-122"/>
                <a:cs typeface="Century Gothic" pitchFamily="34" charset="-120"/>
              </a:rPr>
              <a:t>a person or event that causes a change</a:t>
            </a:r>
            <a:endParaRPr lang="en-US" sz="1500" dirty="0"/>
          </a:p>
        </p:txBody>
      </p:sp>
      <p:sp>
        <p:nvSpPr>
          <p:cNvPr id="16" name="Shape 14"/>
          <p:cNvSpPr/>
          <p:nvPr/>
        </p:nvSpPr>
        <p:spPr>
          <a:xfrm>
            <a:off x="8083296" y="3246120"/>
            <a:ext cx="3611880" cy="1325880"/>
          </a:xfrm>
          <a:prstGeom prst="roundRect">
            <a:avLst>
              <a:gd name="adj" fmla="val 12414"/>
            </a:avLst>
          </a:prstGeom>
          <a:solidFill>
            <a:srgbClr val="E8DEFF"/>
          </a:solidFill>
          <a:ln/>
        </p:spPr>
      </p:sp>
      <p:sp>
        <p:nvSpPr>
          <p:cNvPr id="17" name="Text 15"/>
          <p:cNvSpPr txBox="1"/>
          <p:nvPr/>
        </p:nvSpPr>
        <p:spPr>
          <a:xfrm>
            <a:off x="8311896" y="3383280"/>
            <a:ext cx="3200400" cy="365760"/>
          </a:xfrm>
          <a:prstGeom prst="rect">
            <a:avLst/>
          </a:prstGeom>
          <a:noFill/>
          <a:ln/>
        </p:spPr>
        <p:txBody>
          <a:bodyPr wrap="square" lIns="0" tIns="0" rIns="0" bIns="0" rtlCol="0" anchor="t"/>
          <a:lstStyle/>
          <a:p>
            <a:pPr indent="0" marL="0">
              <a:buNone/>
            </a:pPr>
            <a:r>
              <a:rPr lang="en-US" sz="1500" b="1" spc="200" kern="0" dirty="0">
                <a:solidFill>
                  <a:srgbClr val="6746C7"/>
                </a:solidFill>
                <a:latin typeface="Century Gothic" pitchFamily="34" charset="0"/>
                <a:ea typeface="Century Gothic" pitchFamily="34" charset="-122"/>
                <a:cs typeface="Century Gothic" pitchFamily="34" charset="-120"/>
              </a:rPr>
              <a:t>DYNAMIC CHARACTER</a:t>
            </a:r>
            <a:endParaRPr lang="en-US" sz="1500" dirty="0"/>
          </a:p>
        </p:txBody>
      </p:sp>
      <p:sp>
        <p:nvSpPr>
          <p:cNvPr id="18" name="Text 16"/>
          <p:cNvSpPr txBox="1"/>
          <p:nvPr/>
        </p:nvSpPr>
        <p:spPr>
          <a:xfrm>
            <a:off x="8311896" y="3767328"/>
            <a:ext cx="3200400" cy="731520"/>
          </a:xfrm>
          <a:prstGeom prst="rect">
            <a:avLst/>
          </a:prstGeom>
          <a:noFill/>
          <a:ln/>
        </p:spPr>
        <p:txBody>
          <a:bodyPr wrap="square" lIns="0" tIns="0" rIns="0" bIns="0" rtlCol="0" anchor="t"/>
          <a:lstStyle/>
          <a:p>
            <a:pPr indent="0" marL="0">
              <a:buNone/>
            </a:pPr>
            <a:r>
              <a:rPr lang="en-US" sz="1500" dirty="0">
                <a:solidFill>
                  <a:srgbClr val="1E2A32"/>
                </a:solidFill>
                <a:latin typeface="Century Gothic" pitchFamily="34" charset="0"/>
                <a:ea typeface="Century Gothic" pitchFamily="34" charset="-122"/>
                <a:cs typeface="Century Gothic" pitchFamily="34" charset="-120"/>
              </a:rPr>
              <a:t>a character who changes in a meaningful way</a:t>
            </a:r>
            <a:endParaRPr lang="en-US" sz="1500" dirty="0"/>
          </a:p>
        </p:txBody>
      </p:sp>
      <p:sp>
        <p:nvSpPr>
          <p:cNvPr id="19" name="Shape 17"/>
          <p:cNvSpPr/>
          <p:nvPr/>
        </p:nvSpPr>
        <p:spPr>
          <a:xfrm>
            <a:off x="457200" y="4800600"/>
            <a:ext cx="5486400" cy="1417320"/>
          </a:xfrm>
          <a:prstGeom prst="roundRect">
            <a:avLst>
              <a:gd name="adj" fmla="val 11613"/>
            </a:avLst>
          </a:prstGeom>
          <a:solidFill>
            <a:srgbClr val="FFFFFF"/>
          </a:solidFill>
          <a:ln w="25400">
            <a:solidFill>
              <a:srgbClr val="FF6B4E"/>
            </a:solidFill>
            <a:prstDash val="solid"/>
          </a:ln>
        </p:spPr>
      </p:sp>
      <p:sp>
        <p:nvSpPr>
          <p:cNvPr id="20" name="Text 18"/>
          <p:cNvSpPr txBox="1"/>
          <p:nvPr/>
        </p:nvSpPr>
        <p:spPr>
          <a:xfrm>
            <a:off x="731520" y="4937760"/>
            <a:ext cx="5029200" cy="1188720"/>
          </a:xfrm>
          <a:prstGeom prst="rect">
            <a:avLst/>
          </a:prstGeom>
          <a:noFill/>
          <a:ln/>
        </p:spPr>
        <p:txBody>
          <a:bodyPr wrap="square" lIns="0" tIns="0" rIns="0" bIns="0" rtlCol="0" anchor="t"/>
          <a:lstStyle/>
          <a:p>
            <a:pPr indent="0" marL="0">
              <a:buNone/>
            </a:pPr>
            <a:r>
              <a:rPr lang="en-US" sz="1300" b="1" spc="300" kern="0" dirty="0">
                <a:solidFill>
                  <a:srgbClr val="DF442A"/>
                </a:solidFill>
                <a:latin typeface="Century Gothic" pitchFamily="34" charset="0"/>
                <a:ea typeface="Century Gothic" pitchFamily="34" charset="-122"/>
                <a:cs typeface="Century Gothic" pitchFamily="34" charset="-120"/>
              </a:rPr>
              <a:t>EVENT
</a:t>
            </a:r>
            <a:pPr indent="0" marL="0">
              <a:buNone/>
            </a:pPr>
            <a:r>
              <a:rPr lang="en-US" sz="1900" dirty="0">
                <a:solidFill>
                  <a:srgbClr val="1E2A32"/>
                </a:solidFill>
                <a:latin typeface="Century Gothic" pitchFamily="34" charset="0"/>
                <a:ea typeface="Century Gothic" pitchFamily="34" charset="-122"/>
                <a:cs typeface="Century Gothic" pitchFamily="34" charset="-120"/>
              </a:rPr>
              <a:t>Anne goes to Peter’s room.</a:t>
            </a:r>
            <a:endParaRPr lang="en-US" sz="1900" dirty="0"/>
          </a:p>
        </p:txBody>
      </p:sp>
      <p:sp>
        <p:nvSpPr>
          <p:cNvPr id="21" name="Text 19"/>
          <p:cNvSpPr txBox="1"/>
          <p:nvPr/>
        </p:nvSpPr>
        <p:spPr>
          <a:xfrm>
            <a:off x="5943600" y="4892040"/>
            <a:ext cx="301752" cy="1188720"/>
          </a:xfrm>
          <a:prstGeom prst="rect">
            <a:avLst/>
          </a:prstGeom>
          <a:noFill/>
          <a:ln/>
        </p:spPr>
        <p:txBody>
          <a:bodyPr wrap="square" lIns="0" tIns="0" rIns="0" bIns="0" rtlCol="0" anchor="ctr"/>
          <a:lstStyle/>
          <a:p>
            <a:pPr algn="ctr" indent="0" marL="0">
              <a:buNone/>
            </a:pPr>
            <a:r>
              <a:rPr lang="en-US" sz="3600" b="1" dirty="0">
                <a:solidFill>
                  <a:srgbClr val="5A6B75"/>
                </a:solidFill>
                <a:latin typeface="Century Gothic" pitchFamily="34" charset="0"/>
                <a:ea typeface="Century Gothic" pitchFamily="34" charset="-122"/>
                <a:cs typeface="Century Gothic" pitchFamily="34" charset="-120"/>
              </a:rPr>
              <a:t>≠</a:t>
            </a:r>
            <a:endParaRPr lang="en-US" sz="3600" dirty="0"/>
          </a:p>
        </p:txBody>
      </p:sp>
      <p:sp>
        <p:nvSpPr>
          <p:cNvPr id="22" name="Shape 20"/>
          <p:cNvSpPr/>
          <p:nvPr/>
        </p:nvSpPr>
        <p:spPr>
          <a:xfrm>
            <a:off x="6245352" y="4800600"/>
            <a:ext cx="5486400" cy="1417320"/>
          </a:xfrm>
          <a:prstGeom prst="roundRect">
            <a:avLst>
              <a:gd name="adj" fmla="val 11613"/>
            </a:avLst>
          </a:prstGeom>
          <a:solidFill>
            <a:srgbClr val="FFFFFF"/>
          </a:solidFill>
          <a:ln w="25400">
            <a:solidFill>
              <a:srgbClr val="00A39B"/>
            </a:solidFill>
            <a:prstDash val="solid"/>
          </a:ln>
        </p:spPr>
      </p:sp>
      <p:sp>
        <p:nvSpPr>
          <p:cNvPr id="23" name="Text 21"/>
          <p:cNvSpPr txBox="1"/>
          <p:nvPr/>
        </p:nvSpPr>
        <p:spPr>
          <a:xfrm>
            <a:off x="6519672" y="4937760"/>
            <a:ext cx="5029200" cy="1188720"/>
          </a:xfrm>
          <a:prstGeom prst="rect">
            <a:avLst/>
          </a:prstGeom>
          <a:noFill/>
          <a:ln/>
        </p:spPr>
        <p:txBody>
          <a:bodyPr wrap="square" lIns="0" tIns="0" rIns="0" bIns="0" rtlCol="0" anchor="t"/>
          <a:lstStyle/>
          <a:p>
            <a:pPr indent="0" marL="0">
              <a:buNone/>
            </a:pPr>
            <a:r>
              <a:rPr lang="en-US" sz="1300" b="1" spc="300" kern="0" dirty="0">
                <a:solidFill>
                  <a:srgbClr val="007A73"/>
                </a:solidFill>
                <a:latin typeface="Century Gothic" pitchFamily="34" charset="0"/>
                <a:ea typeface="Century Gothic" pitchFamily="34" charset="-122"/>
                <a:cs typeface="Century Gothic" pitchFamily="34" charset="-120"/>
              </a:rPr>
              <a:t>PERSPECTIVE CHANGE
</a:t>
            </a:r>
            <a:pPr indent="0" marL="0">
              <a:buNone/>
            </a:pPr>
            <a:r>
              <a:rPr lang="en-US" sz="1900" dirty="0">
                <a:solidFill>
                  <a:srgbClr val="1E2A32"/>
                </a:solidFill>
                <a:latin typeface="Century Gothic" pitchFamily="34" charset="0"/>
                <a:ea typeface="Century Gothic" pitchFamily="34" charset="-122"/>
                <a:cs typeface="Century Gothic" pitchFamily="34" charset="-120"/>
              </a:rPr>
              <a:t>Anne has somewhere to be understood.</a:t>
            </a:r>
            <a:endParaRPr lang="en-US" sz="19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B98100"/>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B98100"/>
                </a:solidFill>
                <a:latin typeface="Century Gothic" pitchFamily="34" charset="0"/>
                <a:ea typeface="Century Gothic" pitchFamily="34" charset="-122"/>
                <a:cs typeface="Century Gothic" pitchFamily="34" charset="-120"/>
              </a:rPr>
              <a:t>M</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Tracker Model · Row 1</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Watch the thinking. Then copy Row 1.</a:t>
            </a:r>
            <a:endParaRPr lang="en-US" sz="1400" dirty="0"/>
          </a:p>
        </p:txBody>
      </p:sp>
      <p:sp>
        <p:nvSpPr>
          <p:cNvPr id="6" name="Shape 4"/>
          <p:cNvSpPr/>
          <p:nvPr/>
        </p:nvSpPr>
        <p:spPr>
          <a:xfrm>
            <a:off x="8668512" y="566928"/>
            <a:ext cx="3063240" cy="347472"/>
          </a:xfrm>
          <a:prstGeom prst="roundRect">
            <a:avLst>
              <a:gd name="adj" fmla="val 50000"/>
            </a:avLst>
          </a:prstGeom>
          <a:solidFill>
            <a:srgbClr val="00A39B"/>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2 · ROW M</a:t>
            </a:r>
            <a:endParaRPr lang="en-US" sz="1100" dirty="0"/>
          </a:p>
        </p:txBody>
      </p:sp>
      <p:sp>
        <p:nvSpPr>
          <p:cNvPr id="8" name="Shape 6"/>
          <p:cNvSpPr/>
          <p:nvPr/>
        </p:nvSpPr>
        <p:spPr>
          <a:xfrm>
            <a:off x="457200" y="1600200"/>
            <a:ext cx="548640" cy="548640"/>
          </a:xfrm>
          <a:prstGeom prst="ellipse">
            <a:avLst/>
          </a:prstGeom>
          <a:solidFill>
            <a:srgbClr val="FFC63C"/>
          </a:solidFill>
          <a:ln/>
        </p:spPr>
      </p:sp>
      <p:sp>
        <p:nvSpPr>
          <p:cNvPr id="9" name="Text 7"/>
          <p:cNvSpPr txBox="1"/>
          <p:nvPr/>
        </p:nvSpPr>
        <p:spPr>
          <a:xfrm>
            <a:off x="457200" y="1600200"/>
            <a:ext cx="548640" cy="548640"/>
          </a:xfrm>
          <a:prstGeom prst="rect">
            <a:avLst/>
          </a:prstGeom>
          <a:noFill/>
          <a:ln/>
        </p:spPr>
        <p:txBody>
          <a:bodyPr wrap="square" lIns="0" tIns="0" rIns="0" bIns="0" rtlCol="0" anchor="ctr"/>
          <a:lstStyle/>
          <a:p>
            <a:pPr algn="ctr" indent="0" marL="0">
              <a:buNone/>
            </a:pPr>
            <a:r>
              <a:rPr lang="en-US" sz="1800" b="1" dirty="0">
                <a:solidFill>
                  <a:srgbClr val="3A2A00"/>
                </a:solidFill>
                <a:latin typeface="Century Gothic" pitchFamily="34" charset="0"/>
                <a:ea typeface="Century Gothic" pitchFamily="34" charset="-122"/>
                <a:cs typeface="Century Gothic" pitchFamily="34" charset="-120"/>
              </a:rPr>
              <a:t>1</a:t>
            </a:r>
            <a:endParaRPr lang="en-US" sz="1800" dirty="0"/>
          </a:p>
        </p:txBody>
      </p:sp>
      <p:sp>
        <p:nvSpPr>
          <p:cNvPr id="10" name="Text 8"/>
          <p:cNvSpPr txBox="1"/>
          <p:nvPr/>
        </p:nvSpPr>
        <p:spPr>
          <a:xfrm>
            <a:off x="1143000" y="1600200"/>
            <a:ext cx="3108960" cy="548640"/>
          </a:xfrm>
          <a:prstGeom prst="rect">
            <a:avLst/>
          </a:prstGeom>
          <a:noFill/>
          <a:ln/>
        </p:spPr>
        <p:txBody>
          <a:bodyPr wrap="square" lIns="0" tIns="0" rIns="0" bIns="0" rtlCol="0" anchor="ctr"/>
          <a:lstStyle/>
          <a:p>
            <a:pPr indent="0" marL="0">
              <a:buNone/>
            </a:pPr>
            <a:r>
              <a:rPr lang="en-US" sz="1700" b="1" dirty="0">
                <a:solidFill>
                  <a:srgbClr val="1E2A32"/>
                </a:solidFill>
                <a:latin typeface="Century Gothic" pitchFamily="34" charset="0"/>
                <a:ea typeface="Century Gothic" pitchFamily="34" charset="-122"/>
                <a:cs typeface="Century Gothic" pitchFamily="34" charset="-120"/>
              </a:rPr>
              <a:t>Find a short line</a:t>
            </a:r>
            <a:endParaRPr lang="en-US" sz="1700" dirty="0"/>
          </a:p>
        </p:txBody>
      </p:sp>
      <p:sp>
        <p:nvSpPr>
          <p:cNvPr id="11" name="Shape 9"/>
          <p:cNvSpPr/>
          <p:nvPr/>
        </p:nvSpPr>
        <p:spPr>
          <a:xfrm>
            <a:off x="457200" y="2496312"/>
            <a:ext cx="548640" cy="548640"/>
          </a:xfrm>
          <a:prstGeom prst="ellipse">
            <a:avLst/>
          </a:prstGeom>
          <a:solidFill>
            <a:srgbClr val="FFC63C"/>
          </a:solidFill>
          <a:ln/>
        </p:spPr>
      </p:sp>
      <p:sp>
        <p:nvSpPr>
          <p:cNvPr id="12" name="Text 10"/>
          <p:cNvSpPr txBox="1"/>
          <p:nvPr/>
        </p:nvSpPr>
        <p:spPr>
          <a:xfrm>
            <a:off x="457200" y="2496312"/>
            <a:ext cx="548640" cy="548640"/>
          </a:xfrm>
          <a:prstGeom prst="rect">
            <a:avLst/>
          </a:prstGeom>
          <a:noFill/>
          <a:ln/>
        </p:spPr>
        <p:txBody>
          <a:bodyPr wrap="square" lIns="0" tIns="0" rIns="0" bIns="0" rtlCol="0" anchor="ctr"/>
          <a:lstStyle/>
          <a:p>
            <a:pPr algn="ctr" indent="0" marL="0">
              <a:buNone/>
            </a:pPr>
            <a:r>
              <a:rPr lang="en-US" sz="1800" b="1" dirty="0">
                <a:solidFill>
                  <a:srgbClr val="3A2A00"/>
                </a:solidFill>
                <a:latin typeface="Century Gothic" pitchFamily="34" charset="0"/>
                <a:ea typeface="Century Gothic" pitchFamily="34" charset="-122"/>
                <a:cs typeface="Century Gothic" pitchFamily="34" charset="-120"/>
              </a:rPr>
              <a:t>2</a:t>
            </a:r>
            <a:endParaRPr lang="en-US" sz="1800" dirty="0"/>
          </a:p>
        </p:txBody>
      </p:sp>
      <p:sp>
        <p:nvSpPr>
          <p:cNvPr id="13" name="Text 11"/>
          <p:cNvSpPr txBox="1"/>
          <p:nvPr/>
        </p:nvSpPr>
        <p:spPr>
          <a:xfrm>
            <a:off x="1143000" y="2496312"/>
            <a:ext cx="3108960" cy="548640"/>
          </a:xfrm>
          <a:prstGeom prst="rect">
            <a:avLst/>
          </a:prstGeom>
          <a:noFill/>
          <a:ln/>
        </p:spPr>
        <p:txBody>
          <a:bodyPr wrap="square" lIns="0" tIns="0" rIns="0" bIns="0" rtlCol="0" anchor="ctr"/>
          <a:lstStyle/>
          <a:p>
            <a:pPr indent="0" marL="0">
              <a:buNone/>
            </a:pPr>
            <a:r>
              <a:rPr lang="en-US" sz="1700" b="1" dirty="0">
                <a:solidFill>
                  <a:srgbClr val="1E2A32"/>
                </a:solidFill>
                <a:latin typeface="Century Gothic" pitchFamily="34" charset="0"/>
                <a:ea typeface="Century Gothic" pitchFamily="34" charset="-122"/>
                <a:cs typeface="Century Gothic" pitchFamily="34" charset="-120"/>
              </a:rPr>
              <a:t>Event, or an actual change?</a:t>
            </a:r>
            <a:endParaRPr lang="en-US" sz="1700" dirty="0"/>
          </a:p>
        </p:txBody>
      </p:sp>
      <p:sp>
        <p:nvSpPr>
          <p:cNvPr id="14" name="Shape 12"/>
          <p:cNvSpPr/>
          <p:nvPr/>
        </p:nvSpPr>
        <p:spPr>
          <a:xfrm>
            <a:off x="457200" y="3392424"/>
            <a:ext cx="548640" cy="548640"/>
          </a:xfrm>
          <a:prstGeom prst="ellipse">
            <a:avLst/>
          </a:prstGeom>
          <a:solidFill>
            <a:srgbClr val="FFC63C"/>
          </a:solidFill>
          <a:ln/>
        </p:spPr>
      </p:sp>
      <p:sp>
        <p:nvSpPr>
          <p:cNvPr id="15" name="Text 13"/>
          <p:cNvSpPr txBox="1"/>
          <p:nvPr/>
        </p:nvSpPr>
        <p:spPr>
          <a:xfrm>
            <a:off x="457200" y="3392424"/>
            <a:ext cx="548640" cy="548640"/>
          </a:xfrm>
          <a:prstGeom prst="rect">
            <a:avLst/>
          </a:prstGeom>
          <a:noFill/>
          <a:ln/>
        </p:spPr>
        <p:txBody>
          <a:bodyPr wrap="square" lIns="0" tIns="0" rIns="0" bIns="0" rtlCol="0" anchor="ctr"/>
          <a:lstStyle/>
          <a:p>
            <a:pPr algn="ctr" indent="0" marL="0">
              <a:buNone/>
            </a:pPr>
            <a:r>
              <a:rPr lang="en-US" sz="1800" b="1" dirty="0">
                <a:solidFill>
                  <a:srgbClr val="3A2A00"/>
                </a:solidFill>
                <a:latin typeface="Century Gothic" pitchFamily="34" charset="0"/>
                <a:ea typeface="Century Gothic" pitchFamily="34" charset="-122"/>
                <a:cs typeface="Century Gothic" pitchFamily="34" charset="-120"/>
              </a:rPr>
              <a:t>3</a:t>
            </a:r>
            <a:endParaRPr lang="en-US" sz="1800" dirty="0"/>
          </a:p>
        </p:txBody>
      </p:sp>
      <p:sp>
        <p:nvSpPr>
          <p:cNvPr id="16" name="Text 14"/>
          <p:cNvSpPr txBox="1"/>
          <p:nvPr/>
        </p:nvSpPr>
        <p:spPr>
          <a:xfrm>
            <a:off x="1143000" y="3392424"/>
            <a:ext cx="3108960" cy="548640"/>
          </a:xfrm>
          <a:prstGeom prst="rect">
            <a:avLst/>
          </a:prstGeom>
          <a:noFill/>
          <a:ln/>
        </p:spPr>
        <p:txBody>
          <a:bodyPr wrap="square" lIns="0" tIns="0" rIns="0" bIns="0" rtlCol="0" anchor="ctr"/>
          <a:lstStyle/>
          <a:p>
            <a:pPr indent="0" marL="0">
              <a:buNone/>
            </a:pPr>
            <a:r>
              <a:rPr lang="en-US" sz="1700" b="1" dirty="0">
                <a:solidFill>
                  <a:srgbClr val="1E2A32"/>
                </a:solidFill>
                <a:latin typeface="Century Gothic" pitchFamily="34" charset="0"/>
                <a:ea typeface="Century Gothic" pitchFamily="34" charset="-122"/>
                <a:cs typeface="Century Gothic" pitchFamily="34" charset="-120"/>
              </a:rPr>
              <a:t>Identify Anne’s BEFORE</a:t>
            </a:r>
            <a:endParaRPr lang="en-US" sz="1700" dirty="0"/>
          </a:p>
        </p:txBody>
      </p:sp>
      <p:sp>
        <p:nvSpPr>
          <p:cNvPr id="17" name="Shape 15"/>
          <p:cNvSpPr/>
          <p:nvPr/>
        </p:nvSpPr>
        <p:spPr>
          <a:xfrm>
            <a:off x="457200" y="4288536"/>
            <a:ext cx="548640" cy="548640"/>
          </a:xfrm>
          <a:prstGeom prst="ellipse">
            <a:avLst/>
          </a:prstGeom>
          <a:solidFill>
            <a:srgbClr val="FFC63C"/>
          </a:solidFill>
          <a:ln/>
        </p:spPr>
      </p:sp>
      <p:sp>
        <p:nvSpPr>
          <p:cNvPr id="18" name="Text 16"/>
          <p:cNvSpPr txBox="1"/>
          <p:nvPr/>
        </p:nvSpPr>
        <p:spPr>
          <a:xfrm>
            <a:off x="457200" y="4288536"/>
            <a:ext cx="548640" cy="548640"/>
          </a:xfrm>
          <a:prstGeom prst="rect">
            <a:avLst/>
          </a:prstGeom>
          <a:noFill/>
          <a:ln/>
        </p:spPr>
        <p:txBody>
          <a:bodyPr wrap="square" lIns="0" tIns="0" rIns="0" bIns="0" rtlCol="0" anchor="ctr"/>
          <a:lstStyle/>
          <a:p>
            <a:pPr algn="ctr" indent="0" marL="0">
              <a:buNone/>
            </a:pPr>
            <a:r>
              <a:rPr lang="en-US" sz="1800" b="1" dirty="0">
                <a:solidFill>
                  <a:srgbClr val="3A2A00"/>
                </a:solidFill>
                <a:latin typeface="Century Gothic" pitchFamily="34" charset="0"/>
                <a:ea typeface="Century Gothic" pitchFamily="34" charset="-122"/>
                <a:cs typeface="Century Gothic" pitchFamily="34" charset="-120"/>
              </a:rPr>
              <a:t>4</a:t>
            </a:r>
            <a:endParaRPr lang="en-US" sz="1800" dirty="0"/>
          </a:p>
        </p:txBody>
      </p:sp>
      <p:sp>
        <p:nvSpPr>
          <p:cNvPr id="19" name="Text 17"/>
          <p:cNvSpPr txBox="1"/>
          <p:nvPr/>
        </p:nvSpPr>
        <p:spPr>
          <a:xfrm>
            <a:off x="1143000" y="4288536"/>
            <a:ext cx="3108960" cy="548640"/>
          </a:xfrm>
          <a:prstGeom prst="rect">
            <a:avLst/>
          </a:prstGeom>
          <a:noFill/>
          <a:ln/>
        </p:spPr>
        <p:txBody>
          <a:bodyPr wrap="square" lIns="0" tIns="0" rIns="0" bIns="0" rtlCol="0" anchor="ctr"/>
          <a:lstStyle/>
          <a:p>
            <a:pPr indent="0" marL="0">
              <a:buNone/>
            </a:pPr>
            <a:r>
              <a:rPr lang="en-US" sz="1700" b="1" dirty="0">
                <a:solidFill>
                  <a:srgbClr val="1E2A32"/>
                </a:solidFill>
                <a:latin typeface="Century Gothic" pitchFamily="34" charset="0"/>
                <a:ea typeface="Century Gothic" pitchFamily="34" charset="-122"/>
                <a:cs typeface="Century Gothic" pitchFamily="34" charset="-120"/>
              </a:rPr>
              <a:t>What is different AFTER?</a:t>
            </a:r>
            <a:endParaRPr lang="en-US" sz="1700" dirty="0"/>
          </a:p>
        </p:txBody>
      </p:sp>
      <p:sp>
        <p:nvSpPr>
          <p:cNvPr id="20" name="Shape 18"/>
          <p:cNvSpPr/>
          <p:nvPr/>
        </p:nvSpPr>
        <p:spPr>
          <a:xfrm>
            <a:off x="457200" y="5184648"/>
            <a:ext cx="548640" cy="548640"/>
          </a:xfrm>
          <a:prstGeom prst="ellipse">
            <a:avLst/>
          </a:prstGeom>
          <a:solidFill>
            <a:srgbClr val="FFC63C"/>
          </a:solidFill>
          <a:ln/>
        </p:spPr>
      </p:sp>
      <p:sp>
        <p:nvSpPr>
          <p:cNvPr id="21" name="Text 19"/>
          <p:cNvSpPr txBox="1"/>
          <p:nvPr/>
        </p:nvSpPr>
        <p:spPr>
          <a:xfrm>
            <a:off x="457200" y="5184648"/>
            <a:ext cx="548640" cy="548640"/>
          </a:xfrm>
          <a:prstGeom prst="rect">
            <a:avLst/>
          </a:prstGeom>
          <a:noFill/>
          <a:ln/>
        </p:spPr>
        <p:txBody>
          <a:bodyPr wrap="square" lIns="0" tIns="0" rIns="0" bIns="0" rtlCol="0" anchor="ctr"/>
          <a:lstStyle/>
          <a:p>
            <a:pPr algn="ctr" indent="0" marL="0">
              <a:buNone/>
            </a:pPr>
            <a:r>
              <a:rPr lang="en-US" sz="1800" b="1" dirty="0">
                <a:solidFill>
                  <a:srgbClr val="3A2A00"/>
                </a:solidFill>
                <a:latin typeface="Century Gothic" pitchFamily="34" charset="0"/>
                <a:ea typeface="Century Gothic" pitchFamily="34" charset="-122"/>
                <a:cs typeface="Century Gothic" pitchFamily="34" charset="-120"/>
              </a:rPr>
              <a:t>5</a:t>
            </a:r>
            <a:endParaRPr lang="en-US" sz="1800" dirty="0"/>
          </a:p>
        </p:txBody>
      </p:sp>
      <p:sp>
        <p:nvSpPr>
          <p:cNvPr id="22" name="Text 20"/>
          <p:cNvSpPr txBox="1"/>
          <p:nvPr/>
        </p:nvSpPr>
        <p:spPr>
          <a:xfrm>
            <a:off x="1143000" y="5184648"/>
            <a:ext cx="3108960" cy="548640"/>
          </a:xfrm>
          <a:prstGeom prst="rect">
            <a:avLst/>
          </a:prstGeom>
          <a:noFill/>
          <a:ln/>
        </p:spPr>
        <p:txBody>
          <a:bodyPr wrap="square" lIns="0" tIns="0" rIns="0" bIns="0" rtlCol="0" anchor="ctr"/>
          <a:lstStyle/>
          <a:p>
            <a:pPr indent="0" marL="0">
              <a:buNone/>
            </a:pPr>
            <a:r>
              <a:rPr lang="en-US" sz="1700" b="1" dirty="0">
                <a:solidFill>
                  <a:srgbClr val="1E2A32"/>
                </a:solidFill>
                <a:latin typeface="Century Gothic" pitchFamily="34" charset="0"/>
                <a:ea typeface="Century Gothic" pitchFamily="34" charset="-122"/>
                <a:cs typeface="Century Gothic" pitchFamily="34" charset="-120"/>
              </a:rPr>
              <a:t>Does my line actually prove it?</a:t>
            </a:r>
            <a:endParaRPr lang="en-US" sz="1700" dirty="0"/>
          </a:p>
        </p:txBody>
      </p:sp>
      <p:sp>
        <p:nvSpPr>
          <p:cNvPr id="23" name="Shape 21"/>
          <p:cNvSpPr/>
          <p:nvPr/>
        </p:nvSpPr>
        <p:spPr>
          <a:xfrm>
            <a:off x="4526280" y="1600200"/>
            <a:ext cx="7205472" cy="1508760"/>
          </a:xfrm>
          <a:prstGeom prst="roundRect">
            <a:avLst>
              <a:gd name="adj" fmla="val 10909"/>
            </a:avLst>
          </a:prstGeom>
          <a:solidFill>
            <a:srgbClr val="C8F1EB"/>
          </a:solidFill>
          <a:ln/>
        </p:spPr>
      </p:sp>
      <p:sp>
        <p:nvSpPr>
          <p:cNvPr id="24" name="Text 22"/>
          <p:cNvSpPr txBox="1"/>
          <p:nvPr/>
        </p:nvSpPr>
        <p:spPr>
          <a:xfrm>
            <a:off x="4800600" y="1737360"/>
            <a:ext cx="6400800" cy="274320"/>
          </a:xfrm>
          <a:prstGeom prst="rect">
            <a:avLst/>
          </a:prstGeom>
          <a:noFill/>
          <a:ln/>
        </p:spPr>
        <p:txBody>
          <a:bodyPr wrap="square" lIns="0" tIns="0" rIns="0" bIns="0" rtlCol="0" anchor="t"/>
          <a:lstStyle/>
          <a:p>
            <a:pPr indent="0" marL="0">
              <a:buNone/>
            </a:pPr>
            <a:r>
              <a:rPr lang="en-US" sz="1100" b="1" spc="300" kern="0" dirty="0">
                <a:solidFill>
                  <a:srgbClr val="007A73"/>
                </a:solidFill>
                <a:latin typeface="Century Gothic" pitchFamily="34" charset="0"/>
                <a:ea typeface="Century Gothic" pitchFamily="34" charset="-122"/>
                <a:cs typeface="Century Gothic" pitchFamily="34" charset="-120"/>
              </a:rPr>
              <a:t>LINE OF TEXT + PAGE</a:t>
            </a:r>
            <a:endParaRPr lang="en-US" sz="1100" dirty="0"/>
          </a:p>
        </p:txBody>
      </p:sp>
      <p:sp>
        <p:nvSpPr>
          <p:cNvPr id="25" name="Text 23"/>
          <p:cNvSpPr txBox="1"/>
          <p:nvPr/>
        </p:nvSpPr>
        <p:spPr>
          <a:xfrm>
            <a:off x="4800600" y="2057400"/>
            <a:ext cx="6656832" cy="960120"/>
          </a:xfrm>
          <a:prstGeom prst="rect">
            <a:avLst/>
          </a:prstGeom>
          <a:noFill/>
          <a:ln/>
        </p:spPr>
        <p:txBody>
          <a:bodyPr wrap="square" lIns="0" tIns="0" rIns="0" bIns="0" rtlCol="0" anchor="t"/>
          <a:lstStyle/>
          <a:p>
            <a:pPr indent="0" marL="0">
              <a:buNone/>
            </a:pPr>
            <a:r>
              <a:rPr lang="en-US" sz="2000" b="1" dirty="0">
                <a:solidFill>
                  <a:srgbClr val="1E2A32"/>
                </a:solidFill>
                <a:latin typeface="Century Gothic" pitchFamily="34" charset="0"/>
                <a:ea typeface="Century Gothic" pitchFamily="34" charset="-122"/>
                <a:cs typeface="Century Gothic" pitchFamily="34" charset="-120"/>
              </a:rPr>
              <a:t>“this is the first time we’ve ever really talked. It helps a lot to have someone to talk to”</a:t>
            </a:r>
            <a:pPr indent="0" marL="0">
              <a:buNone/>
            </a:pPr>
            <a:r>
              <a:rPr lang="en-US" sz="1500" b="1" dirty="0">
                <a:solidFill>
                  <a:srgbClr val="5A6B75"/>
                </a:solidFill>
                <a:latin typeface="Century Gothic" pitchFamily="34" charset="0"/>
                <a:ea typeface="Century Gothic" pitchFamily="34" charset="-122"/>
                <a:cs typeface="Century Gothic" pitchFamily="34" charset="-120"/>
              </a:rPr>
              <a:t>  (p. 758)</a:t>
            </a:r>
            <a:endParaRPr lang="en-US" sz="2000" dirty="0"/>
          </a:p>
        </p:txBody>
      </p:sp>
      <p:sp>
        <p:nvSpPr>
          <p:cNvPr id="26" name="Shape 24"/>
          <p:cNvSpPr/>
          <p:nvPr/>
        </p:nvSpPr>
        <p:spPr>
          <a:xfrm>
            <a:off x="4526280" y="3291840"/>
            <a:ext cx="3511296" cy="1828800"/>
          </a:xfrm>
          <a:prstGeom prst="roundRect">
            <a:avLst>
              <a:gd name="adj" fmla="val 9000"/>
            </a:avLst>
          </a:prstGeom>
          <a:solidFill>
            <a:srgbClr val="FFFFFF"/>
          </a:solidFill>
          <a:ln w="19050">
            <a:solidFill>
              <a:srgbClr val="C9D1D6"/>
            </a:solidFill>
            <a:prstDash val="solid"/>
          </a:ln>
        </p:spPr>
      </p:sp>
      <p:sp>
        <p:nvSpPr>
          <p:cNvPr id="27" name="Text 25"/>
          <p:cNvSpPr txBox="1"/>
          <p:nvPr/>
        </p:nvSpPr>
        <p:spPr>
          <a:xfrm>
            <a:off x="4754880" y="3429000"/>
            <a:ext cx="3108960" cy="274320"/>
          </a:xfrm>
          <a:prstGeom prst="rect">
            <a:avLst/>
          </a:prstGeom>
          <a:noFill/>
          <a:ln/>
        </p:spPr>
        <p:txBody>
          <a:bodyPr wrap="square" lIns="0" tIns="0" rIns="0" bIns="0" rtlCol="0" anchor="t"/>
          <a:lstStyle/>
          <a:p>
            <a:pPr indent="0" marL="0">
              <a:buNone/>
            </a:pPr>
            <a:r>
              <a:rPr lang="en-US" sz="1100" b="1" dirty="0">
                <a:solidFill>
                  <a:srgbClr val="007A73"/>
                </a:solidFill>
                <a:latin typeface="Century Gothic" pitchFamily="34" charset="0"/>
                <a:ea typeface="Century Gothic" pitchFamily="34" charset="-122"/>
                <a:cs typeface="Century Gothic" pitchFamily="34" charset="-120"/>
              </a:rPr>
              <a:t>BEFORE: Anne used to think/feel…</a:t>
            </a:r>
            <a:endParaRPr lang="en-US" sz="1100" dirty="0"/>
          </a:p>
        </p:txBody>
      </p:sp>
      <p:sp>
        <p:nvSpPr>
          <p:cNvPr id="28" name="Text 26"/>
          <p:cNvSpPr txBox="1"/>
          <p:nvPr/>
        </p:nvSpPr>
        <p:spPr>
          <a:xfrm>
            <a:off x="4754880" y="3794760"/>
            <a:ext cx="3108960" cy="1234440"/>
          </a:xfrm>
          <a:prstGeom prst="rect">
            <a:avLst/>
          </a:prstGeom>
          <a:noFill/>
          <a:ln/>
        </p:spPr>
        <p:txBody>
          <a:bodyPr wrap="square" lIns="0" tIns="0" rIns="0" bIns="0" rtlCol="0" anchor="t"/>
          <a:lstStyle/>
          <a:p>
            <a:pPr indent="0" marL="0">
              <a:buNone/>
            </a:pPr>
            <a:r>
              <a:rPr lang="en-US" sz="1700" i="1" dirty="0">
                <a:solidFill>
                  <a:srgbClr val="C2185B"/>
                </a:solidFill>
                <a:latin typeface="Century Gothic" pitchFamily="34" charset="0"/>
                <a:ea typeface="Century Gothic" pitchFamily="34" charset="-122"/>
                <a:cs typeface="Century Gothic" pitchFamily="34" charset="-120"/>
              </a:rPr>
              <a:t>she had no one she could really talk to; Peter was an annoying boy</a:t>
            </a:r>
            <a:endParaRPr lang="en-US" sz="1700" dirty="0"/>
          </a:p>
        </p:txBody>
      </p:sp>
      <p:sp>
        <p:nvSpPr>
          <p:cNvPr id="29" name="Shape 27"/>
          <p:cNvSpPr/>
          <p:nvPr/>
        </p:nvSpPr>
        <p:spPr>
          <a:xfrm>
            <a:off x="8220456" y="3291840"/>
            <a:ext cx="3511296" cy="1828800"/>
          </a:xfrm>
          <a:prstGeom prst="roundRect">
            <a:avLst>
              <a:gd name="adj" fmla="val 9000"/>
            </a:avLst>
          </a:prstGeom>
          <a:solidFill>
            <a:srgbClr val="FFFFFF"/>
          </a:solidFill>
          <a:ln w="19050">
            <a:solidFill>
              <a:srgbClr val="C9D1D6"/>
            </a:solidFill>
            <a:prstDash val="solid"/>
          </a:ln>
        </p:spPr>
      </p:sp>
      <p:sp>
        <p:nvSpPr>
          <p:cNvPr id="30" name="Text 28"/>
          <p:cNvSpPr txBox="1"/>
          <p:nvPr/>
        </p:nvSpPr>
        <p:spPr>
          <a:xfrm>
            <a:off x="8449056" y="3429000"/>
            <a:ext cx="3108960" cy="274320"/>
          </a:xfrm>
          <a:prstGeom prst="rect">
            <a:avLst/>
          </a:prstGeom>
          <a:noFill/>
          <a:ln/>
        </p:spPr>
        <p:txBody>
          <a:bodyPr wrap="square" lIns="0" tIns="0" rIns="0" bIns="0" rtlCol="0" anchor="t"/>
          <a:lstStyle/>
          <a:p>
            <a:pPr indent="0" marL="0">
              <a:buNone/>
            </a:pPr>
            <a:r>
              <a:rPr lang="en-US" sz="1100" b="1" dirty="0">
                <a:solidFill>
                  <a:srgbClr val="007A73"/>
                </a:solidFill>
                <a:latin typeface="Century Gothic" pitchFamily="34" charset="0"/>
                <a:ea typeface="Century Gothic" pitchFamily="34" charset="-122"/>
                <a:cs typeface="Century Gothic" pitchFamily="34" charset="-120"/>
              </a:rPr>
              <a:t>AFTER: Now Anne thinks/feels…</a:t>
            </a:r>
            <a:endParaRPr lang="en-US" sz="1100" dirty="0"/>
          </a:p>
        </p:txBody>
      </p:sp>
      <p:sp>
        <p:nvSpPr>
          <p:cNvPr id="31" name="Text 29"/>
          <p:cNvSpPr txBox="1"/>
          <p:nvPr/>
        </p:nvSpPr>
        <p:spPr>
          <a:xfrm>
            <a:off x="8449056" y="3794760"/>
            <a:ext cx="3108960" cy="1234440"/>
          </a:xfrm>
          <a:prstGeom prst="rect">
            <a:avLst/>
          </a:prstGeom>
          <a:noFill/>
          <a:ln/>
        </p:spPr>
        <p:txBody>
          <a:bodyPr wrap="square" lIns="0" tIns="0" rIns="0" bIns="0" rtlCol="0" anchor="t"/>
          <a:lstStyle/>
          <a:p>
            <a:pPr indent="0" marL="0">
              <a:buNone/>
            </a:pPr>
            <a:r>
              <a:rPr lang="en-US" sz="1700" i="1" dirty="0">
                <a:solidFill>
                  <a:srgbClr val="C2185B"/>
                </a:solidFill>
                <a:latin typeface="Century Gothic" pitchFamily="34" charset="0"/>
                <a:ea typeface="Century Gothic" pitchFamily="34" charset="-122"/>
                <a:cs typeface="Century Gothic" pitchFamily="34" charset="-120"/>
              </a:rPr>
              <a:t>Peter is someone she can talk to and be understood by</a:t>
            </a:r>
            <a:endParaRPr lang="en-US" sz="1700" dirty="0"/>
          </a:p>
        </p:txBody>
      </p:sp>
      <p:sp>
        <p:nvSpPr>
          <p:cNvPr id="32" name="Shape 30"/>
          <p:cNvSpPr/>
          <p:nvPr/>
        </p:nvSpPr>
        <p:spPr>
          <a:xfrm>
            <a:off x="4526280" y="5349240"/>
            <a:ext cx="7205472" cy="868680"/>
          </a:xfrm>
          <a:prstGeom prst="roundRect">
            <a:avLst>
              <a:gd name="adj" fmla="val 18947"/>
            </a:avLst>
          </a:prstGeom>
          <a:solidFill>
            <a:srgbClr val="1E2A32"/>
          </a:solidFill>
          <a:ln/>
        </p:spPr>
      </p:sp>
      <p:sp>
        <p:nvSpPr>
          <p:cNvPr id="33" name="Text 31"/>
          <p:cNvSpPr txBox="1"/>
          <p:nvPr/>
        </p:nvSpPr>
        <p:spPr>
          <a:xfrm>
            <a:off x="4800600" y="5349240"/>
            <a:ext cx="6656832" cy="868680"/>
          </a:xfrm>
          <a:prstGeom prst="rect">
            <a:avLst/>
          </a:prstGeom>
          <a:noFill/>
          <a:ln/>
        </p:spPr>
        <p:txBody>
          <a:bodyPr wrap="square" lIns="0" tIns="0" rIns="0" bIns="0" rtlCol="0" anchor="ctr"/>
          <a:lstStyle/>
          <a:p>
            <a:pPr indent="0" marL="0">
              <a:buNone/>
            </a:pPr>
            <a:r>
              <a:rPr lang="en-US" sz="1600" dirty="0">
                <a:solidFill>
                  <a:srgbClr val="FFFFFF"/>
                </a:solidFill>
                <a:latin typeface="Century Gothic" pitchFamily="34" charset="0"/>
                <a:ea typeface="Century Gothic" pitchFamily="34" charset="-122"/>
                <a:cs typeface="Century Gothic" pitchFamily="34" charset="-120"/>
              </a:rPr>
              <a:t>A tracker row is not a plot event. The line I quote must show the change, not just the visit.</a:t>
            </a:r>
            <a:endParaRPr lang="en-US" sz="16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DEFF"/>
        </a:solidFill>
      </p:bgPr>
    </p:bg>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6746C7"/>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6746C7"/>
                </a:solidFill>
                <a:latin typeface="Century Gothic" pitchFamily="34" charset="0"/>
                <a:ea typeface="Century Gothic" pitchFamily="34" charset="-122"/>
                <a:cs typeface="Century Gothic" pitchFamily="34" charset="-120"/>
              </a:rPr>
              <a:t>★</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Show Your Thinking</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Same scene, p. 757. Think first. Then say it.</a:t>
            </a:r>
            <a:endParaRPr lang="en-US" sz="1400" dirty="0"/>
          </a:p>
        </p:txBody>
      </p:sp>
      <p:sp>
        <p:nvSpPr>
          <p:cNvPr id="6" name="Shape 4"/>
          <p:cNvSpPr/>
          <p:nvPr/>
        </p:nvSpPr>
        <p:spPr>
          <a:xfrm>
            <a:off x="8668512" y="566928"/>
            <a:ext cx="3063240" cy="347472"/>
          </a:xfrm>
          <a:prstGeom prst="roundRect">
            <a:avLst>
              <a:gd name="adj" fmla="val 50000"/>
            </a:avLst>
          </a:prstGeom>
          <a:solidFill>
            <a:srgbClr val="8B6BE8"/>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2 · PURPLE STRIP</a:t>
            </a:r>
            <a:endParaRPr lang="en-US" sz="1100" dirty="0"/>
          </a:p>
        </p:txBody>
      </p:sp>
      <p:sp>
        <p:nvSpPr>
          <p:cNvPr id="8" name="Shape 6"/>
          <p:cNvSpPr/>
          <p:nvPr/>
        </p:nvSpPr>
        <p:spPr>
          <a:xfrm>
            <a:off x="457200" y="1600200"/>
            <a:ext cx="11274552" cy="1417320"/>
          </a:xfrm>
          <a:prstGeom prst="roundRect">
            <a:avLst>
              <a:gd name="adj" fmla="val 11613"/>
            </a:avLst>
          </a:prstGeom>
          <a:solidFill>
            <a:srgbClr val="FFFFFF"/>
          </a:solidFill>
          <a:ln w="31750">
            <a:solidFill>
              <a:srgbClr val="8B6BE8"/>
            </a:solidFill>
            <a:prstDash val="dash"/>
          </a:ln>
        </p:spPr>
      </p:sp>
      <p:sp>
        <p:nvSpPr>
          <p:cNvPr id="9" name="Text 7"/>
          <p:cNvSpPr txBox="1"/>
          <p:nvPr/>
        </p:nvSpPr>
        <p:spPr>
          <a:xfrm>
            <a:off x="777240" y="1645920"/>
            <a:ext cx="10698480" cy="1325880"/>
          </a:xfrm>
          <a:prstGeom prst="rect">
            <a:avLst/>
          </a:prstGeom>
          <a:noFill/>
          <a:ln/>
        </p:spPr>
        <p:txBody>
          <a:bodyPr wrap="square" lIns="0" tIns="0" rIns="0" bIns="0" rtlCol="0" anchor="ctr"/>
          <a:lstStyle/>
          <a:p>
            <a:pPr indent="0" marL="0">
              <a:buNone/>
            </a:pPr>
            <a:r>
              <a:rPr lang="en-US" sz="2100" b="1" dirty="0">
                <a:solidFill>
                  <a:srgbClr val="6746C7"/>
                </a:solidFill>
                <a:latin typeface="Century Gothic" pitchFamily="34" charset="0"/>
                <a:ea typeface="Century Gothic" pitchFamily="34" charset="-122"/>
                <a:cs typeface="Century Gothic" pitchFamily="34" charset="-120"/>
              </a:rPr>
              <a:t>Anne: </a:t>
            </a:r>
            <a:pPr indent="0" marL="0">
              <a:buNone/>
            </a:pPr>
            <a:r>
              <a:rPr lang="en-US" sz="2100" dirty="0">
                <a:solidFill>
                  <a:srgbClr val="1E2A32"/>
                </a:solidFill>
                <a:latin typeface="Century Gothic" pitchFamily="34" charset="0"/>
                <a:ea typeface="Century Gothic" pitchFamily="34" charset="-122"/>
                <a:cs typeface="Century Gothic" pitchFamily="34" charset="-120"/>
              </a:rPr>
              <a:t>“I do it all wrong. I say too much.”   →   </a:t>
            </a:r>
            <a:pPr indent="0" marL="0">
              <a:buNone/>
            </a:pPr>
            <a:r>
              <a:rPr lang="en-US" sz="2100" b="1" dirty="0">
                <a:solidFill>
                  <a:srgbClr val="6746C7"/>
                </a:solidFill>
                <a:latin typeface="Century Gothic" pitchFamily="34" charset="0"/>
                <a:ea typeface="Century Gothic" pitchFamily="34" charset="-122"/>
                <a:cs typeface="Century Gothic" pitchFamily="34" charset="-120"/>
              </a:rPr>
              <a:t>Peter: </a:t>
            </a:r>
            <a:pPr indent="0" marL="0">
              <a:buNone/>
            </a:pPr>
            <a:r>
              <a:rPr lang="en-US" sz="2100" dirty="0">
                <a:solidFill>
                  <a:srgbClr val="1E2A32"/>
                </a:solidFill>
                <a:latin typeface="Century Gothic" pitchFamily="34" charset="0"/>
                <a:ea typeface="Century Gothic" pitchFamily="34" charset="-122"/>
                <a:cs typeface="Century Gothic" pitchFamily="34" charset="-120"/>
              </a:rPr>
              <a:t>“I think you’re just fine…”   →   </a:t>
            </a:r>
            <a:pPr indent="0" marL="0">
              <a:buNone/>
            </a:pPr>
            <a:r>
              <a:rPr lang="en-US" sz="2100" b="1" dirty="0">
                <a:solidFill>
                  <a:srgbClr val="6746C7"/>
                </a:solidFill>
                <a:latin typeface="Century Gothic" pitchFamily="34" charset="0"/>
                <a:ea typeface="Century Gothic" pitchFamily="34" charset="-122"/>
                <a:cs typeface="Century Gothic" pitchFamily="34" charset="-120"/>
              </a:rPr>
              <a:t>Anne: </a:t>
            </a:r>
            <a:pPr indent="0" marL="0">
              <a:buNone/>
            </a:pPr>
            <a:r>
              <a:rPr lang="en-US" sz="2100" dirty="0">
                <a:solidFill>
                  <a:srgbClr val="1E2A32"/>
                </a:solidFill>
                <a:latin typeface="Century Gothic" pitchFamily="34" charset="0"/>
                <a:ea typeface="Century Gothic" pitchFamily="34" charset="-122"/>
                <a:cs typeface="Century Gothic" pitchFamily="34" charset="-120"/>
              </a:rPr>
              <a:t>“Do you mean it, Peter? Do you really mean it?”</a:t>
            </a:r>
            <a:endParaRPr lang="en-US" sz="2100" dirty="0"/>
          </a:p>
        </p:txBody>
      </p:sp>
      <p:sp>
        <p:nvSpPr>
          <p:cNvPr id="10" name="Shape 8"/>
          <p:cNvSpPr/>
          <p:nvPr/>
        </p:nvSpPr>
        <p:spPr>
          <a:xfrm>
            <a:off x="457200" y="3246120"/>
            <a:ext cx="4023360" cy="347472"/>
          </a:xfrm>
          <a:prstGeom prst="roundRect">
            <a:avLst>
              <a:gd name="adj" fmla="val 50000"/>
            </a:avLst>
          </a:prstGeom>
          <a:solidFill>
            <a:srgbClr val="6746C7"/>
          </a:solidFill>
          <a:ln/>
        </p:spPr>
      </p:sp>
      <p:sp>
        <p:nvSpPr>
          <p:cNvPr id="11" name="Text 9"/>
          <p:cNvSpPr txBox="1"/>
          <p:nvPr/>
        </p:nvSpPr>
        <p:spPr>
          <a:xfrm>
            <a:off x="457200" y="3246120"/>
            <a:ext cx="402336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1 · THINK SILENTLY · 30–45 SEC</a:t>
            </a:r>
            <a:endParaRPr lang="en-US" sz="1100" dirty="0"/>
          </a:p>
        </p:txBody>
      </p:sp>
      <p:sp>
        <p:nvSpPr>
          <p:cNvPr id="12" name="Shape 10"/>
          <p:cNvSpPr/>
          <p:nvPr/>
        </p:nvSpPr>
        <p:spPr>
          <a:xfrm>
            <a:off x="457200" y="3794760"/>
            <a:ext cx="2651760" cy="1051560"/>
          </a:xfrm>
          <a:prstGeom prst="roundRect">
            <a:avLst>
              <a:gd name="adj" fmla="val 15652"/>
            </a:avLst>
          </a:prstGeom>
          <a:solidFill>
            <a:srgbClr val="8B6BE8"/>
          </a:solidFill>
          <a:ln/>
        </p:spPr>
      </p:sp>
      <p:sp>
        <p:nvSpPr>
          <p:cNvPr id="13" name="Text 11"/>
          <p:cNvSpPr txBox="1"/>
          <p:nvPr/>
        </p:nvSpPr>
        <p:spPr>
          <a:xfrm>
            <a:off x="457200" y="3794760"/>
            <a:ext cx="2651760" cy="1051560"/>
          </a:xfrm>
          <a:prstGeom prst="rect">
            <a:avLst/>
          </a:prstGeom>
          <a:noFill/>
          <a:ln/>
        </p:spPr>
        <p:txBody>
          <a:bodyPr wrap="square" lIns="0" tIns="0" rIns="0" bIns="0" rtlCol="0" anchor="ctr"/>
          <a:lstStyle/>
          <a:p>
            <a:pPr algn="ctr" indent="0" marL="0">
              <a:buNone/>
            </a:pPr>
            <a:r>
              <a:rPr lang="en-US" sz="2400" b="1" dirty="0">
                <a:solidFill>
                  <a:srgbClr val="FFFFFF"/>
                </a:solidFill>
                <a:latin typeface="Century Gothic" pitchFamily="34" charset="0"/>
                <a:ea typeface="Century Gothic" pitchFamily="34" charset="-122"/>
                <a:cs typeface="Century Gothic" pitchFamily="34" charset="-120"/>
              </a:rPr>
              <a:t>First I…</a:t>
            </a:r>
            <a:endParaRPr lang="en-US" sz="2400" dirty="0"/>
          </a:p>
        </p:txBody>
      </p:sp>
      <p:sp>
        <p:nvSpPr>
          <p:cNvPr id="14" name="Shape 12"/>
          <p:cNvSpPr/>
          <p:nvPr/>
        </p:nvSpPr>
        <p:spPr>
          <a:xfrm>
            <a:off x="3291840" y="3794760"/>
            <a:ext cx="2651760" cy="1051560"/>
          </a:xfrm>
          <a:prstGeom prst="roundRect">
            <a:avLst>
              <a:gd name="adj" fmla="val 15652"/>
            </a:avLst>
          </a:prstGeom>
          <a:solidFill>
            <a:srgbClr val="8B6BE8"/>
          </a:solidFill>
          <a:ln/>
        </p:spPr>
      </p:sp>
      <p:sp>
        <p:nvSpPr>
          <p:cNvPr id="15" name="Text 13"/>
          <p:cNvSpPr txBox="1"/>
          <p:nvPr/>
        </p:nvSpPr>
        <p:spPr>
          <a:xfrm>
            <a:off x="3291840" y="3794760"/>
            <a:ext cx="2651760" cy="1051560"/>
          </a:xfrm>
          <a:prstGeom prst="rect">
            <a:avLst/>
          </a:prstGeom>
          <a:noFill/>
          <a:ln/>
        </p:spPr>
        <p:txBody>
          <a:bodyPr wrap="square" lIns="0" tIns="0" rIns="0" bIns="0" rtlCol="0" anchor="ctr"/>
          <a:lstStyle/>
          <a:p>
            <a:pPr algn="ctr" indent="0" marL="0">
              <a:buNone/>
            </a:pPr>
            <a:r>
              <a:rPr lang="en-US" sz="2400" b="1" dirty="0">
                <a:solidFill>
                  <a:srgbClr val="FFFFFF"/>
                </a:solidFill>
                <a:latin typeface="Century Gothic" pitchFamily="34" charset="0"/>
                <a:ea typeface="Century Gothic" pitchFamily="34" charset="-122"/>
                <a:cs typeface="Century Gothic" pitchFamily="34" charset="-120"/>
              </a:rPr>
              <a:t>Then I noticed…</a:t>
            </a:r>
            <a:endParaRPr lang="en-US" sz="2400" dirty="0"/>
          </a:p>
        </p:txBody>
      </p:sp>
      <p:sp>
        <p:nvSpPr>
          <p:cNvPr id="16" name="Shape 14"/>
          <p:cNvSpPr/>
          <p:nvPr/>
        </p:nvSpPr>
        <p:spPr>
          <a:xfrm>
            <a:off x="6126480" y="3794760"/>
            <a:ext cx="2651760" cy="1051560"/>
          </a:xfrm>
          <a:prstGeom prst="roundRect">
            <a:avLst>
              <a:gd name="adj" fmla="val 15652"/>
            </a:avLst>
          </a:prstGeom>
          <a:solidFill>
            <a:srgbClr val="8B6BE8"/>
          </a:solidFill>
          <a:ln/>
        </p:spPr>
      </p:sp>
      <p:sp>
        <p:nvSpPr>
          <p:cNvPr id="17" name="Text 15"/>
          <p:cNvSpPr txBox="1"/>
          <p:nvPr/>
        </p:nvSpPr>
        <p:spPr>
          <a:xfrm>
            <a:off x="6126480" y="3794760"/>
            <a:ext cx="2651760" cy="1051560"/>
          </a:xfrm>
          <a:prstGeom prst="rect">
            <a:avLst/>
          </a:prstGeom>
          <a:noFill/>
          <a:ln/>
        </p:spPr>
        <p:txBody>
          <a:bodyPr wrap="square" lIns="0" tIns="0" rIns="0" bIns="0" rtlCol="0" anchor="ctr"/>
          <a:lstStyle/>
          <a:p>
            <a:pPr algn="ctr" indent="0" marL="0">
              <a:buNone/>
            </a:pPr>
            <a:r>
              <a:rPr lang="en-US" sz="2400" b="1" dirty="0">
                <a:solidFill>
                  <a:srgbClr val="FFFFFF"/>
                </a:solidFill>
                <a:latin typeface="Century Gothic" pitchFamily="34" charset="0"/>
                <a:ea typeface="Century Gothic" pitchFamily="34" charset="-122"/>
                <a:cs typeface="Century Gothic" pitchFamily="34" charset="-120"/>
              </a:rPr>
              <a:t>So I decided…</a:t>
            </a:r>
            <a:endParaRPr lang="en-US" sz="2400" dirty="0"/>
          </a:p>
        </p:txBody>
      </p:sp>
      <p:sp>
        <p:nvSpPr>
          <p:cNvPr id="18" name="Shape 16"/>
          <p:cNvSpPr/>
          <p:nvPr/>
        </p:nvSpPr>
        <p:spPr>
          <a:xfrm>
            <a:off x="8961120" y="3794760"/>
            <a:ext cx="2651760" cy="1051560"/>
          </a:xfrm>
          <a:prstGeom prst="roundRect">
            <a:avLst>
              <a:gd name="adj" fmla="val 15652"/>
            </a:avLst>
          </a:prstGeom>
          <a:solidFill>
            <a:srgbClr val="8B6BE8"/>
          </a:solidFill>
          <a:ln/>
        </p:spPr>
      </p:sp>
      <p:sp>
        <p:nvSpPr>
          <p:cNvPr id="19" name="Text 17"/>
          <p:cNvSpPr txBox="1"/>
          <p:nvPr/>
        </p:nvSpPr>
        <p:spPr>
          <a:xfrm>
            <a:off x="8961120" y="3794760"/>
            <a:ext cx="2651760" cy="1051560"/>
          </a:xfrm>
          <a:prstGeom prst="rect">
            <a:avLst/>
          </a:prstGeom>
          <a:noFill/>
          <a:ln/>
        </p:spPr>
        <p:txBody>
          <a:bodyPr wrap="square" lIns="0" tIns="0" rIns="0" bIns="0" rtlCol="0" anchor="ctr"/>
          <a:lstStyle/>
          <a:p>
            <a:pPr algn="ctr" indent="0" marL="0">
              <a:buNone/>
            </a:pPr>
            <a:r>
              <a:rPr lang="en-US" sz="2400" b="1" dirty="0">
                <a:solidFill>
                  <a:srgbClr val="FFFFFF"/>
                </a:solidFill>
                <a:latin typeface="Century Gothic" pitchFamily="34" charset="0"/>
                <a:ea typeface="Century Gothic" pitchFamily="34" charset="-122"/>
                <a:cs typeface="Century Gothic" pitchFamily="34" charset="-120"/>
              </a:rPr>
              <a:t>Because…</a:t>
            </a:r>
            <a:endParaRPr lang="en-US" sz="2400" dirty="0"/>
          </a:p>
        </p:txBody>
      </p:sp>
      <p:sp>
        <p:nvSpPr>
          <p:cNvPr id="20" name="Shape 18"/>
          <p:cNvSpPr/>
          <p:nvPr/>
        </p:nvSpPr>
        <p:spPr>
          <a:xfrm>
            <a:off x="457200" y="5074920"/>
            <a:ext cx="11274552" cy="1143000"/>
          </a:xfrm>
          <a:prstGeom prst="roundRect">
            <a:avLst>
              <a:gd name="adj" fmla="val 14400"/>
            </a:avLst>
          </a:prstGeom>
          <a:solidFill>
            <a:srgbClr val="1E2A32"/>
          </a:solidFill>
          <a:ln/>
        </p:spPr>
      </p:sp>
      <p:sp>
        <p:nvSpPr>
          <p:cNvPr id="21" name="Text 19"/>
          <p:cNvSpPr txBox="1"/>
          <p:nvPr/>
        </p:nvSpPr>
        <p:spPr>
          <a:xfrm>
            <a:off x="777240" y="5074920"/>
            <a:ext cx="10698480" cy="1143000"/>
          </a:xfrm>
          <a:prstGeom prst="rect">
            <a:avLst/>
          </a:prstGeom>
          <a:noFill/>
          <a:ln/>
        </p:spPr>
        <p:txBody>
          <a:bodyPr wrap="square" lIns="0" tIns="0" rIns="0" bIns="0" rtlCol="0" anchor="ctr"/>
          <a:lstStyle/>
          <a:p>
            <a:pPr indent="0" marL="0">
              <a:buNone/>
            </a:pPr>
            <a:r>
              <a:rPr lang="en-US" sz="2000" b="1" spc="200" kern="0" dirty="0">
                <a:solidFill>
                  <a:srgbClr val="FFC63C"/>
                </a:solidFill>
                <a:latin typeface="Century Gothic" pitchFamily="34" charset="0"/>
                <a:ea typeface="Century Gothic" pitchFamily="34" charset="-122"/>
                <a:cs typeface="Century Gothic" pitchFamily="34" charset="-120"/>
              </a:rPr>
              <a:t>BUILD · REVISE · CHALLENGE    </a:t>
            </a:r>
            <a:pPr indent="0" marL="0">
              <a:buNone/>
            </a:pPr>
            <a:r>
              <a:rPr lang="en-US" sz="2000" dirty="0">
                <a:solidFill>
                  <a:srgbClr val="FFFFFF"/>
                </a:solidFill>
                <a:latin typeface="Century Gothic" pitchFamily="34" charset="0"/>
                <a:ea typeface="Century Gothic" pitchFamily="34" charset="-122"/>
                <a:cs typeface="Century Gothic" pitchFamily="34" charset="-120"/>
              </a:rPr>
              <a:t>“I agree / would revise that because ______. I noticed ______.”</a:t>
            </a:r>
            <a:endParaRPr lang="en-US" sz="20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007A73"/>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007A73"/>
                </a:solidFill>
                <a:latin typeface="Century Gothic" pitchFamily="34" charset="0"/>
                <a:ea typeface="Century Gothic" pitchFamily="34" charset="-122"/>
                <a:cs typeface="Century Gothic" pitchFamily="34" charset="-120"/>
              </a:rPr>
              <a:t>04</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Partner Reading · Rows 2–4</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Read pp. 759–766 with your partner, trading off each page.</a:t>
            </a:r>
            <a:endParaRPr lang="en-US" sz="1400" dirty="0"/>
          </a:p>
        </p:txBody>
      </p:sp>
      <p:sp>
        <p:nvSpPr>
          <p:cNvPr id="6" name="Shape 4"/>
          <p:cNvSpPr/>
          <p:nvPr/>
        </p:nvSpPr>
        <p:spPr>
          <a:xfrm>
            <a:off x="8668512" y="566928"/>
            <a:ext cx="3063240" cy="347472"/>
          </a:xfrm>
          <a:prstGeom prst="roundRect">
            <a:avLst>
              <a:gd name="adj" fmla="val 50000"/>
            </a:avLst>
          </a:prstGeom>
          <a:solidFill>
            <a:srgbClr val="00A39B"/>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2 · ROWS 2–4</a:t>
            </a:r>
            <a:endParaRPr lang="en-US" sz="1100" dirty="0"/>
          </a:p>
        </p:txBody>
      </p:sp>
      <p:sp>
        <p:nvSpPr>
          <p:cNvPr id="8" name="Shape 6"/>
          <p:cNvSpPr/>
          <p:nvPr/>
        </p:nvSpPr>
        <p:spPr>
          <a:xfrm>
            <a:off x="457200" y="1600200"/>
            <a:ext cx="6766560" cy="804672"/>
          </a:xfrm>
          <a:prstGeom prst="roundRect">
            <a:avLst>
              <a:gd name="adj" fmla="val 20455"/>
            </a:avLst>
          </a:prstGeom>
          <a:solidFill>
            <a:srgbClr val="C8F1EB"/>
          </a:solidFill>
          <a:ln/>
        </p:spPr>
      </p:sp>
      <p:sp>
        <p:nvSpPr>
          <p:cNvPr id="9" name="Shape 7"/>
          <p:cNvSpPr/>
          <p:nvPr/>
        </p:nvSpPr>
        <p:spPr>
          <a:xfrm>
            <a:off x="621792" y="1728216"/>
            <a:ext cx="548640" cy="548640"/>
          </a:xfrm>
          <a:prstGeom prst="ellipse">
            <a:avLst/>
          </a:prstGeom>
          <a:solidFill>
            <a:srgbClr val="00A39B"/>
          </a:solidFill>
          <a:ln/>
        </p:spPr>
      </p:sp>
      <p:sp>
        <p:nvSpPr>
          <p:cNvPr id="10" name="Text 8"/>
          <p:cNvSpPr txBox="1"/>
          <p:nvPr/>
        </p:nvSpPr>
        <p:spPr>
          <a:xfrm>
            <a:off x="621792" y="17282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entury Gothic" pitchFamily="34" charset="0"/>
                <a:ea typeface="Century Gothic" pitchFamily="34" charset="-122"/>
                <a:cs typeface="Century Gothic" pitchFamily="34" charset="-120"/>
              </a:rPr>
              <a:t>2</a:t>
            </a:r>
            <a:endParaRPr lang="en-US" sz="1800" dirty="0"/>
          </a:p>
        </p:txBody>
      </p:sp>
      <p:sp>
        <p:nvSpPr>
          <p:cNvPr id="11" name="Text 9"/>
          <p:cNvSpPr txBox="1"/>
          <p:nvPr/>
        </p:nvSpPr>
        <p:spPr>
          <a:xfrm>
            <a:off x="1325880" y="1600200"/>
            <a:ext cx="1097280" cy="804672"/>
          </a:xfrm>
          <a:prstGeom prst="rect">
            <a:avLst/>
          </a:prstGeom>
          <a:noFill/>
          <a:ln/>
        </p:spPr>
        <p:txBody>
          <a:bodyPr wrap="square" lIns="0" tIns="0" rIns="0" bIns="0" rtlCol="0" anchor="ctr"/>
          <a:lstStyle/>
          <a:p>
            <a:pPr indent="0" marL="0">
              <a:buNone/>
            </a:pPr>
            <a:r>
              <a:rPr lang="en-US" sz="1900" b="1" dirty="0">
                <a:solidFill>
                  <a:srgbClr val="007A73"/>
                </a:solidFill>
                <a:latin typeface="Century Gothic" pitchFamily="34" charset="0"/>
                <a:ea typeface="Century Gothic" pitchFamily="34" charset="-122"/>
                <a:cs typeface="Century Gothic" pitchFamily="34" charset="-120"/>
              </a:rPr>
              <a:t>p. 763</a:t>
            </a:r>
            <a:endParaRPr lang="en-US" sz="1900" dirty="0"/>
          </a:p>
        </p:txBody>
      </p:sp>
      <p:sp>
        <p:nvSpPr>
          <p:cNvPr id="12" name="Text 10"/>
          <p:cNvSpPr txBox="1"/>
          <p:nvPr/>
        </p:nvSpPr>
        <p:spPr>
          <a:xfrm>
            <a:off x="2423160" y="1600200"/>
            <a:ext cx="4663440" cy="804672"/>
          </a:xfrm>
          <a:prstGeom prst="rect">
            <a:avLst/>
          </a:prstGeom>
          <a:noFill/>
          <a:ln/>
        </p:spPr>
        <p:txBody>
          <a:bodyPr wrap="square" lIns="0" tIns="0" rIns="0" bIns="0" rtlCol="0" anchor="ctr"/>
          <a:lstStyle/>
          <a:p>
            <a:pPr indent="0" marL="0">
              <a:buNone/>
            </a:pPr>
            <a:r>
              <a:rPr lang="en-US" sz="1600" dirty="0">
                <a:solidFill>
                  <a:srgbClr val="1E2A32"/>
                </a:solidFill>
                <a:latin typeface="Century Gothic" pitchFamily="34" charset="0"/>
                <a:ea typeface="Century Gothic" pitchFamily="34" charset="-122"/>
                <a:cs typeface="Century Gothic" pitchFamily="34" charset="-120"/>
              </a:rPr>
              <a:t>Anne tells Peter what she wants to do with her life.</a:t>
            </a:r>
            <a:endParaRPr lang="en-US" sz="1600" dirty="0"/>
          </a:p>
        </p:txBody>
      </p:sp>
      <p:sp>
        <p:nvSpPr>
          <p:cNvPr id="13" name="Shape 11"/>
          <p:cNvSpPr/>
          <p:nvPr/>
        </p:nvSpPr>
        <p:spPr>
          <a:xfrm>
            <a:off x="457200" y="2560320"/>
            <a:ext cx="6766560" cy="804672"/>
          </a:xfrm>
          <a:prstGeom prst="roundRect">
            <a:avLst>
              <a:gd name="adj" fmla="val 20455"/>
            </a:avLst>
          </a:prstGeom>
          <a:solidFill>
            <a:srgbClr val="C8F1EB"/>
          </a:solidFill>
          <a:ln/>
        </p:spPr>
      </p:sp>
      <p:sp>
        <p:nvSpPr>
          <p:cNvPr id="14" name="Shape 12"/>
          <p:cNvSpPr/>
          <p:nvPr/>
        </p:nvSpPr>
        <p:spPr>
          <a:xfrm>
            <a:off x="621792" y="2688336"/>
            <a:ext cx="548640" cy="548640"/>
          </a:xfrm>
          <a:prstGeom prst="ellipse">
            <a:avLst/>
          </a:prstGeom>
          <a:solidFill>
            <a:srgbClr val="00A39B"/>
          </a:solidFill>
          <a:ln/>
        </p:spPr>
      </p:sp>
      <p:sp>
        <p:nvSpPr>
          <p:cNvPr id="15" name="Text 13"/>
          <p:cNvSpPr txBox="1"/>
          <p:nvPr/>
        </p:nvSpPr>
        <p:spPr>
          <a:xfrm>
            <a:off x="621792" y="268833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entury Gothic" pitchFamily="34" charset="0"/>
                <a:ea typeface="Century Gothic" pitchFamily="34" charset="-122"/>
                <a:cs typeface="Century Gothic" pitchFamily="34" charset="-120"/>
              </a:rPr>
              <a:t>3</a:t>
            </a:r>
            <a:endParaRPr lang="en-US" sz="1800" dirty="0"/>
          </a:p>
        </p:txBody>
      </p:sp>
      <p:sp>
        <p:nvSpPr>
          <p:cNvPr id="16" name="Text 14"/>
          <p:cNvSpPr txBox="1"/>
          <p:nvPr/>
        </p:nvSpPr>
        <p:spPr>
          <a:xfrm>
            <a:off x="1325880" y="2560320"/>
            <a:ext cx="1097280" cy="804672"/>
          </a:xfrm>
          <a:prstGeom prst="rect">
            <a:avLst/>
          </a:prstGeom>
          <a:noFill/>
          <a:ln/>
        </p:spPr>
        <p:txBody>
          <a:bodyPr wrap="square" lIns="0" tIns="0" rIns="0" bIns="0" rtlCol="0" anchor="ctr"/>
          <a:lstStyle/>
          <a:p>
            <a:pPr indent="0" marL="0">
              <a:buNone/>
            </a:pPr>
            <a:r>
              <a:rPr lang="en-US" sz="1900" b="1" dirty="0">
                <a:solidFill>
                  <a:srgbClr val="007A73"/>
                </a:solidFill>
                <a:latin typeface="Century Gothic" pitchFamily="34" charset="0"/>
                <a:ea typeface="Century Gothic" pitchFamily="34" charset="-122"/>
                <a:cs typeface="Century Gothic" pitchFamily="34" charset="-120"/>
              </a:rPr>
              <a:t>p. 765</a:t>
            </a:r>
            <a:endParaRPr lang="en-US" sz="1900" dirty="0"/>
          </a:p>
        </p:txBody>
      </p:sp>
      <p:sp>
        <p:nvSpPr>
          <p:cNvPr id="17" name="Text 15"/>
          <p:cNvSpPr txBox="1"/>
          <p:nvPr/>
        </p:nvSpPr>
        <p:spPr>
          <a:xfrm>
            <a:off x="2423160" y="2560320"/>
            <a:ext cx="4663440" cy="804672"/>
          </a:xfrm>
          <a:prstGeom prst="rect">
            <a:avLst/>
          </a:prstGeom>
          <a:noFill/>
          <a:ln/>
        </p:spPr>
        <p:txBody>
          <a:bodyPr wrap="square" lIns="0" tIns="0" rIns="0" bIns="0" rtlCol="0" anchor="ctr"/>
          <a:lstStyle/>
          <a:p>
            <a:pPr indent="0" marL="0">
              <a:buNone/>
            </a:pPr>
            <a:r>
              <a:rPr lang="en-US" sz="1600" dirty="0">
                <a:solidFill>
                  <a:srgbClr val="1E2A32"/>
                </a:solidFill>
                <a:latin typeface="Century Gothic" pitchFamily="34" charset="0"/>
                <a:ea typeface="Century Gothic" pitchFamily="34" charset="-122"/>
                <a:cs typeface="Century Gothic" pitchFamily="34" charset="-120"/>
              </a:rPr>
              <a:t>Anne admits what she used to think of Peter.</a:t>
            </a:r>
            <a:endParaRPr lang="en-US" sz="1600" dirty="0"/>
          </a:p>
        </p:txBody>
      </p:sp>
      <p:sp>
        <p:nvSpPr>
          <p:cNvPr id="18" name="Shape 16"/>
          <p:cNvSpPr/>
          <p:nvPr/>
        </p:nvSpPr>
        <p:spPr>
          <a:xfrm>
            <a:off x="457200" y="3520440"/>
            <a:ext cx="6766560" cy="804672"/>
          </a:xfrm>
          <a:prstGeom prst="roundRect">
            <a:avLst>
              <a:gd name="adj" fmla="val 20455"/>
            </a:avLst>
          </a:prstGeom>
          <a:solidFill>
            <a:srgbClr val="C8F1EB"/>
          </a:solidFill>
          <a:ln/>
        </p:spPr>
      </p:sp>
      <p:sp>
        <p:nvSpPr>
          <p:cNvPr id="19" name="Shape 17"/>
          <p:cNvSpPr/>
          <p:nvPr/>
        </p:nvSpPr>
        <p:spPr>
          <a:xfrm>
            <a:off x="621792" y="3648456"/>
            <a:ext cx="548640" cy="548640"/>
          </a:xfrm>
          <a:prstGeom prst="ellipse">
            <a:avLst/>
          </a:prstGeom>
          <a:solidFill>
            <a:srgbClr val="00A39B"/>
          </a:solidFill>
          <a:ln/>
        </p:spPr>
      </p:sp>
      <p:sp>
        <p:nvSpPr>
          <p:cNvPr id="20" name="Text 18"/>
          <p:cNvSpPr txBox="1"/>
          <p:nvPr/>
        </p:nvSpPr>
        <p:spPr>
          <a:xfrm>
            <a:off x="621792" y="364845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entury Gothic" pitchFamily="34" charset="0"/>
                <a:ea typeface="Century Gothic" pitchFamily="34" charset="-122"/>
                <a:cs typeface="Century Gothic" pitchFamily="34" charset="-120"/>
              </a:rPr>
              <a:t>4</a:t>
            </a:r>
            <a:endParaRPr lang="en-US" sz="1800" dirty="0"/>
          </a:p>
        </p:txBody>
      </p:sp>
      <p:sp>
        <p:nvSpPr>
          <p:cNvPr id="21" name="Text 19"/>
          <p:cNvSpPr txBox="1"/>
          <p:nvPr/>
        </p:nvSpPr>
        <p:spPr>
          <a:xfrm>
            <a:off x="1325880" y="3520440"/>
            <a:ext cx="1097280" cy="804672"/>
          </a:xfrm>
          <a:prstGeom prst="rect">
            <a:avLst/>
          </a:prstGeom>
          <a:noFill/>
          <a:ln/>
        </p:spPr>
        <p:txBody>
          <a:bodyPr wrap="square" lIns="0" tIns="0" rIns="0" bIns="0" rtlCol="0" anchor="ctr"/>
          <a:lstStyle/>
          <a:p>
            <a:pPr indent="0" marL="0">
              <a:buNone/>
            </a:pPr>
            <a:r>
              <a:rPr lang="en-US" sz="1900" b="1" dirty="0">
                <a:solidFill>
                  <a:srgbClr val="007A73"/>
                </a:solidFill>
                <a:latin typeface="Century Gothic" pitchFamily="34" charset="0"/>
                <a:ea typeface="Century Gothic" pitchFamily="34" charset="-122"/>
                <a:cs typeface="Century Gothic" pitchFamily="34" charset="-120"/>
              </a:rPr>
              <a:t>p. 766</a:t>
            </a:r>
            <a:endParaRPr lang="en-US" sz="1900" dirty="0"/>
          </a:p>
        </p:txBody>
      </p:sp>
      <p:sp>
        <p:nvSpPr>
          <p:cNvPr id="22" name="Text 20"/>
          <p:cNvSpPr txBox="1"/>
          <p:nvPr/>
        </p:nvSpPr>
        <p:spPr>
          <a:xfrm>
            <a:off x="2423160" y="3520440"/>
            <a:ext cx="4663440" cy="804672"/>
          </a:xfrm>
          <a:prstGeom prst="rect">
            <a:avLst/>
          </a:prstGeom>
          <a:noFill/>
          <a:ln/>
        </p:spPr>
        <p:txBody>
          <a:bodyPr wrap="square" lIns="0" tIns="0" rIns="0" bIns="0" rtlCol="0" anchor="ctr"/>
          <a:lstStyle/>
          <a:p>
            <a:pPr indent="0" marL="0">
              <a:buNone/>
            </a:pPr>
            <a:r>
              <a:rPr lang="en-US" sz="1600" dirty="0">
                <a:solidFill>
                  <a:srgbClr val="1E2A32"/>
                </a:solidFill>
                <a:latin typeface="Century Gothic" pitchFamily="34" charset="0"/>
                <a:ea typeface="Century Gothic" pitchFamily="34" charset="-122"/>
                <a:cs typeface="Century Gothic" pitchFamily="34" charset="-120"/>
              </a:rPr>
              <a:t>Anne’s diary voice, April 20, 1944.</a:t>
            </a:r>
            <a:endParaRPr lang="en-US" sz="1600" dirty="0"/>
          </a:p>
        </p:txBody>
      </p:sp>
      <p:sp>
        <p:nvSpPr>
          <p:cNvPr id="23" name="Shape 21"/>
          <p:cNvSpPr/>
          <p:nvPr/>
        </p:nvSpPr>
        <p:spPr>
          <a:xfrm>
            <a:off x="457200" y="4572000"/>
            <a:ext cx="6766560" cy="1645920"/>
          </a:xfrm>
          <a:prstGeom prst="roundRect">
            <a:avLst>
              <a:gd name="adj" fmla="val 10000"/>
            </a:avLst>
          </a:prstGeom>
          <a:solidFill>
            <a:srgbClr val="FFFFFF"/>
          </a:solidFill>
          <a:ln w="25400">
            <a:solidFill>
              <a:srgbClr val="00A39B"/>
            </a:solidFill>
            <a:prstDash val="solid"/>
          </a:ln>
        </p:spPr>
      </p:sp>
      <p:sp>
        <p:nvSpPr>
          <p:cNvPr id="24" name="Text 22"/>
          <p:cNvSpPr txBox="1"/>
          <p:nvPr/>
        </p:nvSpPr>
        <p:spPr>
          <a:xfrm>
            <a:off x="731520" y="4663440"/>
            <a:ext cx="6309360" cy="1463040"/>
          </a:xfrm>
          <a:prstGeom prst="rect">
            <a:avLst/>
          </a:prstGeom>
          <a:noFill/>
          <a:ln/>
        </p:spPr>
        <p:txBody>
          <a:bodyPr wrap="square" lIns="0" tIns="0" rIns="0" bIns="0" rtlCol="0" anchor="ctr"/>
          <a:lstStyle/>
          <a:p>
            <a:pPr indent="0" marL="0">
              <a:buNone/>
            </a:pPr>
            <a:r>
              <a:rPr lang="en-US" sz="1500" b="1" dirty="0">
                <a:solidFill>
                  <a:srgbClr val="1E2A32"/>
                </a:solidFill>
                <a:latin typeface="Century Gothic" pitchFamily="34" charset="0"/>
                <a:ea typeface="Century Gothic" pitchFamily="34" charset="-122"/>
                <a:cs typeface="Century Gothic" pitchFamily="34" charset="-120"/>
              </a:rPr>
              <a:t>Say the BEFORE and the AFTER out loud before you write the quote down.
</a:t>
            </a:r>
            <a:pPr indent="0" marL="0">
              <a:buNone/>
            </a:pPr>
            <a:r>
              <a:rPr lang="en-US" sz="1500" dirty="0">
                <a:solidFill>
                  <a:srgbClr val="1E2A32"/>
                </a:solidFill>
                <a:latin typeface="Century Gothic" pitchFamily="34" charset="0"/>
                <a:ea typeface="Century Gothic" pitchFamily="34" charset="-122"/>
                <a:cs typeface="Century Gothic" pitchFamily="34" charset="-120"/>
              </a:rPr>
              <a:t>Talk it out together. Each of you writes your own rows. If you can’t say both, you found an event, not a change.</a:t>
            </a:r>
            <a:endParaRPr lang="en-US" sz="1500" dirty="0"/>
          </a:p>
        </p:txBody>
      </p:sp>
      <p:sp>
        <p:nvSpPr>
          <p:cNvPr id="25" name="Shape 23"/>
          <p:cNvSpPr/>
          <p:nvPr/>
        </p:nvSpPr>
        <p:spPr>
          <a:xfrm>
            <a:off x="7498080" y="1600200"/>
            <a:ext cx="4233672" cy="4617720"/>
          </a:xfrm>
          <a:prstGeom prst="roundRect">
            <a:avLst>
              <a:gd name="adj" fmla="val 3888"/>
            </a:avLst>
          </a:prstGeom>
          <a:solidFill>
            <a:srgbClr val="FFE1D6"/>
          </a:solidFill>
          <a:ln/>
        </p:spPr>
      </p:sp>
      <p:sp>
        <p:nvSpPr>
          <p:cNvPr id="26" name="Text 24"/>
          <p:cNvSpPr txBox="1"/>
          <p:nvPr/>
        </p:nvSpPr>
        <p:spPr>
          <a:xfrm>
            <a:off x="7772400" y="1783080"/>
            <a:ext cx="3657600" cy="320040"/>
          </a:xfrm>
          <a:prstGeom prst="rect">
            <a:avLst/>
          </a:prstGeom>
          <a:noFill/>
          <a:ln/>
        </p:spPr>
        <p:txBody>
          <a:bodyPr wrap="square" lIns="0" tIns="0" rIns="0" bIns="0" rtlCol="0" anchor="t"/>
          <a:lstStyle/>
          <a:p>
            <a:pPr indent="0" marL="0">
              <a:buNone/>
            </a:pPr>
            <a:r>
              <a:rPr lang="en-US" sz="1400" b="1" spc="300" kern="0" dirty="0">
                <a:solidFill>
                  <a:srgbClr val="DF442A"/>
                </a:solidFill>
                <a:latin typeface="Century Gothic" pitchFamily="34" charset="0"/>
                <a:ea typeface="Century Gothic" pitchFamily="34" charset="-122"/>
                <a:cs typeface="Century Gothic" pitchFamily="34" charset="-120"/>
              </a:rPr>
              <a:t>BRIGGS CHECKS</a:t>
            </a:r>
            <a:endParaRPr lang="en-US" sz="1400" dirty="0"/>
          </a:p>
        </p:txBody>
      </p:sp>
      <p:sp>
        <p:nvSpPr>
          <p:cNvPr id="27" name="Text 25"/>
          <p:cNvSpPr txBox="1"/>
          <p:nvPr/>
        </p:nvSpPr>
        <p:spPr>
          <a:xfrm>
            <a:off x="7772400" y="2240280"/>
            <a:ext cx="3749040" cy="320040"/>
          </a:xfrm>
          <a:prstGeom prst="rect">
            <a:avLst/>
          </a:prstGeom>
          <a:noFill/>
          <a:ln/>
        </p:spPr>
        <p:txBody>
          <a:bodyPr wrap="square" lIns="0" tIns="0" rIns="0" bIns="0" rtlCol="0" anchor="t"/>
          <a:lstStyle/>
          <a:p>
            <a:pPr indent="0" marL="0">
              <a:buNone/>
            </a:pPr>
            <a:r>
              <a:rPr lang="en-US" sz="1300" b="1" dirty="0">
                <a:solidFill>
                  <a:srgbClr val="DF442A"/>
                </a:solidFill>
                <a:latin typeface="Century Gothic" pitchFamily="34" charset="0"/>
                <a:ea typeface="Century Gothic" pitchFamily="34" charset="-122"/>
                <a:cs typeface="Century Gothic" pitchFamily="34" charset="-120"/>
              </a:rPr>
              <a:t>1 · EVIDENCE</a:t>
            </a:r>
            <a:endParaRPr lang="en-US" sz="1300" dirty="0"/>
          </a:p>
        </p:txBody>
      </p:sp>
      <p:sp>
        <p:nvSpPr>
          <p:cNvPr id="28" name="Text 26"/>
          <p:cNvSpPr txBox="1"/>
          <p:nvPr/>
        </p:nvSpPr>
        <p:spPr>
          <a:xfrm>
            <a:off x="7772400" y="2569464"/>
            <a:ext cx="3749040" cy="868680"/>
          </a:xfrm>
          <a:prstGeom prst="rect">
            <a:avLst/>
          </a:prstGeom>
          <a:noFill/>
          <a:ln/>
        </p:spPr>
        <p:txBody>
          <a:bodyPr wrap="square" lIns="0" tIns="0" rIns="0" bIns="0" rtlCol="0" anchor="t"/>
          <a:lstStyle/>
          <a:p>
            <a:pPr indent="0" marL="0">
              <a:buNone/>
            </a:pPr>
            <a:r>
              <a:rPr lang="en-US" sz="1500" dirty="0">
                <a:solidFill>
                  <a:srgbClr val="1E2A32"/>
                </a:solidFill>
                <a:latin typeface="Century Gothic" pitchFamily="34" charset="0"/>
                <a:ea typeface="Century Gothic" pitchFamily="34" charset="-122"/>
                <a:cs typeface="Century Gothic" pitchFamily="34" charset="-120"/>
              </a:rPr>
              <a:t>“Show me the exact line. Why this one?”</a:t>
            </a:r>
            <a:endParaRPr lang="en-US" sz="1500" dirty="0"/>
          </a:p>
        </p:txBody>
      </p:sp>
      <p:sp>
        <p:nvSpPr>
          <p:cNvPr id="29" name="Text 27"/>
          <p:cNvSpPr txBox="1"/>
          <p:nvPr/>
        </p:nvSpPr>
        <p:spPr>
          <a:xfrm>
            <a:off x="7772400" y="3538728"/>
            <a:ext cx="3749040" cy="320040"/>
          </a:xfrm>
          <a:prstGeom prst="rect">
            <a:avLst/>
          </a:prstGeom>
          <a:noFill/>
          <a:ln/>
        </p:spPr>
        <p:txBody>
          <a:bodyPr wrap="square" lIns="0" tIns="0" rIns="0" bIns="0" rtlCol="0" anchor="t"/>
          <a:lstStyle/>
          <a:p>
            <a:pPr indent="0" marL="0">
              <a:buNone/>
            </a:pPr>
            <a:r>
              <a:rPr lang="en-US" sz="1300" b="1" dirty="0">
                <a:solidFill>
                  <a:srgbClr val="DF442A"/>
                </a:solidFill>
                <a:latin typeface="Century Gothic" pitchFamily="34" charset="0"/>
                <a:ea typeface="Century Gothic" pitchFamily="34" charset="-122"/>
                <a:cs typeface="Century Gothic" pitchFamily="34" charset="-120"/>
              </a:rPr>
              <a:t>2 · CHANGE</a:t>
            </a:r>
            <a:endParaRPr lang="en-US" sz="1300" dirty="0"/>
          </a:p>
        </p:txBody>
      </p:sp>
      <p:sp>
        <p:nvSpPr>
          <p:cNvPr id="30" name="Text 28"/>
          <p:cNvSpPr txBox="1"/>
          <p:nvPr/>
        </p:nvSpPr>
        <p:spPr>
          <a:xfrm>
            <a:off x="7772400" y="3867912"/>
            <a:ext cx="3749040" cy="868680"/>
          </a:xfrm>
          <a:prstGeom prst="rect">
            <a:avLst/>
          </a:prstGeom>
          <a:noFill/>
          <a:ln/>
        </p:spPr>
        <p:txBody>
          <a:bodyPr wrap="square" lIns="0" tIns="0" rIns="0" bIns="0" rtlCol="0" anchor="t"/>
          <a:lstStyle/>
          <a:p>
            <a:pPr indent="0" marL="0">
              <a:buNone/>
            </a:pPr>
            <a:r>
              <a:rPr lang="en-US" sz="1500" dirty="0">
                <a:solidFill>
                  <a:srgbClr val="1E2A32"/>
                </a:solidFill>
                <a:latin typeface="Century Gothic" pitchFamily="34" charset="0"/>
                <a:ea typeface="Century Gothic" pitchFamily="34" charset="-122"/>
                <a:cs typeface="Century Gothic" pitchFamily="34" charset="-120"/>
              </a:rPr>
              <a:t>“Tell me the before and after without reading your paper.”</a:t>
            </a:r>
            <a:endParaRPr lang="en-US" sz="1500" dirty="0"/>
          </a:p>
        </p:txBody>
      </p:sp>
      <p:sp>
        <p:nvSpPr>
          <p:cNvPr id="31" name="Text 29"/>
          <p:cNvSpPr txBox="1"/>
          <p:nvPr/>
        </p:nvSpPr>
        <p:spPr>
          <a:xfrm>
            <a:off x="7772400" y="4837176"/>
            <a:ext cx="3749040" cy="320040"/>
          </a:xfrm>
          <a:prstGeom prst="rect">
            <a:avLst/>
          </a:prstGeom>
          <a:noFill/>
          <a:ln/>
        </p:spPr>
        <p:txBody>
          <a:bodyPr wrap="square" lIns="0" tIns="0" rIns="0" bIns="0" rtlCol="0" anchor="t"/>
          <a:lstStyle/>
          <a:p>
            <a:pPr indent="0" marL="0">
              <a:buNone/>
            </a:pPr>
            <a:r>
              <a:rPr lang="en-US" sz="1300" b="1" dirty="0">
                <a:solidFill>
                  <a:srgbClr val="DF442A"/>
                </a:solidFill>
                <a:latin typeface="Century Gothic" pitchFamily="34" charset="0"/>
                <a:ea typeface="Century Gothic" pitchFamily="34" charset="-122"/>
                <a:cs typeface="Century Gothic" pitchFamily="34" charset="-120"/>
              </a:rPr>
              <a:t>3 · REASONING</a:t>
            </a:r>
            <a:endParaRPr lang="en-US" sz="1300" dirty="0"/>
          </a:p>
        </p:txBody>
      </p:sp>
      <p:sp>
        <p:nvSpPr>
          <p:cNvPr id="32" name="Text 30"/>
          <p:cNvSpPr txBox="1"/>
          <p:nvPr/>
        </p:nvSpPr>
        <p:spPr>
          <a:xfrm>
            <a:off x="7772400" y="5166360"/>
            <a:ext cx="3749040" cy="868680"/>
          </a:xfrm>
          <a:prstGeom prst="rect">
            <a:avLst/>
          </a:prstGeom>
          <a:noFill/>
          <a:ln/>
        </p:spPr>
        <p:txBody>
          <a:bodyPr wrap="square" lIns="0" tIns="0" rIns="0" bIns="0" rtlCol="0" anchor="t"/>
          <a:lstStyle/>
          <a:p>
            <a:pPr indent="0" marL="0">
              <a:buNone/>
            </a:pPr>
            <a:r>
              <a:rPr lang="en-US" sz="1500" dirty="0">
                <a:solidFill>
                  <a:srgbClr val="1E2A32"/>
                </a:solidFill>
                <a:latin typeface="Century Gothic" pitchFamily="34" charset="0"/>
                <a:ea typeface="Century Gothic" pitchFamily="34" charset="-122"/>
                <a:cs typeface="Century Gothic" pitchFamily="34" charset="-120"/>
              </a:rPr>
              <a:t>“How does that change support your idea about Peter’s effect on Anne?”</a:t>
            </a:r>
            <a:endParaRPr lang="en-US" sz="15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B98100"/>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B98100"/>
                </a:solidFill>
                <a:latin typeface="Century Gothic" pitchFamily="34" charset="0"/>
                <a:ea typeface="Century Gothic" pitchFamily="34" charset="-122"/>
                <a:cs typeface="Century Gothic" pitchFamily="34" charset="-120"/>
              </a:rPr>
              <a:t>◆</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The Real Anne · 29 March 1944</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A Dutch official on the radio asked people to save their diaries as a record of the war. The next day, Anne wrote this.</a:t>
            </a:r>
            <a:endParaRPr lang="en-US" sz="1400" dirty="0"/>
          </a:p>
        </p:txBody>
      </p:sp>
      <p:sp>
        <p:nvSpPr>
          <p:cNvPr id="6" name="Shape 4"/>
          <p:cNvSpPr/>
          <p:nvPr/>
        </p:nvSpPr>
        <p:spPr>
          <a:xfrm>
            <a:off x="8668512" y="566928"/>
            <a:ext cx="3063240" cy="347472"/>
          </a:xfrm>
          <a:prstGeom prst="roundRect">
            <a:avLst>
              <a:gd name="adj" fmla="val 50000"/>
            </a:avLst>
          </a:prstGeom>
          <a:solidFill>
            <a:srgbClr val="B98100"/>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2 · DIARY ROW</a:t>
            </a:r>
            <a:endParaRPr lang="en-US" sz="1100" dirty="0"/>
          </a:p>
        </p:txBody>
      </p:sp>
      <p:sp>
        <p:nvSpPr>
          <p:cNvPr id="8" name="Shape 6"/>
          <p:cNvSpPr/>
          <p:nvPr/>
        </p:nvSpPr>
        <p:spPr>
          <a:xfrm>
            <a:off x="457200" y="1691640"/>
            <a:ext cx="6949440" cy="4526280"/>
          </a:xfrm>
          <a:prstGeom prst="roundRect">
            <a:avLst>
              <a:gd name="adj" fmla="val 3636"/>
            </a:avLst>
          </a:prstGeom>
          <a:solidFill>
            <a:srgbClr val="FFFFFF"/>
          </a:solidFill>
          <a:ln w="31750">
            <a:solidFill>
              <a:srgbClr val="FF6B4E"/>
            </a:solidFill>
            <a:prstDash val="dash"/>
          </a:ln>
        </p:spPr>
      </p:sp>
      <p:sp>
        <p:nvSpPr>
          <p:cNvPr id="9" name="Text 7"/>
          <p:cNvSpPr txBox="1"/>
          <p:nvPr/>
        </p:nvSpPr>
        <p:spPr>
          <a:xfrm>
            <a:off x="822960" y="2011680"/>
            <a:ext cx="6217920" cy="3931920"/>
          </a:xfrm>
          <a:prstGeom prst="rect">
            <a:avLst/>
          </a:prstGeom>
          <a:noFill/>
          <a:ln/>
        </p:spPr>
        <p:txBody>
          <a:bodyPr wrap="square" lIns="0" tIns="0" rIns="0" bIns="0" rtlCol="0" anchor="ctr"/>
          <a:lstStyle/>
          <a:p>
            <a:pPr algn="ctr" indent="0" marL="0">
              <a:buNone/>
            </a:pPr>
            <a:r>
              <a:rPr lang="en-US" sz="1600" b="1" dirty="0">
                <a:solidFill>
                  <a:srgbClr val="DF442A"/>
                </a:solidFill>
                <a:latin typeface="Century Gothic" pitchFamily="34" charset="0"/>
                <a:ea typeface="Century Gothic" pitchFamily="34" charset="-122"/>
                <a:cs typeface="Century Gothic" pitchFamily="34" charset="-120"/>
              </a:rPr>
              <a:t>PASTE THE 29 MARCH 1944 DIARY EXCERPT HERE</a:t>
            </a:r>
            <a:endParaRPr lang="en-US" sz="1600" dirty="0"/>
          </a:p>
          <a:p>
            <a:pPr algn="ctr" indent="0" marL="0">
              <a:buNone/>
            </a:pPr>
            <a:endParaRPr lang="en-US" sz="1600" dirty="0"/>
          </a:p>
          <a:p>
            <a:pPr algn="ctr" indent="0" marL="0">
              <a:buNone/>
            </a:pPr>
            <a:r>
              <a:rPr lang="en-US" sz="1600" b="1" dirty="0">
                <a:solidFill>
                  <a:srgbClr val="DF442A"/>
                </a:solidFill>
                <a:latin typeface="Century Gothic" pitchFamily="34" charset="0"/>
                <a:ea typeface="Century Gothic" pitchFamily="34" charset="-122"/>
                <a:cs typeface="Century Gothic" pitchFamily="34" charset="-120"/>
              </a:rPr>
              <a:t>Copy it from Anne Frank: The Diary of a Young Girl. It isn’t in the play or the Prather files, so it isn’t typed in here.</a:t>
            </a:r>
            <a:endParaRPr lang="en-US" sz="1600" dirty="0"/>
          </a:p>
        </p:txBody>
      </p:sp>
      <p:sp>
        <p:nvSpPr>
          <p:cNvPr id="10" name="Shape 8"/>
          <p:cNvSpPr/>
          <p:nvPr/>
        </p:nvSpPr>
        <p:spPr>
          <a:xfrm>
            <a:off x="7680960" y="1691640"/>
            <a:ext cx="4050792" cy="2331720"/>
          </a:xfrm>
          <a:prstGeom prst="roundRect">
            <a:avLst>
              <a:gd name="adj" fmla="val 7059"/>
            </a:avLst>
          </a:prstGeom>
          <a:solidFill>
            <a:srgbClr val="FFF1C9"/>
          </a:solidFill>
          <a:ln/>
        </p:spPr>
      </p:sp>
      <p:sp>
        <p:nvSpPr>
          <p:cNvPr id="11" name="Text 9"/>
          <p:cNvSpPr txBox="1"/>
          <p:nvPr/>
        </p:nvSpPr>
        <p:spPr>
          <a:xfrm>
            <a:off x="7955280" y="1828800"/>
            <a:ext cx="3520440" cy="2057400"/>
          </a:xfrm>
          <a:prstGeom prst="rect">
            <a:avLst/>
          </a:prstGeom>
          <a:noFill/>
          <a:ln/>
        </p:spPr>
        <p:txBody>
          <a:bodyPr wrap="square" lIns="0" tIns="0" rIns="0" bIns="0" rtlCol="0" anchor="ctr"/>
          <a:lstStyle/>
          <a:p>
            <a:pPr indent="0" marL="0">
              <a:buNone/>
            </a:pPr>
            <a:r>
              <a:rPr lang="en-US" sz="1800" b="1" dirty="0">
                <a:solidFill>
                  <a:srgbClr val="1E2A32"/>
                </a:solidFill>
                <a:latin typeface="Century Gothic" pitchFamily="34" charset="0"/>
                <a:ea typeface="Century Gothic" pitchFamily="34" charset="-122"/>
                <a:cs typeface="Century Gothic" pitchFamily="34" charset="-120"/>
              </a:rPr>
              <a:t>What does this entry reveal about how Anne’s sense of her own future and audience is changing?</a:t>
            </a:r>
            <a:endParaRPr lang="en-US" sz="1800" dirty="0"/>
          </a:p>
        </p:txBody>
      </p:sp>
      <p:sp>
        <p:nvSpPr>
          <p:cNvPr id="12" name="Shape 10"/>
          <p:cNvSpPr/>
          <p:nvPr/>
        </p:nvSpPr>
        <p:spPr>
          <a:xfrm>
            <a:off x="7680960" y="4206240"/>
            <a:ext cx="1920240" cy="2011680"/>
          </a:xfrm>
          <a:prstGeom prst="roundRect">
            <a:avLst>
              <a:gd name="adj" fmla="val 8571"/>
            </a:avLst>
          </a:prstGeom>
          <a:solidFill>
            <a:srgbClr val="C8F1EB"/>
          </a:solidFill>
          <a:ln/>
        </p:spPr>
      </p:sp>
      <p:sp>
        <p:nvSpPr>
          <p:cNvPr id="13" name="Text 11"/>
          <p:cNvSpPr txBox="1"/>
          <p:nvPr/>
        </p:nvSpPr>
        <p:spPr>
          <a:xfrm>
            <a:off x="7863840" y="4343400"/>
            <a:ext cx="1600200" cy="1783080"/>
          </a:xfrm>
          <a:prstGeom prst="rect">
            <a:avLst/>
          </a:prstGeom>
          <a:noFill/>
          <a:ln/>
        </p:spPr>
        <p:txBody>
          <a:bodyPr wrap="square" lIns="0" tIns="0" rIns="0" bIns="0" rtlCol="0" anchor="t"/>
          <a:lstStyle/>
          <a:p>
            <a:pPr indent="0" marL="0">
              <a:buNone/>
            </a:pPr>
            <a:r>
              <a:rPr lang="en-US" sz="1200" b="1" spc="200" kern="0" dirty="0">
                <a:solidFill>
                  <a:srgbClr val="007A73"/>
                </a:solidFill>
                <a:latin typeface="Century Gothic" pitchFamily="34" charset="0"/>
                <a:ea typeface="Century Gothic" pitchFamily="34" charset="-122"/>
                <a:cs typeface="Century Gothic" pitchFamily="34" charset="-120"/>
              </a:rPr>
              <a:t>THE PLAY
</a:t>
            </a:r>
            <a:pPr indent="0" marL="0">
              <a:buNone/>
            </a:pPr>
            <a:r>
              <a:rPr lang="en-US" sz="1500" dirty="0">
                <a:solidFill>
                  <a:srgbClr val="1E2A32"/>
                </a:solidFill>
                <a:latin typeface="Century Gothic" pitchFamily="34" charset="0"/>
                <a:ea typeface="Century Gothic" pitchFamily="34" charset="-122"/>
                <a:cs typeface="Century Gothic" pitchFamily="34" charset="-120"/>
              </a:rPr>
              <a:t>Anne opens up to one person.</a:t>
            </a:r>
            <a:endParaRPr lang="en-US" sz="1500" dirty="0"/>
          </a:p>
        </p:txBody>
      </p:sp>
      <p:sp>
        <p:nvSpPr>
          <p:cNvPr id="14" name="Shape 12"/>
          <p:cNvSpPr/>
          <p:nvPr/>
        </p:nvSpPr>
        <p:spPr>
          <a:xfrm>
            <a:off x="9811512" y="4206240"/>
            <a:ext cx="1920240" cy="2011680"/>
          </a:xfrm>
          <a:prstGeom prst="roundRect">
            <a:avLst>
              <a:gd name="adj" fmla="val 8571"/>
            </a:avLst>
          </a:prstGeom>
          <a:solidFill>
            <a:srgbClr val="E8DEFF"/>
          </a:solidFill>
          <a:ln/>
        </p:spPr>
      </p:sp>
      <p:sp>
        <p:nvSpPr>
          <p:cNvPr id="15" name="Text 13"/>
          <p:cNvSpPr txBox="1"/>
          <p:nvPr/>
        </p:nvSpPr>
        <p:spPr>
          <a:xfrm>
            <a:off x="9994392" y="4343400"/>
            <a:ext cx="1600200" cy="1783080"/>
          </a:xfrm>
          <a:prstGeom prst="rect">
            <a:avLst/>
          </a:prstGeom>
          <a:noFill/>
          <a:ln/>
        </p:spPr>
        <p:txBody>
          <a:bodyPr wrap="square" lIns="0" tIns="0" rIns="0" bIns="0" rtlCol="0" anchor="t"/>
          <a:lstStyle/>
          <a:p>
            <a:pPr indent="0" marL="0">
              <a:buNone/>
            </a:pPr>
            <a:r>
              <a:rPr lang="en-US" sz="1200" b="1" spc="200" kern="0" dirty="0">
                <a:solidFill>
                  <a:srgbClr val="6746C7"/>
                </a:solidFill>
                <a:latin typeface="Century Gothic" pitchFamily="34" charset="0"/>
                <a:ea typeface="Century Gothic" pitchFamily="34" charset="-122"/>
                <a:cs typeface="Century Gothic" pitchFamily="34" charset="-120"/>
              </a:rPr>
              <a:t>THE DIARY
</a:t>
            </a:r>
            <a:pPr indent="0" marL="0">
              <a:buNone/>
            </a:pPr>
            <a:r>
              <a:rPr lang="en-US" sz="1500" dirty="0">
                <a:solidFill>
                  <a:srgbClr val="1E2A32"/>
                </a:solidFill>
                <a:latin typeface="Century Gothic" pitchFamily="34" charset="0"/>
                <a:ea typeface="Century Gothic" pitchFamily="34" charset="-122"/>
                <a:cs typeface="Century Gothic" pitchFamily="34" charset="-120"/>
              </a:rPr>
              <a:t>Anne imagines the whole world as her reader.</a:t>
            </a:r>
            <a:endParaRPr lang="en-US" sz="15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6746C7"/>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6746C7"/>
                </a:solidFill>
                <a:latin typeface="Century Gothic" pitchFamily="34" charset="0"/>
                <a:ea typeface="Century Gothic" pitchFamily="34" charset="-122"/>
                <a:cs typeface="Century Gothic" pitchFamily="34" charset="-120"/>
              </a:rPr>
              <a:t>05</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Independent Response · 15 Minutes</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Silent. On your own. Your tracker is your evidence bank.</a:t>
            </a:r>
            <a:endParaRPr lang="en-US" sz="1400" dirty="0"/>
          </a:p>
        </p:txBody>
      </p:sp>
      <p:sp>
        <p:nvSpPr>
          <p:cNvPr id="6" name="Shape 4"/>
          <p:cNvSpPr/>
          <p:nvPr/>
        </p:nvSpPr>
        <p:spPr>
          <a:xfrm>
            <a:off x="8668512" y="566928"/>
            <a:ext cx="3063240" cy="347472"/>
          </a:xfrm>
          <a:prstGeom prst="roundRect">
            <a:avLst>
              <a:gd name="adj" fmla="val 50000"/>
            </a:avLst>
          </a:prstGeom>
          <a:solidFill>
            <a:srgbClr val="8B6BE8"/>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3 · BOX 05</a:t>
            </a:r>
            <a:endParaRPr lang="en-US" sz="1100" dirty="0"/>
          </a:p>
        </p:txBody>
      </p:sp>
      <p:sp>
        <p:nvSpPr>
          <p:cNvPr id="8" name="Shape 6"/>
          <p:cNvSpPr/>
          <p:nvPr/>
        </p:nvSpPr>
        <p:spPr>
          <a:xfrm>
            <a:off x="457200" y="1600200"/>
            <a:ext cx="11274552" cy="1417320"/>
          </a:xfrm>
          <a:prstGeom prst="roundRect">
            <a:avLst>
              <a:gd name="adj" fmla="val 11613"/>
            </a:avLst>
          </a:prstGeom>
          <a:solidFill>
            <a:srgbClr val="E8DEFF"/>
          </a:solidFill>
          <a:ln/>
        </p:spPr>
      </p:sp>
      <p:sp>
        <p:nvSpPr>
          <p:cNvPr id="9" name="Text 7"/>
          <p:cNvSpPr txBox="1"/>
          <p:nvPr/>
        </p:nvSpPr>
        <p:spPr>
          <a:xfrm>
            <a:off x="777240" y="1645920"/>
            <a:ext cx="10698480" cy="1325880"/>
          </a:xfrm>
          <a:prstGeom prst="rect">
            <a:avLst/>
          </a:prstGeom>
          <a:noFill/>
          <a:ln/>
        </p:spPr>
        <p:txBody>
          <a:bodyPr wrap="square" lIns="0" tIns="0" rIns="0" bIns="0" rtlCol="0" anchor="ctr"/>
          <a:lstStyle/>
          <a:p>
            <a:pPr indent="0" marL="0">
              <a:buNone/>
            </a:pPr>
            <a:r>
              <a:rPr lang="en-US" sz="1900" b="1" dirty="0">
                <a:solidFill>
                  <a:srgbClr val="1E2A32"/>
                </a:solidFill>
                <a:latin typeface="Century Gothic" pitchFamily="34" charset="0"/>
                <a:ea typeface="Century Gothic" pitchFamily="34" charset="-122"/>
                <a:cs typeface="Century Gothic" pitchFamily="34" charset="-120"/>
              </a:rPr>
              <a:t>How does Anne’s new relationship with Peter change her perspective? What specific lines of text reveal this change? Provide at least two pieces of evidence from today’s reading to support your answer.</a:t>
            </a:r>
            <a:endParaRPr lang="en-US" sz="1900" dirty="0"/>
          </a:p>
        </p:txBody>
      </p:sp>
      <p:sp>
        <p:nvSpPr>
          <p:cNvPr id="10" name="Shape 8"/>
          <p:cNvSpPr/>
          <p:nvPr/>
        </p:nvSpPr>
        <p:spPr>
          <a:xfrm>
            <a:off x="457200" y="3246120"/>
            <a:ext cx="5852160" cy="2971800"/>
          </a:xfrm>
          <a:prstGeom prst="roundRect">
            <a:avLst>
              <a:gd name="adj" fmla="val 5538"/>
            </a:avLst>
          </a:prstGeom>
          <a:solidFill>
            <a:srgbClr val="FFFFFF"/>
          </a:solidFill>
          <a:ln w="19050">
            <a:solidFill>
              <a:srgbClr val="8B6BE8"/>
            </a:solidFill>
            <a:prstDash val="solid"/>
          </a:ln>
        </p:spPr>
      </p:sp>
      <p:sp>
        <p:nvSpPr>
          <p:cNvPr id="11" name="Text 9"/>
          <p:cNvSpPr txBox="1"/>
          <p:nvPr/>
        </p:nvSpPr>
        <p:spPr>
          <a:xfrm>
            <a:off x="777240" y="3383280"/>
            <a:ext cx="5394960" cy="2697480"/>
          </a:xfrm>
          <a:prstGeom prst="rect">
            <a:avLst/>
          </a:prstGeom>
          <a:noFill/>
          <a:ln/>
        </p:spPr>
        <p:txBody>
          <a:bodyPr wrap="square" lIns="0" tIns="0" rIns="0" bIns="0" rtlCol="0" anchor="ctr"/>
          <a:lstStyle/>
          <a:p>
            <a:pPr indent="0" marL="0">
              <a:spcAft>
                <a:spcPts val="600"/>
              </a:spcAft>
              <a:buNone/>
            </a:pPr>
            <a:r>
              <a:rPr lang="en-US" sz="1700" dirty="0">
                <a:solidFill>
                  <a:srgbClr val="1E2A32"/>
                </a:solidFill>
                <a:latin typeface="Century Gothic" pitchFamily="34" charset="0"/>
                <a:ea typeface="Century Gothic" pitchFamily="34" charset="-122"/>
                <a:cs typeface="Century Gothic" pitchFamily="34" charset="-120"/>
              </a:rPr>
              <a:t>☐  Claim naming HOW Anne changes</a:t>
            </a:r>
            <a:endParaRPr lang="en-US" sz="1700" dirty="0"/>
          </a:p>
          <a:p>
            <a:pPr indent="0" marL="0">
              <a:spcAft>
                <a:spcPts val="600"/>
              </a:spcAft>
              <a:buNone/>
            </a:pPr>
            <a:r>
              <a:rPr lang="en-US" sz="1700" dirty="0">
                <a:solidFill>
                  <a:srgbClr val="1E2A32"/>
                </a:solidFill>
                <a:latin typeface="Century Gothic" pitchFamily="34" charset="0"/>
                <a:ea typeface="Century Gothic" pitchFamily="34" charset="-122"/>
                <a:cs typeface="Century Gothic" pitchFamily="34" charset="-120"/>
              </a:rPr>
              <a:t>☐  Evidence #1 + page</a:t>
            </a:r>
            <a:endParaRPr lang="en-US" sz="1700" dirty="0"/>
          </a:p>
          <a:p>
            <a:pPr indent="0" marL="0">
              <a:spcAft>
                <a:spcPts val="600"/>
              </a:spcAft>
              <a:buNone/>
            </a:pPr>
            <a:r>
              <a:rPr lang="en-US" sz="1700" dirty="0">
                <a:solidFill>
                  <a:srgbClr val="1E2A32"/>
                </a:solidFill>
                <a:latin typeface="Century Gothic" pitchFamily="34" charset="0"/>
                <a:ea typeface="Century Gothic" pitchFamily="34" charset="-122"/>
                <a:cs typeface="Century Gothic" pitchFamily="34" charset="-120"/>
              </a:rPr>
              <a:t>☐  Reasoning</a:t>
            </a:r>
            <a:endParaRPr lang="en-US" sz="1700" dirty="0"/>
          </a:p>
          <a:p>
            <a:pPr indent="0" marL="0">
              <a:spcAft>
                <a:spcPts val="600"/>
              </a:spcAft>
              <a:buNone/>
            </a:pPr>
            <a:r>
              <a:rPr lang="en-US" sz="1700" dirty="0">
                <a:solidFill>
                  <a:srgbClr val="1E2A32"/>
                </a:solidFill>
                <a:latin typeface="Century Gothic" pitchFamily="34" charset="0"/>
                <a:ea typeface="Century Gothic" pitchFamily="34" charset="-122"/>
                <a:cs typeface="Century Gothic" pitchFamily="34" charset="-120"/>
              </a:rPr>
              <a:t>☐  Evidence #2 + page</a:t>
            </a:r>
            <a:endParaRPr lang="en-US" sz="1700" dirty="0"/>
          </a:p>
          <a:p>
            <a:pPr indent="0" marL="0">
              <a:spcAft>
                <a:spcPts val="600"/>
              </a:spcAft>
              <a:buNone/>
            </a:pPr>
            <a:r>
              <a:rPr lang="en-US" sz="1700" dirty="0">
                <a:solidFill>
                  <a:srgbClr val="1E2A32"/>
                </a:solidFill>
                <a:latin typeface="Century Gothic" pitchFamily="34" charset="0"/>
                <a:ea typeface="Century Gothic" pitchFamily="34" charset="-122"/>
                <a:cs typeface="Century Gothic" pitchFamily="34" charset="-120"/>
              </a:rPr>
              <a:t>☐  Reasoning</a:t>
            </a:r>
            <a:endParaRPr lang="en-US" sz="1700" dirty="0"/>
          </a:p>
          <a:p>
            <a:pPr indent="0" marL="0">
              <a:spcAft>
                <a:spcPts val="600"/>
              </a:spcAft>
              <a:buNone/>
            </a:pPr>
            <a:r>
              <a:rPr lang="en-US" sz="1700" dirty="0">
                <a:solidFill>
                  <a:srgbClr val="1E2A32"/>
                </a:solidFill>
                <a:latin typeface="Century Gothic" pitchFamily="34" charset="0"/>
                <a:ea typeface="Century Gothic" pitchFamily="34" charset="-122"/>
                <a:cs typeface="Century Gothic" pitchFamily="34" charset="-120"/>
              </a:rPr>
              <a:t>☐  One sentence connecting the March 29 diary entry</a:t>
            </a:r>
            <a:endParaRPr lang="en-US" sz="1700" dirty="0"/>
          </a:p>
        </p:txBody>
      </p:sp>
      <p:sp>
        <p:nvSpPr>
          <p:cNvPr id="12" name="Shape 10"/>
          <p:cNvSpPr/>
          <p:nvPr/>
        </p:nvSpPr>
        <p:spPr>
          <a:xfrm>
            <a:off x="6537960" y="3246120"/>
            <a:ext cx="5193792" cy="1783080"/>
          </a:xfrm>
          <a:prstGeom prst="roundRect">
            <a:avLst>
              <a:gd name="adj" fmla="val 9231"/>
            </a:avLst>
          </a:prstGeom>
          <a:solidFill>
            <a:srgbClr val="FFF1C9"/>
          </a:solidFill>
          <a:ln/>
        </p:spPr>
      </p:sp>
      <p:sp>
        <p:nvSpPr>
          <p:cNvPr id="13" name="Text 11"/>
          <p:cNvSpPr txBox="1"/>
          <p:nvPr/>
        </p:nvSpPr>
        <p:spPr>
          <a:xfrm>
            <a:off x="6812280" y="3337560"/>
            <a:ext cx="4754880" cy="1645920"/>
          </a:xfrm>
          <a:prstGeom prst="rect">
            <a:avLst/>
          </a:prstGeom>
          <a:noFill/>
          <a:ln/>
        </p:spPr>
        <p:txBody>
          <a:bodyPr wrap="square" lIns="0" tIns="0" rIns="0" bIns="0" rtlCol="0" anchor="t"/>
          <a:lstStyle/>
          <a:p>
            <a:pPr indent="0" marL="0">
              <a:buNone/>
            </a:pPr>
            <a:r>
              <a:rPr lang="en-US" sz="1200" b="1" spc="200" kern="0" dirty="0">
                <a:solidFill>
                  <a:srgbClr val="B98100"/>
                </a:solidFill>
                <a:latin typeface="Century Gothic" pitchFamily="34" charset="0"/>
                <a:ea typeface="Century Gothic" pitchFamily="34" charset="-122"/>
                <a:cs typeface="Century Gothic" pitchFamily="34" charset="-120"/>
              </a:rPr>
              <a:t>MILESTONES CHECK
</a:t>
            </a:r>
            <a:pPr indent="0" marL="0">
              <a:buNone/>
            </a:pPr>
            <a:r>
              <a:rPr lang="en-US" sz="1500" b="1" dirty="0">
                <a:solidFill>
                  <a:srgbClr val="1E2A32"/>
                </a:solidFill>
                <a:latin typeface="Century Gothic" pitchFamily="34" charset="0"/>
                <a:ea typeface="Century Gothic" pitchFamily="34" charset="-122"/>
                <a:cs typeface="Century Gothic" pitchFamily="34" charset="-120"/>
              </a:rPr>
              <a:t>Claim: </a:t>
            </a:r>
            <a:pPr indent="0" marL="0">
              <a:buNone/>
            </a:pPr>
            <a:r>
              <a:rPr lang="en-US" sz="1500" dirty="0">
                <a:solidFill>
                  <a:srgbClr val="1E2A32"/>
                </a:solidFill>
                <a:latin typeface="Century Gothic" pitchFamily="34" charset="0"/>
                <a:ea typeface="Century Gothic" pitchFamily="34" charset="-122"/>
                <a:cs typeface="Century Gothic" pitchFamily="34" charset="-120"/>
              </a:rPr>
              <a:t>Did I answer what changed?
</a:t>
            </a:r>
            <a:pPr indent="0" marL="0">
              <a:buNone/>
            </a:pPr>
            <a:r>
              <a:rPr lang="en-US" sz="1500" b="1" dirty="0">
                <a:solidFill>
                  <a:srgbClr val="1E2A32"/>
                </a:solidFill>
                <a:latin typeface="Century Gothic" pitchFamily="34" charset="0"/>
                <a:ea typeface="Century Gothic" pitchFamily="34" charset="-122"/>
                <a:cs typeface="Century Gothic" pitchFamily="34" charset="-120"/>
              </a:rPr>
              <a:t>Evidence: </a:t>
            </a:r>
            <a:pPr indent="0" marL="0">
              <a:buNone/>
            </a:pPr>
            <a:r>
              <a:rPr lang="en-US" sz="1500" dirty="0">
                <a:solidFill>
                  <a:srgbClr val="1E2A32"/>
                </a:solidFill>
                <a:latin typeface="Century Gothic" pitchFamily="34" charset="0"/>
                <a:ea typeface="Century Gothic" pitchFamily="34" charset="-122"/>
                <a:cs typeface="Century Gothic" pitchFamily="34" charset="-120"/>
              </a:rPr>
              <a:t>Did I choose lines that actually prove it?
</a:t>
            </a:r>
            <a:pPr indent="0" marL="0">
              <a:buNone/>
            </a:pPr>
            <a:r>
              <a:rPr lang="en-US" sz="1500" b="1" dirty="0">
                <a:solidFill>
                  <a:srgbClr val="1E2A32"/>
                </a:solidFill>
                <a:latin typeface="Century Gothic" pitchFamily="34" charset="0"/>
                <a:ea typeface="Century Gothic" pitchFamily="34" charset="-122"/>
                <a:cs typeface="Century Gothic" pitchFamily="34" charset="-120"/>
              </a:rPr>
              <a:t>Reasoning: </a:t>
            </a:r>
            <a:pPr indent="0" marL="0">
              <a:buNone/>
            </a:pPr>
            <a:r>
              <a:rPr lang="en-US" sz="1500" dirty="0">
                <a:solidFill>
                  <a:srgbClr val="1E2A32"/>
                </a:solidFill>
                <a:latin typeface="Century Gothic" pitchFamily="34" charset="0"/>
                <a:ea typeface="Century Gothic" pitchFamily="34" charset="-122"/>
                <a:cs typeface="Century Gothic" pitchFamily="34" charset="-120"/>
              </a:rPr>
              <a:t>Did I explain the “so what”?</a:t>
            </a:r>
            <a:endParaRPr lang="en-US" sz="1500" dirty="0"/>
          </a:p>
        </p:txBody>
      </p:sp>
      <p:sp>
        <p:nvSpPr>
          <p:cNvPr id="14" name="Shape 12"/>
          <p:cNvSpPr/>
          <p:nvPr/>
        </p:nvSpPr>
        <p:spPr>
          <a:xfrm>
            <a:off x="6537960" y="5212080"/>
            <a:ext cx="5193792" cy="1005840"/>
          </a:xfrm>
          <a:prstGeom prst="roundRect">
            <a:avLst>
              <a:gd name="adj" fmla="val 16364"/>
            </a:avLst>
          </a:prstGeom>
          <a:solidFill>
            <a:srgbClr val="1E2A32"/>
          </a:solidFill>
          <a:ln/>
        </p:spPr>
      </p:sp>
      <p:sp>
        <p:nvSpPr>
          <p:cNvPr id="15" name="Text 13"/>
          <p:cNvSpPr txBox="1"/>
          <p:nvPr/>
        </p:nvSpPr>
        <p:spPr>
          <a:xfrm>
            <a:off x="6766560" y="5212080"/>
            <a:ext cx="4754880" cy="1005840"/>
          </a:xfrm>
          <a:prstGeom prst="rect">
            <a:avLst/>
          </a:prstGeom>
          <a:noFill/>
          <a:ln/>
        </p:spPr>
        <p:txBody>
          <a:bodyPr wrap="square" lIns="0" tIns="0" rIns="0" bIns="0" rtlCol="0" anchor="ctr"/>
          <a:lstStyle/>
          <a:p>
            <a:pPr indent="0" marL="0">
              <a:buNone/>
            </a:pPr>
            <a:r>
              <a:rPr lang="en-US" sz="1350" b="1" dirty="0">
                <a:solidFill>
                  <a:srgbClr val="FFC63C"/>
                </a:solidFill>
                <a:latin typeface="Century Gothic" pitchFamily="34" charset="0"/>
                <a:ea typeface="Century Gothic" pitchFamily="34" charset="-122"/>
                <a:cs typeface="Century Gothic" pitchFamily="34" charset="-120"/>
              </a:rPr>
              <a:t>DONE EARLY?  </a:t>
            </a:r>
            <a:pPr indent="0" marL="0">
              <a:buNone/>
            </a:pPr>
            <a:r>
              <a:rPr lang="en-US" sz="1350" dirty="0">
                <a:solidFill>
                  <a:srgbClr val="FFFFFF"/>
                </a:solidFill>
                <a:latin typeface="Century Gothic" pitchFamily="34" charset="0"/>
                <a:ea typeface="Century Gothic" pitchFamily="34" charset="-122"/>
                <a:cs typeface="Century Gothic" pitchFamily="34" charset="-120"/>
              </a:rPr>
              <a:t>Peter changes Anne’s perspective by ___, but her diary suggests the deepest change is ___.</a:t>
            </a:r>
            <a:endParaRPr lang="en-US" sz="135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566928"/>
            <a:ext cx="566928" cy="566928"/>
          </a:xfrm>
          <a:prstGeom prst="ellipse">
            <a:avLst/>
          </a:prstGeom>
          <a:solidFill>
            <a:srgbClr val="FFFFFF"/>
          </a:solidFill>
          <a:ln w="38100">
            <a:solidFill>
              <a:srgbClr val="DF442A"/>
            </a:solidFill>
            <a:prstDash val="solid"/>
          </a:ln>
        </p:spPr>
      </p:sp>
      <p:sp>
        <p:nvSpPr>
          <p:cNvPr id="3" name="Text 1"/>
          <p:cNvSpPr txBox="1"/>
          <p:nvPr/>
        </p:nvSpPr>
        <p:spPr>
          <a:xfrm>
            <a:off x="457200" y="566928"/>
            <a:ext cx="566928" cy="566928"/>
          </a:xfrm>
          <a:prstGeom prst="rect">
            <a:avLst/>
          </a:prstGeom>
          <a:noFill/>
          <a:ln/>
        </p:spPr>
        <p:txBody>
          <a:bodyPr wrap="square" lIns="0" tIns="0" rIns="0" bIns="0" rtlCol="0" anchor="ctr"/>
          <a:lstStyle/>
          <a:p>
            <a:pPr algn="ctr" indent="0" marL="0">
              <a:buNone/>
            </a:pPr>
            <a:r>
              <a:rPr lang="en-US" sz="1800" b="1" dirty="0">
                <a:solidFill>
                  <a:srgbClr val="DF442A"/>
                </a:solidFill>
                <a:latin typeface="Century Gothic" pitchFamily="34" charset="0"/>
                <a:ea typeface="Century Gothic" pitchFamily="34" charset="-122"/>
                <a:cs typeface="Century Gothic" pitchFamily="34" charset="-120"/>
              </a:rPr>
              <a:t>06</a:t>
            </a:r>
            <a:endParaRPr lang="en-US" sz="1800" dirty="0"/>
          </a:p>
        </p:txBody>
      </p:sp>
      <p:sp>
        <p:nvSpPr>
          <p:cNvPr id="4" name="Text 2"/>
          <p:cNvSpPr txBox="1"/>
          <p:nvPr/>
        </p:nvSpPr>
        <p:spPr>
          <a:xfrm>
            <a:off x="1188720" y="548640"/>
            <a:ext cx="8778240" cy="457200"/>
          </a:xfrm>
          <a:prstGeom prst="rect">
            <a:avLst/>
          </a:prstGeom>
          <a:noFill/>
          <a:ln/>
        </p:spPr>
        <p:txBody>
          <a:bodyPr wrap="square" lIns="0" tIns="0" rIns="0" bIns="0" rtlCol="0" anchor="ctr"/>
          <a:lstStyle/>
          <a:p>
            <a:pPr indent="0" marL="0">
              <a:buNone/>
            </a:pPr>
            <a:r>
              <a:rPr lang="en-US" sz="2800" b="1" dirty="0">
                <a:solidFill>
                  <a:srgbClr val="1E2A32"/>
                </a:solidFill>
                <a:latin typeface="Century Gothic" pitchFamily="34" charset="0"/>
                <a:ea typeface="Century Gothic" pitchFamily="34" charset="-122"/>
                <a:cs typeface="Century Gothic" pitchFamily="34" charset="-120"/>
              </a:rPr>
              <a:t>Exit Ticket · On Your Own</a:t>
            </a:r>
            <a:endParaRPr lang="en-US" sz="2800" dirty="0"/>
          </a:p>
        </p:txBody>
      </p:sp>
      <p:sp>
        <p:nvSpPr>
          <p:cNvPr id="5" name="Text 3"/>
          <p:cNvSpPr txBox="1"/>
          <p:nvPr/>
        </p:nvSpPr>
        <p:spPr>
          <a:xfrm>
            <a:off x="1188720" y="1005840"/>
            <a:ext cx="9601200" cy="320040"/>
          </a:xfrm>
          <a:prstGeom prst="rect">
            <a:avLst/>
          </a:prstGeom>
          <a:noFill/>
          <a:ln/>
        </p:spPr>
        <p:txBody>
          <a:bodyPr wrap="square" lIns="0" tIns="0" rIns="0" bIns="0" rtlCol="0" anchor="t"/>
          <a:lstStyle/>
          <a:p>
            <a:pPr indent="0" marL="0">
              <a:buNone/>
            </a:pPr>
            <a:r>
              <a:rPr lang="en-US" sz="1400" dirty="0">
                <a:solidFill>
                  <a:srgbClr val="5A6B75"/>
                </a:solidFill>
                <a:latin typeface="Century Gothic" pitchFamily="34" charset="0"/>
                <a:ea typeface="Century Gothic" pitchFamily="34" charset="-122"/>
                <a:cs typeface="Century Gothic" pitchFamily="34" charset="-120"/>
              </a:rPr>
              <a:t>This is your receipt for today. Five minutes. Silent.</a:t>
            </a:r>
            <a:endParaRPr lang="en-US" sz="1400" dirty="0"/>
          </a:p>
        </p:txBody>
      </p:sp>
      <p:sp>
        <p:nvSpPr>
          <p:cNvPr id="6" name="Shape 4"/>
          <p:cNvSpPr/>
          <p:nvPr/>
        </p:nvSpPr>
        <p:spPr>
          <a:xfrm>
            <a:off x="8668512" y="566928"/>
            <a:ext cx="3063240" cy="347472"/>
          </a:xfrm>
          <a:prstGeom prst="roundRect">
            <a:avLst>
              <a:gd name="adj" fmla="val 50000"/>
            </a:avLst>
          </a:prstGeom>
          <a:solidFill>
            <a:srgbClr val="FF6B4E"/>
          </a:solidFill>
          <a:ln/>
        </p:spPr>
      </p:sp>
      <p:sp>
        <p:nvSpPr>
          <p:cNvPr id="7" name="Text 5"/>
          <p:cNvSpPr txBox="1"/>
          <p:nvPr/>
        </p:nvSpPr>
        <p:spPr>
          <a:xfrm>
            <a:off x="8668512" y="566928"/>
            <a:ext cx="3063240" cy="347472"/>
          </a:xfrm>
          <a:prstGeom prst="rect">
            <a:avLst/>
          </a:prstGeom>
          <a:noFill/>
          <a:ln/>
        </p:spPr>
        <p:txBody>
          <a:bodyPr wrap="square" lIns="0" tIns="0" rIns="0" bIns="0" rtlCol="0" anchor="ctr"/>
          <a:lstStyle/>
          <a:p>
            <a:pPr algn="ctr" indent="0" marL="0">
              <a:buNone/>
            </a:pPr>
            <a:r>
              <a:rPr lang="en-US" sz="1100" b="1" spc="200" kern="0" dirty="0">
                <a:solidFill>
                  <a:srgbClr val="FFFFFF"/>
                </a:solidFill>
                <a:latin typeface="Century Gothic" pitchFamily="34" charset="0"/>
                <a:ea typeface="Century Gothic" pitchFamily="34" charset="-122"/>
                <a:cs typeface="Century Gothic" pitchFamily="34" charset="-120"/>
              </a:rPr>
              <a:t>PACKET P. 3 · BOX 06</a:t>
            </a:r>
            <a:endParaRPr lang="en-US" sz="1100" dirty="0"/>
          </a:p>
        </p:txBody>
      </p:sp>
      <p:sp>
        <p:nvSpPr>
          <p:cNvPr id="8" name="Shape 6"/>
          <p:cNvSpPr/>
          <p:nvPr/>
        </p:nvSpPr>
        <p:spPr>
          <a:xfrm>
            <a:off x="457200" y="1600200"/>
            <a:ext cx="7040880" cy="4617720"/>
          </a:xfrm>
          <a:prstGeom prst="roundRect">
            <a:avLst>
              <a:gd name="adj" fmla="val 3564"/>
            </a:avLst>
          </a:prstGeom>
          <a:solidFill>
            <a:srgbClr val="FFFFFF"/>
          </a:solidFill>
          <a:ln w="31750">
            <a:solidFill>
              <a:srgbClr val="FF6B4E"/>
            </a:solidFill>
            <a:prstDash val="solid"/>
          </a:ln>
        </p:spPr>
      </p:sp>
      <p:sp>
        <p:nvSpPr>
          <p:cNvPr id="9" name="Shape 7"/>
          <p:cNvSpPr/>
          <p:nvPr/>
        </p:nvSpPr>
        <p:spPr>
          <a:xfrm>
            <a:off x="731520" y="1920240"/>
            <a:ext cx="457200" cy="457200"/>
          </a:xfrm>
          <a:prstGeom prst="ellipse">
            <a:avLst/>
          </a:prstGeom>
          <a:solidFill>
            <a:srgbClr val="FF6B4E"/>
          </a:solidFill>
          <a:ln/>
        </p:spPr>
      </p:sp>
      <p:sp>
        <p:nvSpPr>
          <p:cNvPr id="10" name="Text 8"/>
          <p:cNvSpPr txBox="1"/>
          <p:nvPr/>
        </p:nvSpPr>
        <p:spPr>
          <a:xfrm>
            <a:off x="731520" y="19202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entury Gothic" pitchFamily="34" charset="0"/>
                <a:ea typeface="Century Gothic" pitchFamily="34" charset="-122"/>
                <a:cs typeface="Century Gothic" pitchFamily="34" charset="-120"/>
              </a:rPr>
              <a:t>1</a:t>
            </a:r>
            <a:endParaRPr lang="en-US" sz="1500" dirty="0"/>
          </a:p>
        </p:txBody>
      </p:sp>
      <p:sp>
        <p:nvSpPr>
          <p:cNvPr id="11" name="Text 9"/>
          <p:cNvSpPr txBox="1"/>
          <p:nvPr/>
        </p:nvSpPr>
        <p:spPr>
          <a:xfrm>
            <a:off x="1371600" y="1847088"/>
            <a:ext cx="5943600" cy="640080"/>
          </a:xfrm>
          <a:prstGeom prst="rect">
            <a:avLst/>
          </a:prstGeom>
          <a:noFill/>
          <a:ln/>
        </p:spPr>
        <p:txBody>
          <a:bodyPr wrap="square" lIns="0" tIns="0" rIns="0" bIns="0" rtlCol="0" anchor="ctr"/>
          <a:lstStyle/>
          <a:p>
            <a:pPr indent="0" marL="0">
              <a:buNone/>
            </a:pPr>
            <a:r>
              <a:rPr lang="en-US" sz="1900" dirty="0">
                <a:solidFill>
                  <a:srgbClr val="1E2A32"/>
                </a:solidFill>
                <a:latin typeface="Century Gothic" pitchFamily="34" charset="0"/>
                <a:ea typeface="Century Gothic" pitchFamily="34" charset="-122"/>
                <a:cs typeface="Century Gothic" pitchFamily="34" charset="-120"/>
              </a:rPr>
              <a:t>Anne is a dynamic character because ______.</a:t>
            </a:r>
            <a:endParaRPr lang="en-US" sz="1900" dirty="0"/>
          </a:p>
        </p:txBody>
      </p:sp>
      <p:sp>
        <p:nvSpPr>
          <p:cNvPr id="12" name="Shape 10"/>
          <p:cNvSpPr/>
          <p:nvPr/>
        </p:nvSpPr>
        <p:spPr>
          <a:xfrm>
            <a:off x="731520" y="2944368"/>
            <a:ext cx="457200" cy="457200"/>
          </a:xfrm>
          <a:prstGeom prst="ellipse">
            <a:avLst/>
          </a:prstGeom>
          <a:solidFill>
            <a:srgbClr val="FF6B4E"/>
          </a:solidFill>
          <a:ln/>
        </p:spPr>
      </p:sp>
      <p:sp>
        <p:nvSpPr>
          <p:cNvPr id="13" name="Text 11"/>
          <p:cNvSpPr txBox="1"/>
          <p:nvPr/>
        </p:nvSpPr>
        <p:spPr>
          <a:xfrm>
            <a:off x="731520" y="29443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entury Gothic" pitchFamily="34" charset="0"/>
                <a:ea typeface="Century Gothic" pitchFamily="34" charset="-122"/>
                <a:cs typeface="Century Gothic" pitchFamily="34" charset="-120"/>
              </a:rPr>
              <a:t>2</a:t>
            </a:r>
            <a:endParaRPr lang="en-US" sz="1500" dirty="0"/>
          </a:p>
        </p:txBody>
      </p:sp>
      <p:sp>
        <p:nvSpPr>
          <p:cNvPr id="14" name="Text 12"/>
          <p:cNvSpPr txBox="1"/>
          <p:nvPr/>
        </p:nvSpPr>
        <p:spPr>
          <a:xfrm>
            <a:off x="1371600" y="2871216"/>
            <a:ext cx="5943600" cy="640080"/>
          </a:xfrm>
          <a:prstGeom prst="rect">
            <a:avLst/>
          </a:prstGeom>
          <a:noFill/>
          <a:ln/>
        </p:spPr>
        <p:txBody>
          <a:bodyPr wrap="square" lIns="0" tIns="0" rIns="0" bIns="0" rtlCol="0" anchor="ctr"/>
          <a:lstStyle/>
          <a:p>
            <a:pPr indent="0" marL="0">
              <a:buNone/>
            </a:pPr>
            <a:r>
              <a:rPr lang="en-US" sz="1900" dirty="0">
                <a:solidFill>
                  <a:srgbClr val="1E2A32"/>
                </a:solidFill>
                <a:latin typeface="Century Gothic" pitchFamily="34" charset="0"/>
                <a:ea typeface="Century Gothic" pitchFamily="34" charset="-122"/>
                <a:cs typeface="Century Gothic" pitchFamily="34" charset="-120"/>
              </a:rPr>
              <a:t>The clearest line of proof is ______ (p. ___).</a:t>
            </a:r>
            <a:endParaRPr lang="en-US" sz="1900" dirty="0"/>
          </a:p>
        </p:txBody>
      </p:sp>
      <p:sp>
        <p:nvSpPr>
          <p:cNvPr id="15" name="Shape 13"/>
          <p:cNvSpPr/>
          <p:nvPr/>
        </p:nvSpPr>
        <p:spPr>
          <a:xfrm>
            <a:off x="731520" y="3968496"/>
            <a:ext cx="457200" cy="457200"/>
          </a:xfrm>
          <a:prstGeom prst="ellipse">
            <a:avLst/>
          </a:prstGeom>
          <a:solidFill>
            <a:srgbClr val="FF6B4E"/>
          </a:solidFill>
          <a:ln/>
        </p:spPr>
      </p:sp>
      <p:sp>
        <p:nvSpPr>
          <p:cNvPr id="16" name="Text 14"/>
          <p:cNvSpPr txBox="1"/>
          <p:nvPr/>
        </p:nvSpPr>
        <p:spPr>
          <a:xfrm>
            <a:off x="731520" y="396849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entury Gothic" pitchFamily="34" charset="0"/>
                <a:ea typeface="Century Gothic" pitchFamily="34" charset="-122"/>
                <a:cs typeface="Century Gothic" pitchFamily="34" charset="-120"/>
              </a:rPr>
              <a:t>3</a:t>
            </a:r>
            <a:endParaRPr lang="en-US" sz="1500" dirty="0"/>
          </a:p>
        </p:txBody>
      </p:sp>
      <p:sp>
        <p:nvSpPr>
          <p:cNvPr id="17" name="Text 15"/>
          <p:cNvSpPr txBox="1"/>
          <p:nvPr/>
        </p:nvSpPr>
        <p:spPr>
          <a:xfrm>
            <a:off x="1371600" y="3895344"/>
            <a:ext cx="5943600" cy="640080"/>
          </a:xfrm>
          <a:prstGeom prst="rect">
            <a:avLst/>
          </a:prstGeom>
          <a:noFill/>
          <a:ln/>
        </p:spPr>
        <p:txBody>
          <a:bodyPr wrap="square" lIns="0" tIns="0" rIns="0" bIns="0" rtlCol="0" anchor="ctr"/>
          <a:lstStyle/>
          <a:p>
            <a:pPr indent="0" marL="0">
              <a:buNone/>
            </a:pPr>
            <a:r>
              <a:rPr lang="en-US" sz="1900" b="1" dirty="0">
                <a:solidFill>
                  <a:srgbClr val="1E2A32"/>
                </a:solidFill>
                <a:latin typeface="Century Gothic" pitchFamily="34" charset="0"/>
                <a:ea typeface="Century Gothic" pitchFamily="34" charset="-122"/>
                <a:cs typeface="Century Gothic" pitchFamily="34" charset="-120"/>
              </a:rPr>
              <a:t>Peter is:  catalyst  /  confidant  /  both</a:t>
            </a:r>
            <a:endParaRPr lang="en-US" sz="1900" dirty="0"/>
          </a:p>
        </p:txBody>
      </p:sp>
      <p:sp>
        <p:nvSpPr>
          <p:cNvPr id="18" name="Shape 16"/>
          <p:cNvSpPr/>
          <p:nvPr/>
        </p:nvSpPr>
        <p:spPr>
          <a:xfrm>
            <a:off x="731520" y="4992624"/>
            <a:ext cx="457200" cy="457200"/>
          </a:xfrm>
          <a:prstGeom prst="ellipse">
            <a:avLst/>
          </a:prstGeom>
          <a:solidFill>
            <a:srgbClr val="FF6B4E"/>
          </a:solidFill>
          <a:ln/>
        </p:spPr>
      </p:sp>
      <p:sp>
        <p:nvSpPr>
          <p:cNvPr id="19" name="Text 17"/>
          <p:cNvSpPr txBox="1"/>
          <p:nvPr/>
        </p:nvSpPr>
        <p:spPr>
          <a:xfrm>
            <a:off x="731520" y="4992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entury Gothic" pitchFamily="34" charset="0"/>
                <a:ea typeface="Century Gothic" pitchFamily="34" charset="-122"/>
                <a:cs typeface="Century Gothic" pitchFamily="34" charset="-120"/>
              </a:rPr>
              <a:t>4</a:t>
            </a:r>
            <a:endParaRPr lang="en-US" sz="1500" dirty="0"/>
          </a:p>
        </p:txBody>
      </p:sp>
      <p:sp>
        <p:nvSpPr>
          <p:cNvPr id="20" name="Text 18"/>
          <p:cNvSpPr txBox="1"/>
          <p:nvPr/>
        </p:nvSpPr>
        <p:spPr>
          <a:xfrm>
            <a:off x="1371600" y="4919472"/>
            <a:ext cx="5943600" cy="640080"/>
          </a:xfrm>
          <a:prstGeom prst="rect">
            <a:avLst/>
          </a:prstGeom>
          <a:noFill/>
          <a:ln/>
        </p:spPr>
        <p:txBody>
          <a:bodyPr wrap="square" lIns="0" tIns="0" rIns="0" bIns="0" rtlCol="0" anchor="ctr"/>
          <a:lstStyle/>
          <a:p>
            <a:pPr indent="0" marL="0">
              <a:buNone/>
            </a:pPr>
            <a:r>
              <a:rPr lang="en-US" sz="1900" dirty="0">
                <a:solidFill>
                  <a:srgbClr val="1E2A32"/>
                </a:solidFill>
                <a:latin typeface="Century Gothic" pitchFamily="34" charset="0"/>
                <a:ea typeface="Century Gothic" pitchFamily="34" charset="-122"/>
                <a:cs typeface="Century Gothic" pitchFamily="34" charset="-120"/>
              </a:rPr>
              <a:t>Defend your choice with ONE detail from today’s reading.</a:t>
            </a:r>
            <a:endParaRPr lang="en-US" sz="1900" dirty="0"/>
          </a:p>
        </p:txBody>
      </p:sp>
      <p:sp>
        <p:nvSpPr>
          <p:cNvPr id="21" name="Shape 19"/>
          <p:cNvSpPr/>
          <p:nvPr/>
        </p:nvSpPr>
        <p:spPr>
          <a:xfrm>
            <a:off x="7726680" y="1600200"/>
            <a:ext cx="4005072" cy="2194560"/>
          </a:xfrm>
          <a:prstGeom prst="roundRect">
            <a:avLst>
              <a:gd name="adj" fmla="val 7500"/>
            </a:avLst>
          </a:prstGeom>
          <a:solidFill>
            <a:srgbClr val="FFE1D6"/>
          </a:solidFill>
          <a:ln/>
        </p:spPr>
      </p:sp>
      <p:sp>
        <p:nvSpPr>
          <p:cNvPr id="22" name="Text 20"/>
          <p:cNvSpPr txBox="1"/>
          <p:nvPr/>
        </p:nvSpPr>
        <p:spPr>
          <a:xfrm>
            <a:off x="8001000" y="1783080"/>
            <a:ext cx="3474720" cy="1828800"/>
          </a:xfrm>
          <a:prstGeom prst="rect">
            <a:avLst/>
          </a:prstGeom>
          <a:noFill/>
          <a:ln/>
        </p:spPr>
        <p:txBody>
          <a:bodyPr wrap="square" lIns="0" tIns="0" rIns="0" bIns="0" rtlCol="0" anchor="ctr"/>
          <a:lstStyle/>
          <a:p>
            <a:pPr indent="0" marL="0">
              <a:buNone/>
            </a:pPr>
            <a:r>
              <a:rPr lang="en-US" sz="1400" b="1" spc="300" kern="0" dirty="0">
                <a:solidFill>
                  <a:srgbClr val="DF442A"/>
                </a:solidFill>
                <a:latin typeface="Century Gothic" pitchFamily="34" charset="0"/>
                <a:ea typeface="Century Gothic" pitchFamily="34" charset="-122"/>
                <a:cs typeface="Century Gothic" pitchFamily="34" charset="-120"/>
              </a:rPr>
              <a:t>CATALYST
</a:t>
            </a:r>
            <a:pPr indent="0" marL="0">
              <a:buNone/>
            </a:pPr>
            <a:r>
              <a:rPr lang="en-US" sz="2400" dirty="0">
                <a:solidFill>
                  <a:srgbClr val="1E2A32"/>
                </a:solidFill>
                <a:latin typeface="Century Gothic" pitchFamily="34" charset="0"/>
                <a:ea typeface="Century Gothic" pitchFamily="34" charset="-122"/>
                <a:cs typeface="Century Gothic" pitchFamily="34" charset="-120"/>
              </a:rPr>
              <a:t>causes change</a:t>
            </a:r>
            <a:endParaRPr lang="en-US" sz="2400" dirty="0"/>
          </a:p>
        </p:txBody>
      </p:sp>
      <p:sp>
        <p:nvSpPr>
          <p:cNvPr id="23" name="Shape 21"/>
          <p:cNvSpPr/>
          <p:nvPr/>
        </p:nvSpPr>
        <p:spPr>
          <a:xfrm>
            <a:off x="7726680" y="4023360"/>
            <a:ext cx="4005072" cy="2194560"/>
          </a:xfrm>
          <a:prstGeom prst="roundRect">
            <a:avLst>
              <a:gd name="adj" fmla="val 7500"/>
            </a:avLst>
          </a:prstGeom>
          <a:solidFill>
            <a:srgbClr val="DAE7FF"/>
          </a:solidFill>
          <a:ln/>
        </p:spPr>
      </p:sp>
      <p:sp>
        <p:nvSpPr>
          <p:cNvPr id="24" name="Text 22"/>
          <p:cNvSpPr txBox="1"/>
          <p:nvPr/>
        </p:nvSpPr>
        <p:spPr>
          <a:xfrm>
            <a:off x="8001000" y="4206240"/>
            <a:ext cx="3474720" cy="1828800"/>
          </a:xfrm>
          <a:prstGeom prst="rect">
            <a:avLst/>
          </a:prstGeom>
          <a:noFill/>
          <a:ln/>
        </p:spPr>
        <p:txBody>
          <a:bodyPr wrap="square" lIns="0" tIns="0" rIns="0" bIns="0" rtlCol="0" anchor="ctr"/>
          <a:lstStyle/>
          <a:p>
            <a:pPr indent="0" marL="0">
              <a:buNone/>
            </a:pPr>
            <a:r>
              <a:rPr lang="en-US" sz="1400" b="1" spc="300" kern="0" dirty="0">
                <a:solidFill>
                  <a:srgbClr val="2A56B5"/>
                </a:solidFill>
                <a:latin typeface="Century Gothic" pitchFamily="34" charset="0"/>
                <a:ea typeface="Century Gothic" pitchFamily="34" charset="-122"/>
                <a:cs typeface="Century Gothic" pitchFamily="34" charset="-120"/>
              </a:rPr>
              <a:t>CONFIDANT
</a:t>
            </a:r>
            <a:pPr indent="0" marL="0">
              <a:buNone/>
            </a:pPr>
            <a:r>
              <a:rPr lang="en-US" sz="2100" dirty="0">
                <a:solidFill>
                  <a:srgbClr val="1E2A32"/>
                </a:solidFill>
                <a:latin typeface="Century Gothic" pitchFamily="34" charset="0"/>
                <a:ea typeface="Century Gothic" pitchFamily="34" charset="-122"/>
                <a:cs typeface="Century Gothic" pitchFamily="34" charset="-120"/>
              </a:rPr>
              <a:t>trusted with private thoughts and feelings</a:t>
            </a:r>
            <a:endParaRPr lang="en-US" sz="2100" dirty="0"/>
          </a:p>
        </p:txBody>
      </p:sp>
      <p:sp>
        <p:nvSpPr>
          <p:cNvPr id="25" name="Slide Number Placeholder 0"/>
          <p:cNvSpPr>
            <a:spLocks noGrp="1"/>
          </p:cNvSpPr>
          <p:nvPr>
            <p:ph type="sldNum" sz="quarter" idx="4294967295"/>
          </p:nvPr>
        </p:nvSpPr>
        <p:spPr>
          <a:xfrm>
            <a:off x="113842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FA0AA"/>
                </a:solidFill>
                <a:latin typeface="Century Gothic"/>
                <a:ea typeface="Century Gothic"/>
                <a:cs typeface="Century Gothic"/>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Encountering Evil Week 9">
  <a:themeElements>
    <a:clrScheme name="Encountering Evil Week 9">
      <a:dk1>
        <a:srgbClr val="1E2A32"/>
      </a:dk1>
      <a:lt1>
        <a:srgbClr val="FFFFFF"/>
      </a:lt1>
      <a:dk2>
        <a:srgbClr val="5A6B75"/>
      </a:dk2>
      <a:lt2>
        <a:srgbClr val="FFFBF4"/>
      </a:lt2>
      <a:accent1>
        <a:srgbClr val="00A39B"/>
      </a:accent1>
      <a:accent2>
        <a:srgbClr val="3B74E8"/>
      </a:accent2>
      <a:accent3>
        <a:srgbClr val="FF6B4E"/>
      </a:accent3>
      <a:accent4>
        <a:srgbClr val="FFC63C"/>
      </a:accent4>
      <a:accent5>
        <a:srgbClr val="8B6BE8"/>
      </a:accent5>
      <a:accent6>
        <a:srgbClr val="C2185B"/>
      </a:accent6>
      <a:hlink>
        <a:srgbClr val="2A56B5"/>
      </a:hlink>
      <a:folHlink>
        <a:srgbClr val="6746C7"/>
      </a:folHlink>
    </a:clrScheme>
    <a:fontScheme name="Encountering Evil Week 9">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entury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9 Day 1 · Anne and Peter: A Changed Perspective</dc:title>
  <dc:subject>PptxGenJS Presentation</dc:subject>
  <dc:creator>Ms. Briggs</dc:creator>
  <cp:lastModifiedBy>Ms. Briggs</cp:lastModifiedBy>
  <cp:revision>1</cp:revision>
  <dcterms:created xsi:type="dcterms:W3CDTF">2026-10-08T15:47:31Z</dcterms:created>
  <dcterms:modified xsi:type="dcterms:W3CDTF">2026-10-08T15:47:31Z</dcterms:modified>
</cp:coreProperties>
</file>